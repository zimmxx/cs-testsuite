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bdb238cb9d444f" /><Relationship Type="http://schemas.openxmlformats.org/officeDocument/2006/relationships/extended-properties" Target="/docProps/app.xml" Id="R9275b19ac7844490" /><Relationship Type="http://schemas.openxmlformats.org/officeDocument/2006/relationships/officeDocument" Target="/ppt/presentation.xml" Id="R5058aa3eb2144c08" /></Relationships>
</file>

<file path=ppt/presentation.xml><?xml version="1.0" encoding="utf-8"?>
<p:presentation xmlns:p="http://schemas.openxmlformats.org/presentationml/2006/main">
  <p:sldMasterIdLst>
    <p:sldMasterId xmlns:r="http://schemas.openxmlformats.org/officeDocument/2006/relationships" id="2147483648" r:id="R21b3708b2cdc4566"/>
  </p:sldMasterIdLst>
  <p:notesMasterIdLst>
    <p:notesMasterId xmlns:r="http://schemas.openxmlformats.org/officeDocument/2006/relationships" r:id="R49c7c7a4a94744ea"/>
  </p:notesMasterIdLst>
  <p:sldIdLst>
    <p:sldId xmlns:r="http://schemas.openxmlformats.org/officeDocument/2006/relationships" id="256" r:id="R2fac0d2562134851"/>
    <p:sldId xmlns:r="http://schemas.openxmlformats.org/officeDocument/2006/relationships" id="257" r:id="Rcd47e4d894ba43f0"/>
    <p:sldId xmlns:r="http://schemas.openxmlformats.org/officeDocument/2006/relationships" id="258" r:id="R828eb15b7ce54a69"/>
    <p:sldId xmlns:r="http://schemas.openxmlformats.org/officeDocument/2006/relationships" id="259" r:id="Rf3562a51fe364a5f"/>
    <p:sldId xmlns:r="http://schemas.openxmlformats.org/officeDocument/2006/relationships" id="260" r:id="R92697007e8894d3f"/>
    <p:sldId xmlns:r="http://schemas.openxmlformats.org/officeDocument/2006/relationships" id="261" r:id="Rd7b1b0cca5564561"/>
    <p:sldId xmlns:r="http://schemas.openxmlformats.org/officeDocument/2006/relationships" id="262" r:id="R4b85d3c0127c446f"/>
    <p:sldId xmlns:r="http://schemas.openxmlformats.org/officeDocument/2006/relationships" id="263" r:id="R2e90e2386a204ca0"/>
    <p:sldId xmlns:r="http://schemas.openxmlformats.org/officeDocument/2006/relationships" id="264" r:id="Rbcac4c039e8c424b"/>
    <p:sldId xmlns:r="http://schemas.openxmlformats.org/officeDocument/2006/relationships" id="265" r:id="R81ab5af443584ff6"/>
    <p:sldId xmlns:r="http://schemas.openxmlformats.org/officeDocument/2006/relationships" id="266" r:id="Rff7d94b9acfb49b6"/>
    <p:sldId xmlns:r="http://schemas.openxmlformats.org/officeDocument/2006/relationships" id="267" r:id="R6b898c79373a4ec6"/>
    <p:sldId xmlns:r="http://schemas.openxmlformats.org/officeDocument/2006/relationships" id="268" r:id="Ra4d1fde608fd488f"/>
    <p:sldId xmlns:r="http://schemas.openxmlformats.org/officeDocument/2006/relationships" id="269" r:id="R31b5545768ff4d5c"/>
    <p:sldId xmlns:r="http://schemas.openxmlformats.org/officeDocument/2006/relationships" id="270" r:id="R858fa5fd1ff94596"/>
    <p:sldId xmlns:r="http://schemas.openxmlformats.org/officeDocument/2006/relationships" id="271" r:id="Rc4727c64c33a42ad"/>
    <p:sldId xmlns:r="http://schemas.openxmlformats.org/officeDocument/2006/relationships" id="272" r:id="R425609ce6a284e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7602a7aeda493f" /><Relationship Type="http://schemas.openxmlformats.org/officeDocument/2006/relationships/slideMaster" Target="/ppt/slideMasters/slideMaster1.xml" Id="R21b3708b2cdc4566" /><Relationship Type="http://schemas.openxmlformats.org/officeDocument/2006/relationships/notesMaster" Target="/ppt/notesMasters/notesMaster1.xml" Id="R49c7c7a4a94744ea" /><Relationship Type="http://schemas.openxmlformats.org/officeDocument/2006/relationships/presProps" Target="/ppt/presProps.xml" Id="Rc622b0647b8d429b" /><Relationship Type="http://schemas.openxmlformats.org/officeDocument/2006/relationships/tableStyles" Target="/ppt/tableStyles.xml" Id="R27b3cbb87d224b0a" /><Relationship Type="http://schemas.openxmlformats.org/officeDocument/2006/relationships/slide" Target="/ppt/slides/slide1.xml" Id="R2fac0d2562134851" /><Relationship Type="http://schemas.openxmlformats.org/officeDocument/2006/relationships/slide" Target="/ppt/slides/slide2.xml" Id="Rcd47e4d894ba43f0" /><Relationship Type="http://schemas.openxmlformats.org/officeDocument/2006/relationships/slide" Target="/ppt/slides/slide3.xml" Id="R828eb15b7ce54a69" /><Relationship Type="http://schemas.openxmlformats.org/officeDocument/2006/relationships/slide" Target="/ppt/slides/slide4.xml" Id="Rf3562a51fe364a5f" /><Relationship Type="http://schemas.openxmlformats.org/officeDocument/2006/relationships/slide" Target="/ppt/slides/slide5.xml" Id="R92697007e8894d3f" /><Relationship Type="http://schemas.openxmlformats.org/officeDocument/2006/relationships/slide" Target="/ppt/slides/slide6.xml" Id="Rd7b1b0cca5564561" /><Relationship Type="http://schemas.openxmlformats.org/officeDocument/2006/relationships/slide" Target="/ppt/slides/slide7.xml" Id="R4b85d3c0127c446f" /><Relationship Type="http://schemas.openxmlformats.org/officeDocument/2006/relationships/slide" Target="/ppt/slides/slide8.xml" Id="R2e90e2386a204ca0" /><Relationship Type="http://schemas.openxmlformats.org/officeDocument/2006/relationships/slide" Target="/ppt/slides/slide9.xml" Id="Rbcac4c039e8c424b" /><Relationship Type="http://schemas.openxmlformats.org/officeDocument/2006/relationships/slide" Target="/ppt/slides/slide10.xml" Id="R81ab5af443584ff6" /><Relationship Type="http://schemas.openxmlformats.org/officeDocument/2006/relationships/slide" Target="/ppt/slides/slide11.xml" Id="Rff7d94b9acfb49b6" /><Relationship Type="http://schemas.openxmlformats.org/officeDocument/2006/relationships/slide" Target="/ppt/slides/slide12.xml" Id="R6b898c79373a4ec6" /><Relationship Type="http://schemas.openxmlformats.org/officeDocument/2006/relationships/slide" Target="/ppt/slides/slide13.xml" Id="Ra4d1fde608fd488f" /><Relationship Type="http://schemas.openxmlformats.org/officeDocument/2006/relationships/slide" Target="/ppt/slides/slide14.xml" Id="R31b5545768ff4d5c" /><Relationship Type="http://schemas.openxmlformats.org/officeDocument/2006/relationships/slide" Target="/ppt/slides/slide15.xml" Id="R858fa5fd1ff94596" /><Relationship Type="http://schemas.openxmlformats.org/officeDocument/2006/relationships/slide" Target="/ppt/slides/slide16.xml" Id="Rc4727c64c33a42ad" /><Relationship Type="http://schemas.openxmlformats.org/officeDocument/2006/relationships/slide" Target="/ppt/slides/slide17.xml" Id="R425609ce6a284e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59518c65d34e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8db616fdb34a27" /><Relationship Type="http://schemas.openxmlformats.org/officeDocument/2006/relationships/notesMaster" Target="/ppt/notesMasters/notesMaster1.xml" Id="Rea1953b1b74b40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5d51ea16c54d49" /><Relationship Type="http://schemas.openxmlformats.org/officeDocument/2006/relationships/notesMaster" Target="/ppt/notesMasters/notesMaster1.xml" Id="Rddac25533c5244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339f93f3f2427d" /><Relationship Type="http://schemas.openxmlformats.org/officeDocument/2006/relationships/notesMaster" Target="/ppt/notesMasters/notesMaster1.xml" Id="R2540eef5485e40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755d6f9db24f30" /><Relationship Type="http://schemas.openxmlformats.org/officeDocument/2006/relationships/notesMaster" Target="/ppt/notesMasters/notesMaster1.xml" Id="Rbfeff106cddd4a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1242bb6c0e4903" /><Relationship Type="http://schemas.openxmlformats.org/officeDocument/2006/relationships/notesMaster" Target="/ppt/notesMasters/notesMaster1.xml" Id="R319810ad34b14a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ac8ec9f41f4ac6" /><Relationship Type="http://schemas.openxmlformats.org/officeDocument/2006/relationships/notesMaster" Target="/ppt/notesMasters/notesMaster1.xml" Id="R612b48286bf041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dff7e6fb9446e3" /><Relationship Type="http://schemas.openxmlformats.org/officeDocument/2006/relationships/notesMaster" Target="/ppt/notesMasters/notesMaster1.xml" Id="Rd324c9636f034b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e69416bb174704" /><Relationship Type="http://schemas.openxmlformats.org/officeDocument/2006/relationships/notesMaster" Target="/ppt/notesMasters/notesMaster1.xml" Id="Rf84bb5876dbd40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ebadd93b3947c2" /><Relationship Type="http://schemas.openxmlformats.org/officeDocument/2006/relationships/notesMaster" Target="/ppt/notesMasters/notesMaster1.xml" Id="R960d7551deba45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179072cbc3481c" /><Relationship Type="http://schemas.openxmlformats.org/officeDocument/2006/relationships/notesMaster" Target="/ppt/notesMasters/notesMaster1.xml" Id="R93f850cddd994e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6bf1c6435e454f" /><Relationship Type="http://schemas.openxmlformats.org/officeDocument/2006/relationships/notesMaster" Target="/ppt/notesMasters/notesMaster1.xml" Id="R2303037497da43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c2602ac80b4e83" /><Relationship Type="http://schemas.openxmlformats.org/officeDocument/2006/relationships/notesMaster" Target="/ppt/notesMasters/notesMaster1.xml" Id="Ra73b3df322a14d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144601930b449c" /><Relationship Type="http://schemas.openxmlformats.org/officeDocument/2006/relationships/notesMaster" Target="/ppt/notesMasters/notesMaster1.xml" Id="R4d2229da37444c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5651d7ed8c4c90" /><Relationship Type="http://schemas.openxmlformats.org/officeDocument/2006/relationships/notesMaster" Target="/ppt/notesMasters/notesMaster1.xml" Id="R051ab8f967fa42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7b86eea88044d1" /><Relationship Type="http://schemas.openxmlformats.org/officeDocument/2006/relationships/notesMaster" Target="/ppt/notesMasters/notesMaster1.xml" Id="R75302315b62248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0ee90870004c5b" /><Relationship Type="http://schemas.openxmlformats.org/officeDocument/2006/relationships/notesMaster" Target="/ppt/notesMasters/notesMaster1.xml" Id="R912aca4d1e284a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6a18fc8024483b" /><Relationship Type="http://schemas.openxmlformats.org/officeDocument/2006/relationships/notesMaster" Target="/ppt/notesMasters/notesMaster1.xml" Id="R1cf622692a144e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v0.5.0 as the release candidate that adds AI Diagnostics without replacing engineering judgement. Explain that screening evidence is calculated locally and Gemini interpretation is optional.</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suite as a shared, auditable engineering workspace. v0.5.0 adds optional AI-assisted triage while keeping compact evidence and the normal analysis workflow at its core.</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deterministic local screening from optional model interpretation. The assistant receives compact metrics and flagged evidence rather than a complete raw spectrum.</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before-and-after to explain the design objective. The approved layout is not only cosmetic: it supports a real comparison task—selecting a die on the wafermap and immediately reviewing fit and spectral behaviour without losing context.</a:t>
            </a:r>
          </a:p>
          <a:p xmlns:a="http://schemas.openxmlformats.org/drawingml/2006/main">
            <a:r>
              <a:t/>
            </a:r>
          </a:p>
          <a:p xmlns:a="http://schemas.openxmlformats.org/drawingml/2006/main">
            <a:r>
              <a:t>[Sources]</a:t>
            </a:r>
          </a:p>
          <a:p xmlns:a="http://schemas.openxmlformats.org/drawingml/2006/main">
            <a:r>
              <a:t>- Screenshot - App Development/01-initial-interface-2026-08-20.png</a:t>
            </a:r>
          </a:p>
          <a:p xmlns:a="http://schemas.openxmlformats.org/drawingml/2006/main">
            <a:r>
              <a:t>- Screenshot - App Development/05-compact-analysis-workspace-2026-08-21.png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distinction between counts and filters. Measured Chips describes dataset coverage; Valid Fitted Chips and wafer yield describe the quality gate. The wafer average is based on selected chips passing the fit criterion, while detailed MSE remains visible for individual fits.</a:t>
            </a:r>
          </a:p>
          <a:p xmlns:a="http://schemas.openxmlformats.org/drawingml/2006/main">
            <a:r>
              <a:t/>
            </a:r>
          </a:p>
          <a:p xmlns:a="http://schemas.openxmlformats.org/drawingml/2006/main">
            <a:r>
              <a:t>[Sources]</a:t>
            </a:r>
          </a:p>
          <a:p xmlns:a="http://schemas.openxmlformats.org/drawingml/2006/main">
            <a:r>
              <a:t>- Screenshot - App Development/11-propagation-analysis-current-v0.4.0.png</a:t>
            </a:r>
          </a:p>
          <a:p xmlns:a="http://schemas.openxmlformats.org/drawingml/2006/main">
            <a:r>
              <a:t>- docs/releases/v0.4.0/FEATURES.md</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user interaction as a safety feature. Defaults are anchored to measured data, but the reviewer can set controlled thresholds for comparison. Temporarily clearing a field no longer forces the spinner arrows or interrupts the map; Reset Scale provides a clear return path.</a:t>
            </a:r>
          </a:p>
          <a:p xmlns:a="http://schemas.openxmlformats.org/drawingml/2006/main">
            <a:r>
              <a:t/>
            </a:r>
          </a:p>
          <a:p xmlns:a="http://schemas.openxmlformats.org/drawingml/2006/main">
            <a:r>
              <a:t>[Sources]</a:t>
            </a:r>
          </a:p>
          <a:p xmlns:a="http://schemas.openxmlformats.org/drawingml/2006/main">
            <a:r>
              <a:t>- Screenshot - App Development/07-wafer-scale-redesign-2026-08-21.png</a:t>
            </a:r>
          </a:p>
          <a:p xmlns:a="http://schemas.openxmlformats.org/drawingml/2006/main">
            <a:r>
              <a:t>- Screenshot - App Development/08-wafer-scale-editable-input-2026-08-21.png</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measurement workspaces remain the analytical foundation for the v0.5.0 release. AI Diagnostics complements them; it does not replace the underlying calculations.</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analysts should inspect the underlying visual evidence before accepting an AI-proposed cause or priority.</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report generation remains the dedicated place for consolidated outputs. Duplicate post-processing actions were removed from the propagation panel so analysis and reporting responsibilities are clearer. The goal is a repeatable review package rather than a collection of manually assembled screenshots.</a:t>
            </a:r>
          </a:p>
          <a:p xmlns:a="http://schemas.openxmlformats.org/drawingml/2006/main">
            <a:r>
              <a:t/>
            </a:r>
          </a:p>
          <a:p xmlns:a="http://schemas.openxmlformats.org/drawingml/2006/main">
            <a:r>
              <a:t>[Sources]</a:t>
            </a:r>
          </a:p>
          <a:p xmlns:a="http://schemas.openxmlformats.org/drawingml/2006/main">
            <a:r>
              <a:t>- Screenshot - App Development/10-report-generator-current-v0.4.0.png</a:t>
            </a:r>
          </a:p>
          <a:p xmlns:a="http://schemas.openxmlformats.org/drawingml/2006/main">
            <a:r>
              <a:t>- README.md</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additional capability is designed for hypothesis generation and prioritisation. It is not a pass/fail authority and must be reviewed against the underlying measurement evidence.</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boundary clear: the application logs the selected provider/model when diagnostic logging is enabled, but people remain accountable for conclusions.</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reviewers to challenge the proposed interpretation with the trace, wafer position and process context. A useful model response is one that makes the next engineering check clearer.</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real v0.5.0 AI Diagnostics workspace. The app performs deterministic screening locally, limits supplied evidence, and makes the model choice visible to the user.</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availability, rate limits and pricing are provider-controlled and can change. The stated ceilings are application output caps, not provider quotas. Use Lite models by default; escalate only for a clear review need.</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milestone includes local implementation, production build validation and documentation refresh. It is not a declaration that production deployment or data-governance approval is complete.</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release-control slide. Be clear that the Gemini secret is local-only in development. A static public site must use a protected server-side proxy or another backend secret store.</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approval of a small, governed pilot—not a broad production rollout. Define accepted datasets, reviewers, expected outcomes and the decision owner before collecting any training examples.</a:t>
            </a:r>
          </a:p>
          <a:p xmlns:a="http://schemas.openxmlformats.org/drawingml/2006/main">
            <a:r>
              <a:t/>
            </a:r>
          </a:p>
          <a:p xmlns:a="http://schemas.openxmlformats.org/drawingml/2006/main">
            <a:r>
              <a:t>[Sources]</a:t>
            </a:r>
          </a:p>
          <a:p xmlns:a="http://schemas.openxmlformats.org/drawingml/2006/main">
            <a:r>
              <a:t>- docs/AI_DIAGNOSTICS.md</a:t>
            </a:r>
          </a:p>
          <a:p xmlns:a="http://schemas.openxmlformats.org/drawingml/2006/main">
            <a:r>
              <a:t>- docs/releases/v0.5.0/FEATURES.md</a:t>
            </a:r>
          </a:p>
          <a:p xmlns:a="http://schemas.openxmlformats.org/drawingml/2006/main">
            <a:r>
              <a:t>- docs/releases/v0.5.0/CHANGELOG.md</a:t>
            </a:r>
          </a:p>
          <a:p xmlns:a="http://schemas.openxmlformats.org/drawingml/2006/main">
            <a:r>
              <a:t>- https://ai.google.dev/gemini-api/docs/models</a:t>
            </a:r>
          </a:p>
          <a:p xmlns:a="http://schemas.openxmlformats.org/drawingml/2006/main">
            <a:r>
              <a:t>- https://ai.google.dev/gemini-api/docs/pricing</a:t>
            </a:r>
          </a:p>
          <a:p xmlns:a="http://schemas.openxmlformats.org/drawingml/2006/main">
            <a:r>
              <a:t>-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35c5feed504f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35c44124b84c01" /><Relationship Type="http://schemas.openxmlformats.org/officeDocument/2006/relationships/slideLayout" Target="/ppt/slideLayouts/slideLayout1.xml" Id="Rbc672ae90a1043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672ae90a1043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b301ff822c4754" /><Relationship Type="http://schemas.openxmlformats.org/officeDocument/2006/relationships/image" Target="/ppt/media/image.png" Id="Rf054f54ebca04287" /><Relationship Type="http://schemas.openxmlformats.org/officeDocument/2006/relationships/image" Target="/ppt/media/image2.png" Id="Rb581c371ba304f8a" /><Relationship Type="http://schemas.openxmlformats.org/officeDocument/2006/relationships/notesSlide" Target="/ppt/notesSlides/notesSlide1.xml" Id="R4f650104d3a742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056bf69662488d" /><Relationship Type="http://schemas.openxmlformats.org/officeDocument/2006/relationships/notesSlide" Target="/ppt/notesSlides/notesSlide2.xml" Id="Rb6192407e93a44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987da472714d5f" /><Relationship Type="http://schemas.openxmlformats.org/officeDocument/2006/relationships/notesSlide" Target="/ppt/notesSlides/notesSlide3.xml" Id="R0e2f6d3c519d43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41b44947e14d46" /><Relationship Type="http://schemas.openxmlformats.org/officeDocument/2006/relationships/image" Target="/ppt/media/image3.png" Id="R1285727747844883" /><Relationship Type="http://schemas.openxmlformats.org/officeDocument/2006/relationships/image" Target="/ppt/media/image.jpeg" Id="Ra6dac4a2bbfb4810" /><Relationship Type="http://schemas.openxmlformats.org/officeDocument/2006/relationships/notesSlide" Target="/ppt/notesSlides/notesSlide4.xml" Id="Rf50d9fa678ec42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7b461e37324feb" /><Relationship Type="http://schemas.openxmlformats.org/officeDocument/2006/relationships/image" Target="/ppt/media/image2.jpeg" Id="R43e5a28a86534057" /><Relationship Type="http://schemas.openxmlformats.org/officeDocument/2006/relationships/notesSlide" Target="/ppt/notesSlides/notesSlide5.xml" Id="R794dec99a04346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e1915beae64b93" /><Relationship Type="http://schemas.openxmlformats.org/officeDocument/2006/relationships/image" Target="/ppt/media/image3.jpeg" Id="Rd8d3a57d69454542" /><Relationship Type="http://schemas.openxmlformats.org/officeDocument/2006/relationships/image" Target="/ppt/media/image4.jpeg" Id="R5e53f7fdff7242e9" /><Relationship Type="http://schemas.openxmlformats.org/officeDocument/2006/relationships/notesSlide" Target="/ppt/notesSlides/notesSlide6.xml" Id="R1a13f9dc489842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9d41c8337f42f9" /><Relationship Type="http://schemas.openxmlformats.org/officeDocument/2006/relationships/notesSlide" Target="/ppt/notesSlides/notesSlide7.xml" Id="R5c2ffc798fe043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10ca97546440da" /><Relationship Type="http://schemas.openxmlformats.org/officeDocument/2006/relationships/notesSlide" Target="/ppt/notesSlides/notesSlide8.xml" Id="Re85de05b262e42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8d9d00d04c4281" /><Relationship Type="http://schemas.openxmlformats.org/officeDocument/2006/relationships/image" Target="/ppt/media/image5.jpeg" Id="R84533ffa96f34564" /><Relationship Type="http://schemas.openxmlformats.org/officeDocument/2006/relationships/notesSlide" Target="/ppt/notesSlides/notesSlide9.xml" Id="Rf3725e77f5fc4a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3d05dbf9094ac3" /><Relationship Type="http://schemas.openxmlformats.org/officeDocument/2006/relationships/notesSlide" Target="/ppt/notesSlides/notesSlide10.xml" Id="R3210aebbc2bf40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ed949a0427499d" /><Relationship Type="http://schemas.openxmlformats.org/officeDocument/2006/relationships/notesSlide" Target="/ppt/notesSlides/notesSlide11.xml" Id="R2a397c14222147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35df1be4964a78" /><Relationship Type="http://schemas.openxmlformats.org/officeDocument/2006/relationships/notesSlide" Target="/ppt/notesSlides/notesSlide12.xml" Id="R9e398a53853a40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6ec9880eee4ffc" /><Relationship Type="http://schemas.openxmlformats.org/officeDocument/2006/relationships/image" Target="/ppt/media/image3.png" Id="R3a86051e11204399" /><Relationship Type="http://schemas.openxmlformats.org/officeDocument/2006/relationships/image" Target="/ppt/media/image.jpeg" Id="R46c1b92c6c6a430f" /><Relationship Type="http://schemas.openxmlformats.org/officeDocument/2006/relationships/notesSlide" Target="/ppt/notesSlides/notesSlide13.xml" Id="Re7bd17ba752b48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7d0d73b14e4da2" /><Relationship Type="http://schemas.openxmlformats.org/officeDocument/2006/relationships/notesSlide" Target="/ppt/notesSlides/notesSlide14.xml" Id="Ra409accc74e545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6fd7ca18644b83" /><Relationship Type="http://schemas.openxmlformats.org/officeDocument/2006/relationships/notesSlide" Target="/ppt/notesSlides/notesSlide15.xml" Id="R92039750b76d48f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f3e191a2c548b7" /><Relationship Type="http://schemas.openxmlformats.org/officeDocument/2006/relationships/notesSlide" Target="/ppt/notesSlides/notesSlide16.xml" Id="R5ea009bd96144b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7059cd583ab43e4" /><Relationship Type="http://schemas.openxmlformats.org/officeDocument/2006/relationships/notesSlide" Target="/ppt/notesSlides/notesSlide17.xml" Id="Rb825c3b9e5e440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9ED37E-E5C0-4520-A529-58A5FC3865C2}"/>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180876-C72A-43B2-BD09-A59799093BDA}"/>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A9C43C-DA90-46DC-97B1-074D6390181F}"/>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A96A04-A693-424A-894D-DAA60D78E48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B8A936-E93E-424A-A570-679D420783A2}"/>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EA07FE9-B26E-476F-82F1-8705CA5D40CE}"/>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054f54ebca04287"/>
          <a:stretch xmlns:a="http://schemas.openxmlformats.org/drawingml/2006/main"/>
        </p:blipFill>
        <p:spPr>
          <a:xfrm xmlns:a="http://schemas.openxmlformats.org/drawingml/2006/main">
            <a:off x="675473" y="400050"/>
            <a:ext cx="1525605" cy="933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294636-4289-49E9-93E4-0964211329AD}"/>
              </a:ext>
            </a:extLst>
          </p:cNvPr>
          <p:cNvSpPr>
            <a:spLocks xmlns:a="http://schemas.openxmlformats.org/drawingml/2006/main" noGrp="1"/>
          </p:cNvSpPr>
          <p:nvPr/>
        </p:nvSpPr>
        <p:spPr>
          <a:xfrm xmlns:a="http://schemas.openxmlformats.org/drawingml/2006/main">
            <a:off x="533400" y="1809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053"/>
          </a:bodyPr>
          <a:lstStyle xmlns:a="http://schemas.openxmlformats.org/drawingml/2006/main"/>
          <a:p xmlns:a="http://schemas.openxmlformats.org/drawingml/2006/main">
            <a:pPr algn="l">
              <a:buNone/>
              <a:defRPr sz="4350" b="1">
                <a:solidFill>
                  <a:srgbClr val="111A3B"/>
                </a:solidFill>
                <a:latin typeface="Arial"/>
                <a:ea typeface="Arial"/>
                <a:cs typeface="Arial"/>
              </a:defRPr>
            </a:pPr>
            <a:r>
              <a:rPr sz="4350" b="1">
                <a:solidFill>
                  <a:srgbClr val="111A3B"/>
                </a:solidFill>
                <a:latin typeface="Arial"/>
                <a:ea typeface="Arial"/>
                <a:cs typeface="Arial"/>
              </a:rPr>
              <a:t>Wafer Post-Processing</a:t>
            </a:r>
          </a:p>
          <a:p xmlns:a="http://schemas.openxmlformats.org/drawingml/2006/main">
            <a:pPr algn="l">
              <a:buNone/>
              <a:defRPr sz="4350" b="1">
                <a:solidFill>
                  <a:srgbClr val="111A3B"/>
                </a:solidFill>
                <a:latin typeface="Arial"/>
                <a:ea typeface="Arial"/>
                <a:cs typeface="Arial"/>
              </a:defRPr>
            </a:pPr>
            <a:r>
              <a:rPr sz="4350" b="1">
                <a:solidFill>
                  <a:srgbClr val="111A3B"/>
                </a:solidFill>
                <a:latin typeface="Arial"/>
                <a:ea typeface="Arial"/>
                <a:cs typeface="Arial"/>
              </a:rPr>
              <a:t>Suite</a:t>
            </a:r>
          </a:p>
        </p:txBody>
      </p:sp>
      <p:sp>
        <p:nvSpPr>
          <p:cNvPr id="9" name="">
            <a:extLst xmlns:a="http://schemas.openxmlformats.org/drawingml/2006/main">
              <a:ext uri="{FF2B5EF4-FFF2-40B4-BE49-F238E27FC236}">
                <a16:creationId xmlns:a16="http://schemas.microsoft.com/office/drawing/2014/main" id="{9C989A0F-0671-47CF-9060-E86FF572D7BF}"/>
              </a:ext>
            </a:extLst>
          </p:cNvPr>
          <p:cNvSpPr>
            <a:spLocks xmlns:a="http://schemas.openxmlformats.org/drawingml/2006/main" noGrp="1"/>
          </p:cNvSpPr>
          <p:nvPr/>
        </p:nvSpPr>
        <p:spPr>
          <a:xfrm xmlns:a="http://schemas.openxmlformats.org/drawingml/2006/main">
            <a:off x="533400" y="342900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66708D"/>
                </a:solidFill>
                <a:latin typeface="Arial"/>
                <a:ea typeface="Arial"/>
                <a:cs typeface="Arial"/>
              </a:defRPr>
            </a:pPr>
            <a:r>
              <a:rPr sz="1875" b="0">
                <a:solidFill>
                  <a:srgbClr val="66708D"/>
                </a:solidFill>
                <a:latin typeface="Arial"/>
                <a:ea typeface="Arial"/>
                <a:cs typeface="Arial"/>
              </a:rPr>
              <a:t>Unified processing and analysis for silicon photonics wafer measurements</a:t>
            </a:r>
          </a:p>
        </p:txBody>
      </p:sp>
      <p:sp>
        <p:nvSpPr>
          <p:cNvPr id="10" name="">
            <a:extLst xmlns:a="http://schemas.openxmlformats.org/drawingml/2006/main">
              <a:ext uri="{FF2B5EF4-FFF2-40B4-BE49-F238E27FC236}">
                <a16:creationId xmlns:a16="http://schemas.microsoft.com/office/drawing/2014/main" id="{28ECD252-B653-492B-8DC3-354E10E4AE29}"/>
              </a:ext>
            </a:extLst>
          </p:cNvPr>
          <p:cNvSpPr>
            <a:spLocks xmlns:a="http://schemas.openxmlformats.org/drawingml/2006/main" noGrp="1"/>
          </p:cNvSpPr>
          <p:nvPr/>
        </p:nvSpPr>
        <p:spPr>
          <a:xfrm xmlns:a="http://schemas.openxmlformats.org/drawingml/2006/main">
            <a:off x="533400" y="57150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056"/>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Created by Aiman Hazim Shafizam · Research Technician
Testing and Characterisation · CORNERSTONE · v0.5.0 · 27 August 2026</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581c371ba304f8a"/>
          <a:stretch xmlns:a="http://schemas.openxmlformats.org/drawingml/2006/main"/>
        </p:blipFill>
        <p:spPr>
          <a:xfrm xmlns:a="http://schemas.openxmlformats.org/drawingml/2006/main">
            <a:off x="6057900" y="1792786"/>
            <a:ext cx="5600700" cy="3139078"/>
          </a:xfrm>
          <a:prstGeom xmlns:a="http://schemas.openxmlformats.org/drawingml/2006/main" prst="rect">
            <a:avLst/>
          </a:prstGeom>
        </p:spPr>
      </p:pic>
    </p:spTree>
    <p:extLst>
      <p:ext uri="{BB962C8B-B14F-4D97-AF65-F5344CB8AC3E}">
        <p14:creationId xmlns:p14="http://schemas.microsoft.com/office/powerpoint/2010/main" val="1139785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7482951-17EB-4D7D-BE38-E5507499527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1DFA0D-B70C-45D4-9247-6282570403DA}"/>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3AF3AD-6F23-49CA-BE8B-4172015689A4}"/>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E492D7-1E3C-4B5A-B7D9-E9576A210E9F}"/>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6B66C2-DD54-4E8E-8845-FA725D4EFA1E}"/>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81D868-65BA-473A-9F84-7F4A2065D6E9}"/>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EBEB74-3F1B-4BDE-A289-8265DE654852}"/>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381A155F-6E66-4020-B061-2F05CA06DE9D}"/>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956"/>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Wafer measurements become more useful when the workflow is shared</a:t>
            </a:r>
          </a:p>
        </p:txBody>
      </p:sp>
      <p:sp>
        <p:nvSpPr>
          <p:cNvPr id="9" name="">
            <a:extLst xmlns:a="http://schemas.openxmlformats.org/drawingml/2006/main">
              <a:ext uri="{FF2B5EF4-FFF2-40B4-BE49-F238E27FC236}">
                <a16:creationId xmlns:a16="http://schemas.microsoft.com/office/drawing/2014/main" id="{137AC5F0-9E42-4371-9FBC-030DE67C04F3}"/>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3C7E45-0F69-4775-BEE8-443ED8BA26C8}"/>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CF3EDCBE-DE2A-45BA-9C3B-A2A8494493DA}"/>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F164099-474C-40DC-9EBF-33C7E022E17B}"/>
              </a:ext>
            </a:extLst>
          </p:cNvPr>
          <p:cNvSpPr>
            <a:spLocks xmlns:a="http://schemas.openxmlformats.org/drawingml/2006/main" noGrp="1"/>
          </p:cNvSpPr>
          <p:nvPr/>
        </p:nvSpPr>
        <p:spPr>
          <a:xfrm xmlns:a="http://schemas.openxmlformats.org/drawingml/2006/main">
            <a:off x="533400" y="1714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Today’s opportunity</a:t>
            </a:r>
          </a:p>
        </p:txBody>
      </p:sp>
      <p:sp>
        <p:nvSpPr>
          <p:cNvPr id="13" name="">
            <a:extLst xmlns:a="http://schemas.openxmlformats.org/drawingml/2006/main">
              <a:ext uri="{FF2B5EF4-FFF2-40B4-BE49-F238E27FC236}">
                <a16:creationId xmlns:a16="http://schemas.microsoft.com/office/drawing/2014/main" id="{80E73796-FA16-498F-B284-2B42A56E5245}"/>
              </a:ext>
            </a:extLst>
          </p:cNvPr>
          <p:cNvSpPr>
            <a:spLocks xmlns:a="http://schemas.openxmlformats.org/drawingml/2006/main" noGrp="1"/>
          </p:cNvSpPr>
          <p:nvPr/>
        </p:nvSpPr>
        <p:spPr>
          <a:xfrm xmlns:a="http://schemas.openxmlformats.org/drawingml/2006/main">
            <a:off x="533400" y="21336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A2F"/>
                </a:solidFill>
                <a:latin typeface="Arial"/>
                <a:ea typeface="Arial"/>
                <a:cs typeface="Arial"/>
              </a:defRPr>
            </a:pPr>
            <a:r>
              <a:rPr sz="1800" b="0">
                <a:solidFill>
                  <a:srgbClr val="151A2F"/>
                </a:solidFill>
                <a:latin typeface="Arial"/>
                <a:ea typeface="Arial"/>
                <a:cs typeface="Arial"/>
              </a:rPr>
              <a:t>Optical and electrical measurements arrive in different formats, are reviewed through different tools, and can be difficult to compare later. The suite creates one visible path from source files to wafer-level evidence.</a:t>
            </a:r>
          </a:p>
        </p:txBody>
      </p:sp>
      <p:sp>
        <p:nvSpPr>
          <p:cNvPr id="14" name="">
            <a:extLst xmlns:a="http://schemas.openxmlformats.org/drawingml/2006/main">
              <a:ext uri="{FF2B5EF4-FFF2-40B4-BE49-F238E27FC236}">
                <a16:creationId xmlns:a16="http://schemas.microsoft.com/office/drawing/2014/main" id="{BF65E346-3BF2-4BFF-8D1A-201CF319AF60}"/>
              </a:ext>
            </a:extLst>
          </p:cNvPr>
          <p:cNvSpPr>
            <a:spLocks xmlns:a="http://schemas.openxmlformats.org/drawingml/2006/main" noGrp="1"/>
          </p:cNvSpPr>
          <p:nvPr/>
        </p:nvSpPr>
        <p:spPr>
          <a:xfrm xmlns:a="http://schemas.openxmlformats.org/drawingml/2006/main">
            <a:off x="6057900" y="1771650"/>
            <a:ext cx="9525" cy="382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0F0023-0E99-4423-AE10-FC1BE5B56C4A}"/>
              </a:ext>
            </a:extLst>
          </p:cNvPr>
          <p:cNvSpPr>
            <a:spLocks xmlns:a="http://schemas.openxmlformats.org/drawingml/2006/main" noGrp="1"/>
          </p:cNvSpPr>
          <p:nvPr/>
        </p:nvSpPr>
        <p:spPr>
          <a:xfrm xmlns:a="http://schemas.openxmlformats.org/drawingml/2006/main">
            <a:off x="6572250" y="19907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BEA674F-46FB-42E6-8DC8-FBE2CC4A427C}"/>
              </a:ext>
            </a:extLst>
          </p:cNvPr>
          <p:cNvSpPr>
            <a:spLocks xmlns:a="http://schemas.openxmlformats.org/drawingml/2006/main" noGrp="1"/>
          </p:cNvSpPr>
          <p:nvPr/>
        </p:nvSpPr>
        <p:spPr>
          <a:xfrm xmlns:a="http://schemas.openxmlformats.org/drawingml/2006/main">
            <a:off x="6800850" y="19240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Reduce manual translation between tester and spreadsheet workflows</a:t>
            </a:r>
          </a:p>
        </p:txBody>
      </p:sp>
      <p:sp>
        <p:nvSpPr>
          <p:cNvPr id="17" name="">
            <a:extLst xmlns:a="http://schemas.openxmlformats.org/drawingml/2006/main">
              <a:ext uri="{FF2B5EF4-FFF2-40B4-BE49-F238E27FC236}">
                <a16:creationId xmlns:a16="http://schemas.microsoft.com/office/drawing/2014/main" id="{EADFF859-4AFA-438D-A494-3617808BB327}"/>
              </a:ext>
            </a:extLst>
          </p:cNvPr>
          <p:cNvSpPr>
            <a:spLocks xmlns:a="http://schemas.openxmlformats.org/drawingml/2006/main" noGrp="1"/>
          </p:cNvSpPr>
          <p:nvPr/>
        </p:nvSpPr>
        <p:spPr>
          <a:xfrm xmlns:a="http://schemas.openxmlformats.org/drawingml/2006/main">
            <a:off x="6572250" y="27717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DCCBCD-1833-46F5-92BE-58DEC60AE0FA}"/>
              </a:ext>
            </a:extLst>
          </p:cNvPr>
          <p:cNvSpPr>
            <a:spLocks xmlns:a="http://schemas.openxmlformats.org/drawingml/2006/main" noGrp="1"/>
          </p:cNvSpPr>
          <p:nvPr/>
        </p:nvSpPr>
        <p:spPr>
          <a:xfrm xmlns:a="http://schemas.openxmlformats.org/drawingml/2006/main">
            <a:off x="6800850" y="270510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Make processing status and fit quality visible to the reviewer</a:t>
            </a:r>
          </a:p>
        </p:txBody>
      </p:sp>
      <p:sp>
        <p:nvSpPr>
          <p:cNvPr id="19" name="">
            <a:extLst xmlns:a="http://schemas.openxmlformats.org/drawingml/2006/main">
              <a:ext uri="{FF2B5EF4-FFF2-40B4-BE49-F238E27FC236}">
                <a16:creationId xmlns:a16="http://schemas.microsoft.com/office/drawing/2014/main" id="{51918A44-1F5C-4BFB-9A96-3A633285382D}"/>
              </a:ext>
            </a:extLst>
          </p:cNvPr>
          <p:cNvSpPr>
            <a:spLocks xmlns:a="http://schemas.openxmlformats.org/drawingml/2006/main" noGrp="1"/>
          </p:cNvSpPr>
          <p:nvPr/>
        </p:nvSpPr>
        <p:spPr>
          <a:xfrm xmlns:a="http://schemas.openxmlformats.org/drawingml/2006/main">
            <a:off x="6572250" y="3552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F7F5378-02CB-4D42-BB9C-A25E95C3737A}"/>
              </a:ext>
            </a:extLst>
          </p:cNvPr>
          <p:cNvSpPr>
            <a:spLocks xmlns:a="http://schemas.openxmlformats.org/drawingml/2006/main" noGrp="1"/>
          </p:cNvSpPr>
          <p:nvPr/>
        </p:nvSpPr>
        <p:spPr>
          <a:xfrm xmlns:a="http://schemas.openxmlformats.org/drawingml/2006/main">
            <a:off x="6800850" y="34861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Keep chip, wafer, and dataset context together</a:t>
            </a:r>
          </a:p>
        </p:txBody>
      </p:sp>
      <p:sp>
        <p:nvSpPr>
          <p:cNvPr id="21" name="">
            <a:extLst xmlns:a="http://schemas.openxmlformats.org/drawingml/2006/main">
              <a:ext uri="{FF2B5EF4-FFF2-40B4-BE49-F238E27FC236}">
                <a16:creationId xmlns:a16="http://schemas.microsoft.com/office/drawing/2014/main" id="{ADF0AC4E-3E69-4D5B-9385-8A86FF9FD995}"/>
              </a:ext>
            </a:extLst>
          </p:cNvPr>
          <p:cNvSpPr>
            <a:spLocks xmlns:a="http://schemas.openxmlformats.org/drawingml/2006/main" noGrp="1"/>
          </p:cNvSpPr>
          <p:nvPr/>
        </p:nvSpPr>
        <p:spPr>
          <a:xfrm xmlns:a="http://schemas.openxmlformats.org/drawingml/2006/main">
            <a:off x="6572250" y="43338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B24B6F-6DD3-4EA3-AF70-6A4D4ABB2145}"/>
              </a:ext>
            </a:extLst>
          </p:cNvPr>
          <p:cNvSpPr>
            <a:spLocks xmlns:a="http://schemas.openxmlformats.org/drawingml/2006/main" noGrp="1"/>
          </p:cNvSpPr>
          <p:nvPr/>
        </p:nvSpPr>
        <p:spPr>
          <a:xfrm xmlns:a="http://schemas.openxmlformats.org/drawingml/2006/main">
            <a:off x="6800850" y="426720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Create repeatable outputs for technical review and reporting</a:t>
            </a:r>
          </a:p>
        </p:txBody>
      </p:sp>
    </p:spTree>
    <p:extLst>
      <p:ext uri="{BB962C8B-B14F-4D97-AF65-F5344CB8AC3E}">
        <p14:creationId xmlns:p14="http://schemas.microsoft.com/office/powerpoint/2010/main" val="11703920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1C79194-BC06-4CE7-9F72-05A53B76537F}"/>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8A3589-5A25-47D8-9DA9-5E4A4BA27E73}"/>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72A804-03AC-4181-B4FD-13456F572CE9}"/>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3143A0-6DBD-4E4F-A8BC-9A6E1D7A2E47}"/>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1132CB-A569-4755-8DCB-E2AD84F90A00}"/>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590F86-2679-43FB-94F9-EB57EC9E82B6}"/>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8D9280-B94E-49E2-9825-F528B9B98B5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E101DC4A-87FE-4D78-A09A-7FAA3F94EBBB}"/>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22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One workflow connects raw files, local screening, wafer context, and reports</a:t>
            </a:r>
          </a:p>
        </p:txBody>
      </p:sp>
      <p:sp>
        <p:nvSpPr>
          <p:cNvPr id="9" name="">
            <a:extLst xmlns:a="http://schemas.openxmlformats.org/drawingml/2006/main">
              <a:ext uri="{FF2B5EF4-FFF2-40B4-BE49-F238E27FC236}">
                <a16:creationId xmlns:a16="http://schemas.microsoft.com/office/drawing/2014/main" id="{D71F17D1-421F-47B6-99E4-5D4176B8CD73}"/>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C6B527-0A0E-4626-A927-4FF00F27539E}"/>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A44BA9F3-9228-4AFE-A31B-5D3DE5C16258}"/>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FE3C75F-55A5-4C5A-818D-B2F32BAD1254}"/>
              </a:ext>
            </a:extLst>
          </p:cNvPr>
          <p:cNvSpPr>
            <a:spLocks xmlns:a="http://schemas.openxmlformats.org/drawingml/2006/main" noGrp="1"/>
          </p:cNvSpPr>
          <p:nvPr/>
        </p:nvSpPr>
        <p:spPr>
          <a:xfrm xmlns:a="http://schemas.openxmlformats.org/drawingml/2006/main">
            <a:off x="220980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68170B-FB3F-4D46-AE53-802B539560E5}"/>
              </a:ext>
            </a:extLst>
          </p:cNvPr>
          <p:cNvSpPr>
            <a:spLocks xmlns:a="http://schemas.openxmlformats.org/drawingml/2006/main" noGrp="1"/>
          </p:cNvSpPr>
          <p:nvPr/>
        </p:nvSpPr>
        <p:spPr>
          <a:xfrm xmlns:a="http://schemas.openxmlformats.org/drawingml/2006/main">
            <a:off x="53340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14" name="">
            <a:extLst xmlns:a="http://schemas.openxmlformats.org/drawingml/2006/main">
              <a:ext uri="{FF2B5EF4-FFF2-40B4-BE49-F238E27FC236}">
                <a16:creationId xmlns:a16="http://schemas.microsoft.com/office/drawing/2014/main" id="{72B27C55-566F-4DA4-B84E-C14D0CCFC03E}"/>
              </a:ext>
            </a:extLst>
          </p:cNvPr>
          <p:cNvSpPr>
            <a:spLocks xmlns:a="http://schemas.openxmlformats.org/drawingml/2006/main" noGrp="1"/>
          </p:cNvSpPr>
          <p:nvPr/>
        </p:nvSpPr>
        <p:spPr>
          <a:xfrm xmlns:a="http://schemas.openxmlformats.org/drawingml/2006/main">
            <a:off x="70485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1  INGEST</a:t>
            </a:r>
          </a:p>
        </p:txBody>
      </p:sp>
      <p:sp>
        <p:nvSpPr>
          <p:cNvPr id="15" name="">
            <a:extLst xmlns:a="http://schemas.openxmlformats.org/drawingml/2006/main">
              <a:ext uri="{FF2B5EF4-FFF2-40B4-BE49-F238E27FC236}">
                <a16:creationId xmlns:a16="http://schemas.microsoft.com/office/drawing/2014/main" id="{C31D092B-8D7A-42F7-BA15-46FFDD59E575}"/>
              </a:ext>
            </a:extLst>
          </p:cNvPr>
          <p:cNvSpPr>
            <a:spLocks xmlns:a="http://schemas.openxmlformats.org/drawingml/2006/main" noGrp="1"/>
          </p:cNvSpPr>
          <p:nvPr/>
        </p:nvSpPr>
        <p:spPr>
          <a:xfrm xmlns:a="http://schemas.openxmlformats.org/drawingml/2006/main">
            <a:off x="70485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TXT, CSV, XLSX and bundled GitHub datasets</a:t>
            </a:r>
          </a:p>
        </p:txBody>
      </p:sp>
      <p:sp>
        <p:nvSpPr>
          <p:cNvPr id="16" name="">
            <a:extLst xmlns:a="http://schemas.openxmlformats.org/drawingml/2006/main">
              <a:ext uri="{FF2B5EF4-FFF2-40B4-BE49-F238E27FC236}">
                <a16:creationId xmlns:a16="http://schemas.microsoft.com/office/drawing/2014/main" id="{7A732EC1-E77D-473A-B862-FB864401BDC9}"/>
              </a:ext>
            </a:extLst>
          </p:cNvPr>
          <p:cNvSpPr>
            <a:spLocks xmlns:a="http://schemas.openxmlformats.org/drawingml/2006/main" noGrp="1"/>
          </p:cNvSpPr>
          <p:nvPr/>
        </p:nvSpPr>
        <p:spPr>
          <a:xfrm xmlns:a="http://schemas.openxmlformats.org/drawingml/2006/main">
            <a:off x="440055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DE31EA-306C-4CBE-B1E9-7F05B4CC4C0D}"/>
              </a:ext>
            </a:extLst>
          </p:cNvPr>
          <p:cNvSpPr>
            <a:spLocks xmlns:a="http://schemas.openxmlformats.org/drawingml/2006/main" noGrp="1"/>
          </p:cNvSpPr>
          <p:nvPr/>
        </p:nvSpPr>
        <p:spPr>
          <a:xfrm xmlns:a="http://schemas.openxmlformats.org/drawingml/2006/main">
            <a:off x="272415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F5147C52-53BF-4789-A32E-3D0DA5860B38}"/>
              </a:ext>
            </a:extLst>
          </p:cNvPr>
          <p:cNvSpPr>
            <a:spLocks xmlns:a="http://schemas.openxmlformats.org/drawingml/2006/main" noGrp="1"/>
          </p:cNvSpPr>
          <p:nvPr/>
        </p:nvSpPr>
        <p:spPr>
          <a:xfrm xmlns:a="http://schemas.openxmlformats.org/drawingml/2006/main">
            <a:off x="289560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2  NORMALISE</a:t>
            </a:r>
          </a:p>
        </p:txBody>
      </p:sp>
      <p:sp>
        <p:nvSpPr>
          <p:cNvPr id="19" name="">
            <a:extLst xmlns:a="http://schemas.openxmlformats.org/drawingml/2006/main">
              <a:ext uri="{FF2B5EF4-FFF2-40B4-BE49-F238E27FC236}">
                <a16:creationId xmlns:a16="http://schemas.microsoft.com/office/drawing/2014/main" id="{07FD51C9-4438-4361-9A82-A4C496503C84}"/>
              </a:ext>
            </a:extLst>
          </p:cNvPr>
          <p:cNvSpPr>
            <a:spLocks xmlns:a="http://schemas.openxmlformats.org/drawingml/2006/main" noGrp="1"/>
          </p:cNvSpPr>
          <p:nvPr/>
        </p:nvSpPr>
        <p:spPr>
          <a:xfrm xmlns:a="http://schemas.openxmlformats.org/drawingml/2006/main">
            <a:off x="289560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Shared internal schema and controlled filenames</a:t>
            </a:r>
          </a:p>
        </p:txBody>
      </p:sp>
      <p:sp>
        <p:nvSpPr>
          <p:cNvPr id="20" name="">
            <a:extLst xmlns:a="http://schemas.openxmlformats.org/drawingml/2006/main">
              <a:ext uri="{FF2B5EF4-FFF2-40B4-BE49-F238E27FC236}">
                <a16:creationId xmlns:a16="http://schemas.microsoft.com/office/drawing/2014/main" id="{6C2494B2-A126-4817-97CC-0CB6502D3B2D}"/>
              </a:ext>
            </a:extLst>
          </p:cNvPr>
          <p:cNvSpPr>
            <a:spLocks xmlns:a="http://schemas.openxmlformats.org/drawingml/2006/main" noGrp="1"/>
          </p:cNvSpPr>
          <p:nvPr/>
        </p:nvSpPr>
        <p:spPr>
          <a:xfrm xmlns:a="http://schemas.openxmlformats.org/drawingml/2006/main">
            <a:off x="659130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829753-DEAC-4326-937E-ACE9897E6B95}"/>
              </a:ext>
            </a:extLst>
          </p:cNvPr>
          <p:cNvSpPr>
            <a:spLocks xmlns:a="http://schemas.openxmlformats.org/drawingml/2006/main" noGrp="1"/>
          </p:cNvSpPr>
          <p:nvPr/>
        </p:nvSpPr>
        <p:spPr>
          <a:xfrm xmlns:a="http://schemas.openxmlformats.org/drawingml/2006/main">
            <a:off x="4914900" y="2133600"/>
            <a:ext cx="1790700" cy="2095500"/>
          </a:xfrm>
          <a:prstGeom xmlns:a="http://schemas.openxmlformats.org/drawingml/2006/main" prst="roundRect">
            <a:avLst>
              <a:gd name="adj" fmla="val 6383"/>
            </a:avLst>
          </a:prstGeom>
          <a:solidFill xmlns:a="http://schemas.openxmlformats.org/drawingml/2006/main">
            <a:srgbClr val="EEEAFB"/>
          </a:solidFill>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7EE4444C-5187-44DD-9815-51444DEE6336}"/>
              </a:ext>
            </a:extLst>
          </p:cNvPr>
          <p:cNvSpPr>
            <a:spLocks xmlns:a="http://schemas.openxmlformats.org/drawingml/2006/main" noGrp="1"/>
          </p:cNvSpPr>
          <p:nvPr/>
        </p:nvSpPr>
        <p:spPr>
          <a:xfrm xmlns:a="http://schemas.openxmlformats.org/drawingml/2006/main">
            <a:off x="508635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556"/>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3  SCREEN + ANALYSE</a:t>
            </a:r>
          </a:p>
        </p:txBody>
      </p:sp>
      <p:sp>
        <p:nvSpPr>
          <p:cNvPr id="23" name="">
            <a:extLst xmlns:a="http://schemas.openxmlformats.org/drawingml/2006/main">
              <a:ext uri="{FF2B5EF4-FFF2-40B4-BE49-F238E27FC236}">
                <a16:creationId xmlns:a16="http://schemas.microsoft.com/office/drawing/2014/main" id="{2C65EFED-3DE7-4150-913C-5517D92B2C9B}"/>
              </a:ext>
            </a:extLst>
          </p:cNvPr>
          <p:cNvSpPr>
            <a:spLocks xmlns:a="http://schemas.openxmlformats.org/drawingml/2006/main" noGrp="1"/>
          </p:cNvSpPr>
          <p:nvPr/>
        </p:nvSpPr>
        <p:spPr>
          <a:xfrm xmlns:a="http://schemas.openxmlformats.org/drawingml/2006/main">
            <a:off x="508635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Metrics, spectra and local anomaly evidence</a:t>
            </a:r>
          </a:p>
        </p:txBody>
      </p:sp>
      <p:sp>
        <p:nvSpPr>
          <p:cNvPr id="24" name="">
            <a:extLst xmlns:a="http://schemas.openxmlformats.org/drawingml/2006/main">
              <a:ext uri="{FF2B5EF4-FFF2-40B4-BE49-F238E27FC236}">
                <a16:creationId xmlns:a16="http://schemas.microsoft.com/office/drawing/2014/main" id="{518086F2-CEE0-48BD-BDBB-E542E5B8A1C5}"/>
              </a:ext>
            </a:extLst>
          </p:cNvPr>
          <p:cNvSpPr>
            <a:spLocks xmlns:a="http://schemas.openxmlformats.org/drawingml/2006/main" noGrp="1"/>
          </p:cNvSpPr>
          <p:nvPr/>
        </p:nvSpPr>
        <p:spPr>
          <a:xfrm xmlns:a="http://schemas.openxmlformats.org/drawingml/2006/main">
            <a:off x="878205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FBC69CD-CC8E-46BE-A381-F640EB8F4B95}"/>
              </a:ext>
            </a:extLst>
          </p:cNvPr>
          <p:cNvSpPr>
            <a:spLocks xmlns:a="http://schemas.openxmlformats.org/drawingml/2006/main" noGrp="1"/>
          </p:cNvSpPr>
          <p:nvPr/>
        </p:nvSpPr>
        <p:spPr>
          <a:xfrm xmlns:a="http://schemas.openxmlformats.org/drawingml/2006/main">
            <a:off x="710565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BE50FAA0-C3B1-4DB0-BAF3-B470E68997BC}"/>
              </a:ext>
            </a:extLst>
          </p:cNvPr>
          <p:cNvSpPr>
            <a:spLocks xmlns:a="http://schemas.openxmlformats.org/drawingml/2006/main" noGrp="1"/>
          </p:cNvSpPr>
          <p:nvPr/>
        </p:nvSpPr>
        <p:spPr>
          <a:xfrm xmlns:a="http://schemas.openxmlformats.org/drawingml/2006/main">
            <a:off x="727710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4  COMPARE</a:t>
            </a:r>
          </a:p>
        </p:txBody>
      </p:sp>
      <p:sp>
        <p:nvSpPr>
          <p:cNvPr id="27" name="">
            <a:extLst xmlns:a="http://schemas.openxmlformats.org/drawingml/2006/main">
              <a:ext uri="{FF2B5EF4-FFF2-40B4-BE49-F238E27FC236}">
                <a16:creationId xmlns:a16="http://schemas.microsoft.com/office/drawing/2014/main" id="{A3690C0F-D72C-42B8-97F6-2B04F789E85A}"/>
              </a:ext>
            </a:extLst>
          </p:cNvPr>
          <p:cNvSpPr>
            <a:spLocks xmlns:a="http://schemas.openxmlformats.org/drawingml/2006/main" noGrp="1"/>
          </p:cNvSpPr>
          <p:nvPr/>
        </p:nvSpPr>
        <p:spPr>
          <a:xfrm xmlns:a="http://schemas.openxmlformats.org/drawingml/2006/main">
            <a:off x="727710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Chip selection, wafermaps and cross-dataset views</a:t>
            </a:r>
          </a:p>
        </p:txBody>
      </p:sp>
      <p:sp>
        <p:nvSpPr>
          <p:cNvPr id="28" name="">
            <a:extLst xmlns:a="http://schemas.openxmlformats.org/drawingml/2006/main">
              <a:ext uri="{FF2B5EF4-FFF2-40B4-BE49-F238E27FC236}">
                <a16:creationId xmlns:a16="http://schemas.microsoft.com/office/drawing/2014/main" id="{BA20C640-732F-494D-868A-0E5ABD6285AA}"/>
              </a:ext>
            </a:extLst>
          </p:cNvPr>
          <p:cNvSpPr>
            <a:spLocks xmlns:a="http://schemas.openxmlformats.org/drawingml/2006/main" noGrp="1"/>
          </p:cNvSpPr>
          <p:nvPr/>
        </p:nvSpPr>
        <p:spPr>
          <a:xfrm xmlns:a="http://schemas.openxmlformats.org/drawingml/2006/main">
            <a:off x="929640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29" name="">
            <a:extLst xmlns:a="http://schemas.openxmlformats.org/drawingml/2006/main">
              <a:ext uri="{FF2B5EF4-FFF2-40B4-BE49-F238E27FC236}">
                <a16:creationId xmlns:a16="http://schemas.microsoft.com/office/drawing/2014/main" id="{00D72C81-110B-46F9-A622-7CA07783E9F1}"/>
              </a:ext>
            </a:extLst>
          </p:cNvPr>
          <p:cNvSpPr>
            <a:spLocks xmlns:a="http://schemas.openxmlformats.org/drawingml/2006/main" noGrp="1"/>
          </p:cNvSpPr>
          <p:nvPr/>
        </p:nvSpPr>
        <p:spPr>
          <a:xfrm xmlns:a="http://schemas.openxmlformats.org/drawingml/2006/main">
            <a:off x="946785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5  REPORT</a:t>
            </a:r>
          </a:p>
        </p:txBody>
      </p:sp>
      <p:sp>
        <p:nvSpPr>
          <p:cNvPr id="30" name="">
            <a:extLst xmlns:a="http://schemas.openxmlformats.org/drawingml/2006/main">
              <a:ext uri="{FF2B5EF4-FFF2-40B4-BE49-F238E27FC236}">
                <a16:creationId xmlns:a16="http://schemas.microsoft.com/office/drawing/2014/main" id="{4D387A2E-E931-4C8B-9B0E-EE4958E7A653}"/>
              </a:ext>
            </a:extLst>
          </p:cNvPr>
          <p:cNvSpPr>
            <a:spLocks xmlns:a="http://schemas.openxmlformats.org/drawingml/2006/main" noGrp="1"/>
          </p:cNvSpPr>
          <p:nvPr/>
        </p:nvSpPr>
        <p:spPr>
          <a:xfrm xmlns:a="http://schemas.openxmlformats.org/drawingml/2006/main">
            <a:off x="946785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Figures, interactive HTML and presentation outputs</a:t>
            </a:r>
          </a:p>
        </p:txBody>
      </p:sp>
      <p:sp>
        <p:nvSpPr>
          <p:cNvPr id="31" name="">
            <a:extLst xmlns:a="http://schemas.openxmlformats.org/drawingml/2006/main">
              <a:ext uri="{FF2B5EF4-FFF2-40B4-BE49-F238E27FC236}">
                <a16:creationId xmlns:a16="http://schemas.microsoft.com/office/drawing/2014/main" id="{2F1DAD37-0186-4217-B381-70D2FB82070C}"/>
              </a:ext>
            </a:extLst>
          </p:cNvPr>
          <p:cNvSpPr>
            <a:spLocks xmlns:a="http://schemas.openxmlformats.org/drawingml/2006/main" noGrp="1"/>
          </p:cNvSpPr>
          <p:nvPr/>
        </p:nvSpPr>
        <p:spPr>
          <a:xfrm xmlns:a="http://schemas.openxmlformats.org/drawingml/2006/main">
            <a:off x="1238250" y="4762500"/>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a:solidFill>
                  <a:srgbClr val="111A3B"/>
                </a:solidFill>
                <a:latin typeface="Arial"/>
                <a:ea typeface="Arial"/>
                <a:cs typeface="Arial"/>
              </a:defRPr>
            </a:pPr>
            <a:r>
              <a:rPr sz="1875" b="1">
                <a:solidFill>
                  <a:srgbClr val="111A3B"/>
                </a:solidFill>
                <a:latin typeface="Arial"/>
                <a:ea typeface="Arial"/>
                <a:cs typeface="Arial"/>
              </a:rPr>
              <a:t>The same dataset remains traceable as the user moves from loading to local screening, chip-level review and export.</a:t>
            </a:r>
          </a:p>
        </p:txBody>
      </p:sp>
    </p:spTree>
    <p:extLst>
      <p:ext uri="{BB962C8B-B14F-4D97-AF65-F5344CB8AC3E}">
        <p14:creationId xmlns:p14="http://schemas.microsoft.com/office/powerpoint/2010/main" val="10284643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32571E9-6800-420F-B889-D9BE3DC3F69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739803-0499-4E6B-A763-E1BE502A7DB2}"/>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6298C4-7068-40FD-9C8A-6E03EA8D34E9}"/>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1E02FF-8A99-44ED-A704-B22EA537BDA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46DD64-6B9D-4940-BE40-DA16917D1CE8}"/>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7904B9-18AC-4B90-BE1D-DEAB257F5CF3}"/>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A2A971-D1AD-4B3B-B7E1-74ACF0B33E0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A674C11C-B7C2-4E12-B20C-5256DE011488}"/>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64"/>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The interface evolved from a long dashboard into a comparison workspace</a:t>
            </a:r>
          </a:p>
        </p:txBody>
      </p:sp>
      <p:sp>
        <p:nvSpPr>
          <p:cNvPr id="9" name="">
            <a:extLst xmlns:a="http://schemas.openxmlformats.org/drawingml/2006/main">
              <a:ext uri="{FF2B5EF4-FFF2-40B4-BE49-F238E27FC236}">
                <a16:creationId xmlns:a16="http://schemas.microsoft.com/office/drawing/2014/main" id="{32894930-8D73-411A-9C6C-C923B1EE08BB}"/>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388C09-B037-4BEC-B386-9A649EDE403F}"/>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6F5F78C4-1EE5-4D9C-BC9B-0C11FFE3BBD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04</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285727747844883"/>
          <a:stretch xmlns:a="http://schemas.openxmlformats.org/drawingml/2006/main"/>
        </p:blipFill>
        <p:spPr>
          <a:xfrm xmlns:a="http://schemas.openxmlformats.org/drawingml/2006/main">
            <a:off x="533400" y="1913912"/>
            <a:ext cx="5067300" cy="2849201"/>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6dac4a2bbfb4810"/>
          <a:stretch xmlns:a="http://schemas.openxmlformats.org/drawingml/2006/main"/>
        </p:blipFill>
        <p:spPr>
          <a:xfrm xmlns:a="http://schemas.openxmlformats.org/drawingml/2006/main">
            <a:off x="6591300" y="1918453"/>
            <a:ext cx="5067300" cy="2840119"/>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F09F3B4-E7D8-4D2E-A757-9AD538C20BD9}"/>
              </a:ext>
            </a:extLst>
          </p:cNvPr>
          <p:cNvSpPr>
            <a:spLocks xmlns:a="http://schemas.openxmlformats.org/drawingml/2006/main" noGrp="1"/>
          </p:cNvSpPr>
          <p:nvPr/>
        </p:nvSpPr>
        <p:spPr>
          <a:xfrm xmlns:a="http://schemas.openxmlformats.org/drawingml/2006/main">
            <a:off x="533400" y="5067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66708D"/>
                </a:solidFill>
                <a:latin typeface="Arial"/>
                <a:ea typeface="Arial"/>
                <a:cs typeface="Arial"/>
              </a:defRPr>
            </a:pPr>
            <a:r>
              <a:rPr sz="1650" b="1">
                <a:solidFill>
                  <a:srgbClr val="66708D"/>
                </a:solidFill>
                <a:latin typeface="Arial"/>
                <a:ea typeface="Arial"/>
                <a:cs typeface="Arial"/>
              </a:rPr>
              <a:t>Earlier layout</a:t>
            </a:r>
          </a:p>
        </p:txBody>
      </p:sp>
      <p:sp>
        <p:nvSpPr>
          <p:cNvPr id="15" name="">
            <a:extLst xmlns:a="http://schemas.openxmlformats.org/drawingml/2006/main">
              <a:ext uri="{FF2B5EF4-FFF2-40B4-BE49-F238E27FC236}">
                <a16:creationId xmlns:a16="http://schemas.microsoft.com/office/drawing/2014/main" id="{6A85628F-2179-4F0B-88F5-0C23C3BB259E}"/>
              </a:ext>
            </a:extLst>
          </p:cNvPr>
          <p:cNvSpPr>
            <a:spLocks xmlns:a="http://schemas.openxmlformats.org/drawingml/2006/main" noGrp="1"/>
          </p:cNvSpPr>
          <p:nvPr/>
        </p:nvSpPr>
        <p:spPr>
          <a:xfrm xmlns:a="http://schemas.openxmlformats.org/drawingml/2006/main">
            <a:off x="6591300" y="5067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8258A"/>
                </a:solidFill>
                <a:latin typeface="Arial"/>
                <a:ea typeface="Arial"/>
                <a:cs typeface="Arial"/>
              </a:defRPr>
            </a:pPr>
            <a:r>
              <a:rPr sz="1650" b="1">
                <a:solidFill>
                  <a:srgbClr val="38258A"/>
                </a:solidFill>
                <a:latin typeface="Arial"/>
                <a:ea typeface="Arial"/>
                <a:cs typeface="Arial"/>
              </a:rPr>
              <a:t>Approved v0.4.0 layout</a:t>
            </a:r>
          </a:p>
        </p:txBody>
      </p:sp>
      <p:sp>
        <p:nvSpPr>
          <p:cNvPr id="16" name="">
            <a:extLst xmlns:a="http://schemas.openxmlformats.org/drawingml/2006/main">
              <a:ext uri="{FF2B5EF4-FFF2-40B4-BE49-F238E27FC236}">
                <a16:creationId xmlns:a16="http://schemas.microsoft.com/office/drawing/2014/main" id="{8AF81A81-4D17-49F5-91F8-597F0EB340EA}"/>
              </a:ext>
            </a:extLst>
          </p:cNvPr>
          <p:cNvSpPr>
            <a:spLocks xmlns:a="http://schemas.openxmlformats.org/drawingml/2006/main" noGrp="1"/>
          </p:cNvSpPr>
          <p:nvPr/>
        </p:nvSpPr>
        <p:spPr>
          <a:xfrm xmlns:a="http://schemas.openxmlformats.org/drawingml/2006/main">
            <a:off x="2952750" y="5715000"/>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111A3B"/>
                </a:solidFill>
                <a:latin typeface="Arial"/>
                <a:ea typeface="Arial"/>
                <a:cs typeface="Arial"/>
              </a:defRPr>
            </a:pPr>
            <a:r>
              <a:rPr sz="1350" b="1">
                <a:solidFill>
                  <a:srgbClr val="111A3B"/>
                </a:solidFill>
                <a:latin typeface="Arial"/>
                <a:ea typeface="Arial"/>
                <a:cs typeface="Arial"/>
              </a:rPr>
              <a:t>Fit, spectra and wafermap stay visible together at a standard desktop view.</a:t>
            </a:r>
          </a:p>
        </p:txBody>
      </p:sp>
    </p:spTree>
    <p:extLst>
      <p:ext uri="{BB962C8B-B14F-4D97-AF65-F5344CB8AC3E}">
        <p14:creationId xmlns:p14="http://schemas.microsoft.com/office/powerpoint/2010/main" val="4088928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CA8DEE7-605D-47EF-9A57-6E6DECD3BDDA}"/>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287792-19D1-49F6-92D7-5B473137FCEB}"/>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D60AFE-AB7B-48B9-81D6-37CDA967E2EC}"/>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7CC0208-8AA7-483E-B7BE-9C08B9AA1BDC}"/>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7EC884-D71F-43FE-AF0D-860151BD89C7}"/>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CAF9745-1B35-41D7-9755-618E9586DC2F}"/>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C245F4-FBFF-4E19-8380-BC4C48EA5BB6}"/>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AF79D7D3-F81A-4E50-9681-AF2E579F57AC}"/>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539"/>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Propagation analysis now separates wafer health from individual fit detail</a:t>
            </a:r>
          </a:p>
        </p:txBody>
      </p:sp>
      <p:sp>
        <p:nvSpPr>
          <p:cNvPr id="9" name="">
            <a:extLst xmlns:a="http://schemas.openxmlformats.org/drawingml/2006/main">
              <a:ext uri="{FF2B5EF4-FFF2-40B4-BE49-F238E27FC236}">
                <a16:creationId xmlns:a16="http://schemas.microsoft.com/office/drawing/2014/main" id="{E2CC7CE0-89C3-43A8-96B0-0AAFB4C3AA05}"/>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611485-96FF-460F-A92E-A46664748E2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585AC6E0-2830-413F-B71A-2445D1CB662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05</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3e5a28a86534057"/>
          <a:srcRect xmlns:a="http://schemas.openxmlformats.org/drawingml/2006/main" l="4176" t="0" r="4176" b="0"/>
          <a:stretch xmlns:a="http://schemas.openxmlformats.org/drawingml/2006/main">
            <a:fillRect l="0" t="0" r="0" b="0"/>
          </a:stretch>
        </p:blipFill>
        <p:spPr>
          <a:xfrm xmlns:a="http://schemas.openxmlformats.org/drawingml/2006/main">
            <a:off x="533400" y="1714500"/>
            <a:ext cx="6953250" cy="42672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2F35D5C-3537-48C2-BE78-4C2FFEE5A435}"/>
              </a:ext>
            </a:extLst>
          </p:cNvPr>
          <p:cNvSpPr>
            <a:spLocks xmlns:a="http://schemas.openxmlformats.org/drawingml/2006/main" noGrp="1"/>
          </p:cNvSpPr>
          <p:nvPr/>
        </p:nvSpPr>
        <p:spPr>
          <a:xfrm xmlns:a="http://schemas.openxmlformats.org/drawingml/2006/main">
            <a:off x="7981950" y="1790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What changed</a:t>
            </a:r>
          </a:p>
        </p:txBody>
      </p:sp>
      <p:sp>
        <p:nvSpPr>
          <p:cNvPr id="14" name="">
            <a:extLst xmlns:a="http://schemas.openxmlformats.org/drawingml/2006/main">
              <a:ext uri="{FF2B5EF4-FFF2-40B4-BE49-F238E27FC236}">
                <a16:creationId xmlns:a16="http://schemas.microsoft.com/office/drawing/2014/main" id="{05BCE17C-A909-408E-911C-C469D6018B7B}"/>
              </a:ext>
            </a:extLst>
          </p:cNvPr>
          <p:cNvSpPr>
            <a:spLocks xmlns:a="http://schemas.openxmlformats.org/drawingml/2006/main" noGrp="1"/>
          </p:cNvSpPr>
          <p:nvPr/>
        </p:nvSpPr>
        <p:spPr>
          <a:xfrm xmlns:a="http://schemas.openxmlformats.org/drawingml/2006/main">
            <a:off x="7981950" y="239077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C581DCD-7A96-4D7B-A724-13141C5232BE}"/>
              </a:ext>
            </a:extLst>
          </p:cNvPr>
          <p:cNvSpPr>
            <a:spLocks xmlns:a="http://schemas.openxmlformats.org/drawingml/2006/main" noGrp="1"/>
          </p:cNvSpPr>
          <p:nvPr/>
        </p:nvSpPr>
        <p:spPr>
          <a:xfrm xmlns:a="http://schemas.openxmlformats.org/drawingml/2006/main">
            <a:off x="8210550" y="232410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Measured Chips counts every measured die</a:t>
            </a:r>
          </a:p>
        </p:txBody>
      </p:sp>
      <p:sp>
        <p:nvSpPr>
          <p:cNvPr id="16" name="">
            <a:extLst xmlns:a="http://schemas.openxmlformats.org/drawingml/2006/main">
              <a:ext uri="{FF2B5EF4-FFF2-40B4-BE49-F238E27FC236}">
                <a16:creationId xmlns:a16="http://schemas.microsoft.com/office/drawing/2014/main" id="{E2775837-27B7-45C6-B0E4-3C6845413EC6}"/>
              </a:ext>
            </a:extLst>
          </p:cNvPr>
          <p:cNvSpPr>
            <a:spLocks xmlns:a="http://schemas.openxmlformats.org/drawingml/2006/main" noGrp="1"/>
          </p:cNvSpPr>
          <p:nvPr/>
        </p:nvSpPr>
        <p:spPr>
          <a:xfrm xmlns:a="http://schemas.openxmlformats.org/drawingml/2006/main">
            <a:off x="7981950" y="31718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F7E33DE-EEAA-4B5F-8703-E1ACED9A7FDD}"/>
              </a:ext>
            </a:extLst>
          </p:cNvPr>
          <p:cNvSpPr>
            <a:spLocks xmlns:a="http://schemas.openxmlformats.org/drawingml/2006/main" noGrp="1"/>
          </p:cNvSpPr>
          <p:nvPr/>
        </p:nvSpPr>
        <p:spPr>
          <a:xfrm xmlns:a="http://schemas.openxmlformats.org/drawingml/2006/main">
            <a:off x="8210550" y="310515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Avg Propagation Loss is the filtered wafer average</a:t>
            </a:r>
          </a:p>
        </p:txBody>
      </p:sp>
      <p:sp>
        <p:nvSpPr>
          <p:cNvPr id="18" name="">
            <a:extLst xmlns:a="http://schemas.openxmlformats.org/drawingml/2006/main">
              <a:ext uri="{FF2B5EF4-FFF2-40B4-BE49-F238E27FC236}">
                <a16:creationId xmlns:a16="http://schemas.microsoft.com/office/drawing/2014/main" id="{F10C15ED-124E-4687-B953-ABCC59CCF0F2}"/>
              </a:ext>
            </a:extLst>
          </p:cNvPr>
          <p:cNvSpPr>
            <a:spLocks xmlns:a="http://schemas.openxmlformats.org/drawingml/2006/main" noGrp="1"/>
          </p:cNvSpPr>
          <p:nvPr/>
        </p:nvSpPr>
        <p:spPr>
          <a:xfrm xmlns:a="http://schemas.openxmlformats.org/drawingml/2006/main">
            <a:off x="7981950" y="395287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FA1CE4E-77B8-4E46-9A1F-41B81C192BCB}"/>
              </a:ext>
            </a:extLst>
          </p:cNvPr>
          <p:cNvSpPr>
            <a:spLocks xmlns:a="http://schemas.openxmlformats.org/drawingml/2006/main" noGrp="1"/>
          </p:cNvSpPr>
          <p:nvPr/>
        </p:nvSpPr>
        <p:spPr>
          <a:xfrm xmlns:a="http://schemas.openxmlformats.org/drawingml/2006/main">
            <a:off x="8210550" y="388620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MSE is the stated fit-quality measure</a:t>
            </a:r>
          </a:p>
        </p:txBody>
      </p:sp>
      <p:sp>
        <p:nvSpPr>
          <p:cNvPr id="20" name="">
            <a:extLst xmlns:a="http://schemas.openxmlformats.org/drawingml/2006/main">
              <a:ext uri="{FF2B5EF4-FFF2-40B4-BE49-F238E27FC236}">
                <a16:creationId xmlns:a16="http://schemas.microsoft.com/office/drawing/2014/main" id="{8D7B48D2-38BA-4960-AD80-8AFC8214F32B}"/>
              </a:ext>
            </a:extLst>
          </p:cNvPr>
          <p:cNvSpPr>
            <a:spLocks xmlns:a="http://schemas.openxmlformats.org/drawingml/2006/main" noGrp="1"/>
          </p:cNvSpPr>
          <p:nvPr/>
        </p:nvSpPr>
        <p:spPr>
          <a:xfrm xmlns:a="http://schemas.openxmlformats.org/drawingml/2006/main">
            <a:off x="7981950" y="47339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1D81CD9-2819-4DAF-B813-674104BF997A}"/>
              </a:ext>
            </a:extLst>
          </p:cNvPr>
          <p:cNvSpPr>
            <a:spLocks xmlns:a="http://schemas.openxmlformats.org/drawingml/2006/main" noGrp="1"/>
          </p:cNvSpPr>
          <p:nvPr/>
        </p:nvSpPr>
        <p:spPr>
          <a:xfrm xmlns:a="http://schemas.openxmlformats.org/drawingml/2006/main">
            <a:off x="8210550" y="466725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Fit, spectra and map remain linked by chip selection</a:t>
            </a:r>
          </a:p>
        </p:txBody>
      </p:sp>
    </p:spTree>
    <p:extLst>
      <p:ext uri="{BB962C8B-B14F-4D97-AF65-F5344CB8AC3E}">
        <p14:creationId xmlns:p14="http://schemas.microsoft.com/office/powerpoint/2010/main" val="9372690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F60960C-2785-4E8D-B4BC-EEDDBF7D8F2D}"/>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5F0E33-142E-4C2B-AFC1-C6462F00C0AC}"/>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A6C14E-49B1-4765-86AA-3224569106F1}"/>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AB69B4-6E3E-4B51-AF60-1D59AFBA1E2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736184-9315-4CF4-8E78-2CD25E934892}"/>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C80247-192E-4A5B-BFC6-9C0A34AB1DBA}"/>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7B4263-B546-4803-8266-BAC242815EE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F84FAEBE-7541-46D8-B0E7-96E4E9CDA592}"/>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244"/>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Wafer colour scaling starts from the data and remains under user control</a:t>
            </a:r>
          </a:p>
        </p:txBody>
      </p:sp>
      <p:sp>
        <p:nvSpPr>
          <p:cNvPr id="9" name="">
            <a:extLst xmlns:a="http://schemas.openxmlformats.org/drawingml/2006/main">
              <a:ext uri="{FF2B5EF4-FFF2-40B4-BE49-F238E27FC236}">
                <a16:creationId xmlns:a16="http://schemas.microsoft.com/office/drawing/2014/main" id="{E47D671B-513D-4732-B397-B2E569AAC455}"/>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3E2ADF-F757-40C6-B5CB-5BF20C72109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4BA12653-B699-4084-85DF-D8AA2A2AF54A}"/>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06</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8d3a57d69454542"/>
          <a:srcRect xmlns:a="http://schemas.openxmlformats.org/drawingml/2006/main" l="0" t="30321" r="0" b="30321"/>
          <a:stretch xmlns:a="http://schemas.openxmlformats.org/drawingml/2006/main">
            <a:fillRect l="0" t="0" r="0" b="0"/>
          </a:stretch>
        </p:blipFill>
        <p:spPr>
          <a:xfrm xmlns:a="http://schemas.openxmlformats.org/drawingml/2006/main">
            <a:off x="533400" y="1809750"/>
            <a:ext cx="5181600" cy="25717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e53f7fdff7242e9"/>
          <a:srcRect xmlns:a="http://schemas.openxmlformats.org/drawingml/2006/main" l="0" t="30321" r="0" b="30321"/>
          <a:stretch xmlns:a="http://schemas.openxmlformats.org/drawingml/2006/main">
            <a:fillRect l="0" t="0" r="0" b="0"/>
          </a:stretch>
        </p:blipFill>
        <p:spPr>
          <a:xfrm xmlns:a="http://schemas.openxmlformats.org/drawingml/2006/main">
            <a:off x="6477000" y="1809750"/>
            <a:ext cx="5181600" cy="2571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9532ED7-11C2-4F9C-BE5A-EDFA03A66B9C}"/>
              </a:ext>
            </a:extLst>
          </p:cNvPr>
          <p:cNvSpPr>
            <a:spLocks xmlns:a="http://schemas.openxmlformats.org/drawingml/2006/main" noGrp="1"/>
          </p:cNvSpPr>
          <p:nvPr/>
        </p:nvSpPr>
        <p:spPr>
          <a:xfrm xmlns:a="http://schemas.openxmlformats.org/drawingml/2006/main">
            <a:off x="533400" y="4629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38258A"/>
                </a:solidFill>
                <a:latin typeface="Arial"/>
                <a:ea typeface="Arial"/>
                <a:cs typeface="Arial"/>
              </a:defRPr>
            </a:pPr>
            <a:r>
              <a:rPr sz="1725" b="1">
                <a:solidFill>
                  <a:srgbClr val="38258A"/>
                </a:solidFill>
                <a:latin typeface="Arial"/>
                <a:ea typeface="Arial"/>
                <a:cs typeface="Arial"/>
              </a:rPr>
              <a:t>Dataset-derived defaults</a:t>
            </a:r>
          </a:p>
        </p:txBody>
      </p:sp>
      <p:sp>
        <p:nvSpPr>
          <p:cNvPr id="15" name="">
            <a:extLst xmlns:a="http://schemas.openxmlformats.org/drawingml/2006/main">
              <a:ext uri="{FF2B5EF4-FFF2-40B4-BE49-F238E27FC236}">
                <a16:creationId xmlns:a16="http://schemas.microsoft.com/office/drawing/2014/main" id="{706AF28B-4AA7-4861-B39E-D44101DBBFA9}"/>
              </a:ext>
            </a:extLst>
          </p:cNvPr>
          <p:cNvSpPr>
            <a:spLocks xmlns:a="http://schemas.openxmlformats.org/drawingml/2006/main" noGrp="1"/>
          </p:cNvSpPr>
          <p:nvPr/>
        </p:nvSpPr>
        <p:spPr>
          <a:xfrm xmlns:a="http://schemas.openxmlformats.org/drawingml/2006/main">
            <a:off x="533400" y="502920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Minimum, midpoint and maximum display the active chip values instead of an ambiguous “Auto” label.</a:t>
            </a:r>
          </a:p>
        </p:txBody>
      </p:sp>
      <p:sp>
        <p:nvSpPr>
          <p:cNvPr id="16" name="">
            <a:extLst xmlns:a="http://schemas.openxmlformats.org/drawingml/2006/main">
              <a:ext uri="{FF2B5EF4-FFF2-40B4-BE49-F238E27FC236}">
                <a16:creationId xmlns:a16="http://schemas.microsoft.com/office/drawing/2014/main" id="{20C17CE4-3E5F-4A05-BAEA-60D1A586F268}"/>
              </a:ext>
            </a:extLst>
          </p:cNvPr>
          <p:cNvSpPr>
            <a:spLocks xmlns:a="http://schemas.openxmlformats.org/drawingml/2006/main" noGrp="1"/>
          </p:cNvSpPr>
          <p:nvPr/>
        </p:nvSpPr>
        <p:spPr>
          <a:xfrm xmlns:a="http://schemas.openxmlformats.org/drawingml/2006/main">
            <a:off x="6477000" y="4629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38258A"/>
                </a:solidFill>
                <a:latin typeface="Arial"/>
                <a:ea typeface="Arial"/>
                <a:cs typeface="Arial"/>
              </a:defRPr>
            </a:pPr>
            <a:r>
              <a:rPr sz="1725" b="1">
                <a:solidFill>
                  <a:srgbClr val="38258A"/>
                </a:solidFill>
                <a:latin typeface="Arial"/>
                <a:ea typeface="Arial"/>
                <a:cs typeface="Arial"/>
              </a:rPr>
              <a:t>Keyboard-friendly override</a:t>
            </a:r>
          </a:p>
        </p:txBody>
      </p:sp>
      <p:sp>
        <p:nvSpPr>
          <p:cNvPr id="17" name="">
            <a:extLst xmlns:a="http://schemas.openxmlformats.org/drawingml/2006/main">
              <a:ext uri="{FF2B5EF4-FFF2-40B4-BE49-F238E27FC236}">
                <a16:creationId xmlns:a16="http://schemas.microsoft.com/office/drawing/2014/main" id="{A7CF2A5E-40E3-4DC9-963A-A5336E1145D9}"/>
              </a:ext>
            </a:extLst>
          </p:cNvPr>
          <p:cNvSpPr>
            <a:spLocks xmlns:a="http://schemas.openxmlformats.org/drawingml/2006/main" noGrp="1"/>
          </p:cNvSpPr>
          <p:nvPr/>
        </p:nvSpPr>
        <p:spPr>
          <a:xfrm xmlns:a="http://schemas.openxmlformats.org/drawingml/2006/main">
            <a:off x="6477000" y="502920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A value can be cleared and replaced directly; Reset Scale restores the data-derived thresholds.</a:t>
            </a:r>
          </a:p>
        </p:txBody>
      </p:sp>
    </p:spTree>
    <p:extLst>
      <p:ext uri="{BB962C8B-B14F-4D97-AF65-F5344CB8AC3E}">
        <p14:creationId xmlns:p14="http://schemas.microsoft.com/office/powerpoint/2010/main" val="11542015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237BCB1-F141-4FD1-A92F-729C6636D89C}"/>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45086D-318F-40DC-B891-F218A7E2954B}"/>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E8349B-15C4-4882-AD7B-53AE893C885A}"/>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2345A2-0FD6-46CA-A547-8E97E0B0E9C0}"/>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50E4F2-4EFC-490C-87B0-F35087F9C862}"/>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44FAE9-A795-4D8B-9A17-DFD5EB383A5B}"/>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CD6979-5A45-4E90-A4A6-2E9A49B0638E}"/>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B1D7A5B8-537F-48F1-995F-17211B676724}"/>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Three analysis workspaces remain the analytical foundation</a:t>
            </a:r>
          </a:p>
        </p:txBody>
      </p:sp>
      <p:sp>
        <p:nvSpPr>
          <p:cNvPr id="9" name="">
            <a:extLst xmlns:a="http://schemas.openxmlformats.org/drawingml/2006/main">
              <a:ext uri="{FF2B5EF4-FFF2-40B4-BE49-F238E27FC236}">
                <a16:creationId xmlns:a16="http://schemas.microsoft.com/office/drawing/2014/main" id="{51A6D8FE-AF29-44C9-A57D-6E9E6FF953F4}"/>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2459DF-E7C6-4290-B3C5-F7DE16D55592}"/>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5C80B3CB-11AC-47CE-9865-1531AADED188}"/>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07</a:t>
            </a:r>
          </a:p>
        </p:txBody>
      </p:sp>
      <p:sp>
        <p:nvSpPr>
          <p:cNvPr id="12" name="">
            <a:extLst xmlns:a="http://schemas.openxmlformats.org/drawingml/2006/main">
              <a:ext uri="{FF2B5EF4-FFF2-40B4-BE49-F238E27FC236}">
                <a16:creationId xmlns:a16="http://schemas.microsoft.com/office/drawing/2014/main" id="{3A751E06-873F-4002-9404-A6E6A6DDA77D}"/>
              </a:ext>
            </a:extLst>
          </p:cNvPr>
          <p:cNvSpPr>
            <a:spLocks xmlns:a="http://schemas.openxmlformats.org/drawingml/2006/main" noGrp="1"/>
          </p:cNvSpPr>
          <p:nvPr/>
        </p:nvSpPr>
        <p:spPr>
          <a:xfrm xmlns:a="http://schemas.openxmlformats.org/drawingml/2006/main">
            <a:off x="533400" y="2000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38258A"/>
                </a:solidFill>
                <a:latin typeface="Arial"/>
                <a:ea typeface="Arial"/>
                <a:cs typeface="Arial"/>
              </a:defRPr>
            </a:pPr>
            <a:r>
              <a:rPr sz="2025" b="1">
                <a:solidFill>
                  <a:srgbClr val="38258A"/>
                </a:solidFill>
                <a:latin typeface="Arial"/>
                <a:ea typeface="Arial"/>
                <a:cs typeface="Arial"/>
              </a:rPr>
              <a:t>Propagation Loss</a:t>
            </a:r>
          </a:p>
        </p:txBody>
      </p:sp>
      <p:sp>
        <p:nvSpPr>
          <p:cNvPr id="13" name="">
            <a:extLst xmlns:a="http://schemas.openxmlformats.org/drawingml/2006/main">
              <a:ext uri="{FF2B5EF4-FFF2-40B4-BE49-F238E27FC236}">
                <a16:creationId xmlns:a16="http://schemas.microsoft.com/office/drawing/2014/main" id="{C206B368-FF82-48CD-BA11-E429B1957546}"/>
              </a:ext>
            </a:extLst>
          </p:cNvPr>
          <p:cNvSpPr>
            <a:spLocks xmlns:a="http://schemas.openxmlformats.org/drawingml/2006/main" noGrp="1"/>
          </p:cNvSpPr>
          <p:nvPr/>
        </p:nvSpPr>
        <p:spPr>
          <a:xfrm xmlns:a="http://schemas.openxmlformats.org/drawingml/2006/main">
            <a:off x="533400" y="2533650"/>
            <a:ext cx="3143250" cy="28575"/>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DB73AC-D4E9-4D00-B871-321778D00D90}"/>
              </a:ext>
            </a:extLst>
          </p:cNvPr>
          <p:cNvSpPr>
            <a:spLocks xmlns:a="http://schemas.openxmlformats.org/drawingml/2006/main" noGrp="1"/>
          </p:cNvSpPr>
          <p:nvPr/>
        </p:nvSpPr>
        <p:spPr>
          <a:xfrm xmlns:a="http://schemas.openxmlformats.org/drawingml/2006/main">
            <a:off x="533400" y="27813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11A3B"/>
                </a:solidFill>
                <a:latin typeface="Arial"/>
                <a:ea typeface="Arial"/>
                <a:cs typeface="Arial"/>
              </a:defRPr>
            </a:pPr>
            <a:r>
              <a:rPr sz="1575" b="1">
                <a:solidFill>
                  <a:srgbClr val="111A3B"/>
                </a:solidFill>
                <a:latin typeface="Arial"/>
                <a:ea typeface="Arial"/>
                <a:cs typeface="Arial"/>
              </a:rPr>
              <a:t>Waveguide attenuation</a:t>
            </a:r>
          </a:p>
        </p:txBody>
      </p:sp>
      <p:sp>
        <p:nvSpPr>
          <p:cNvPr id="15" name="">
            <a:extLst xmlns:a="http://schemas.openxmlformats.org/drawingml/2006/main">
              <a:ext uri="{FF2B5EF4-FFF2-40B4-BE49-F238E27FC236}">
                <a16:creationId xmlns:a16="http://schemas.microsoft.com/office/drawing/2014/main" id="{26092A7B-8BA9-4894-B3BE-4DAF4F486880}"/>
              </a:ext>
            </a:extLst>
          </p:cNvPr>
          <p:cNvSpPr>
            <a:spLocks xmlns:a="http://schemas.openxmlformats.org/drawingml/2006/main" noGrp="1"/>
          </p:cNvSpPr>
          <p:nvPr/>
        </p:nvSpPr>
        <p:spPr>
          <a:xfrm xmlns:a="http://schemas.openxmlformats.org/drawingml/2006/main">
            <a:off x="533400" y="3486150"/>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Linear fit versus waveguide length, MSE quality, wavelength-resolved loss, wafer yield and die selection.</a:t>
            </a:r>
          </a:p>
        </p:txBody>
      </p:sp>
      <p:sp>
        <p:nvSpPr>
          <p:cNvPr id="16" name="">
            <a:extLst xmlns:a="http://schemas.openxmlformats.org/drawingml/2006/main">
              <a:ext uri="{FF2B5EF4-FFF2-40B4-BE49-F238E27FC236}">
                <a16:creationId xmlns:a16="http://schemas.microsoft.com/office/drawing/2014/main" id="{884CAD96-F23E-4F36-A85C-29FCD0B732B9}"/>
              </a:ext>
            </a:extLst>
          </p:cNvPr>
          <p:cNvSpPr>
            <a:spLocks xmlns:a="http://schemas.openxmlformats.org/drawingml/2006/main" noGrp="1"/>
          </p:cNvSpPr>
          <p:nvPr/>
        </p:nvSpPr>
        <p:spPr>
          <a:xfrm xmlns:a="http://schemas.openxmlformats.org/drawingml/2006/main">
            <a:off x="4248150" y="2000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38258A"/>
                </a:solidFill>
                <a:latin typeface="Arial"/>
                <a:ea typeface="Arial"/>
                <a:cs typeface="Arial"/>
              </a:defRPr>
            </a:pPr>
            <a:r>
              <a:rPr sz="2025" b="1">
                <a:solidFill>
                  <a:srgbClr val="38258A"/>
                </a:solidFill>
                <a:latin typeface="Arial"/>
                <a:ea typeface="Arial"/>
                <a:cs typeface="Arial"/>
              </a:rPr>
              <a:t>Insertion Loss</a:t>
            </a:r>
          </a:p>
        </p:txBody>
      </p:sp>
      <p:sp>
        <p:nvSpPr>
          <p:cNvPr id="17" name="">
            <a:extLst xmlns:a="http://schemas.openxmlformats.org/drawingml/2006/main">
              <a:ext uri="{FF2B5EF4-FFF2-40B4-BE49-F238E27FC236}">
                <a16:creationId xmlns:a16="http://schemas.microsoft.com/office/drawing/2014/main" id="{BD3A2CA4-8B09-429B-9972-FED8D9D6FA85}"/>
              </a:ext>
            </a:extLst>
          </p:cNvPr>
          <p:cNvSpPr>
            <a:spLocks xmlns:a="http://schemas.openxmlformats.org/drawingml/2006/main" noGrp="1"/>
          </p:cNvSpPr>
          <p:nvPr/>
        </p:nvSpPr>
        <p:spPr>
          <a:xfrm xmlns:a="http://schemas.openxmlformats.org/drawingml/2006/main">
            <a:off x="4248150" y="2533650"/>
            <a:ext cx="3143250" cy="28575"/>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9C32E4-6C0C-4A0B-BE5F-9DCA1D43E609}"/>
              </a:ext>
            </a:extLst>
          </p:cNvPr>
          <p:cNvSpPr>
            <a:spLocks xmlns:a="http://schemas.openxmlformats.org/drawingml/2006/main" noGrp="1"/>
          </p:cNvSpPr>
          <p:nvPr/>
        </p:nvSpPr>
        <p:spPr>
          <a:xfrm xmlns:a="http://schemas.openxmlformats.org/drawingml/2006/main">
            <a:off x="4248150" y="27813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11A3B"/>
                </a:solidFill>
                <a:latin typeface="Arial"/>
                <a:ea typeface="Arial"/>
                <a:cs typeface="Arial"/>
              </a:defRPr>
            </a:pPr>
            <a:r>
              <a:rPr sz="1575" b="1">
                <a:solidFill>
                  <a:srgbClr val="111A3B"/>
                </a:solidFill>
                <a:latin typeface="Arial"/>
                <a:ea typeface="Arial"/>
                <a:cs typeface="Arial"/>
              </a:rPr>
              <a:t>Building-block transmission</a:t>
            </a:r>
          </a:p>
        </p:txBody>
      </p:sp>
      <p:sp>
        <p:nvSpPr>
          <p:cNvPr id="19" name="">
            <a:extLst xmlns:a="http://schemas.openxmlformats.org/drawingml/2006/main">
              <a:ext uri="{FF2B5EF4-FFF2-40B4-BE49-F238E27FC236}">
                <a16:creationId xmlns:a16="http://schemas.microsoft.com/office/drawing/2014/main" id="{75377E70-2AAB-460A-A1C6-0A082E678D52}"/>
              </a:ext>
            </a:extLst>
          </p:cNvPr>
          <p:cNvSpPr>
            <a:spLocks xmlns:a="http://schemas.openxmlformats.org/drawingml/2006/main" noGrp="1"/>
          </p:cNvSpPr>
          <p:nvPr/>
        </p:nvSpPr>
        <p:spPr>
          <a:xfrm xmlns:a="http://schemas.openxmlformats.org/drawingml/2006/main">
            <a:off x="4248150" y="3486150"/>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Peak wavelength, insertion at peak and target wavelength, 3 dB bandwidth, flatness and wafer variation.</a:t>
            </a:r>
          </a:p>
        </p:txBody>
      </p:sp>
      <p:sp>
        <p:nvSpPr>
          <p:cNvPr id="20" name="">
            <a:extLst xmlns:a="http://schemas.openxmlformats.org/drawingml/2006/main">
              <a:ext uri="{FF2B5EF4-FFF2-40B4-BE49-F238E27FC236}">
                <a16:creationId xmlns:a16="http://schemas.microsoft.com/office/drawing/2014/main" id="{CBD4BF44-DFFC-4B73-872E-70AFDEC72D01}"/>
              </a:ext>
            </a:extLst>
          </p:cNvPr>
          <p:cNvSpPr>
            <a:spLocks xmlns:a="http://schemas.openxmlformats.org/drawingml/2006/main" noGrp="1"/>
          </p:cNvSpPr>
          <p:nvPr/>
        </p:nvSpPr>
        <p:spPr>
          <a:xfrm xmlns:a="http://schemas.openxmlformats.org/drawingml/2006/main">
            <a:off x="7962900" y="2000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38258A"/>
                </a:solidFill>
                <a:latin typeface="Arial"/>
                <a:ea typeface="Arial"/>
                <a:cs typeface="Arial"/>
              </a:defRPr>
            </a:pPr>
            <a:r>
              <a:rPr sz="2025" b="1">
                <a:solidFill>
                  <a:srgbClr val="38258A"/>
                </a:solidFill>
                <a:latin typeface="Arial"/>
                <a:ea typeface="Arial"/>
                <a:cs typeface="Arial"/>
              </a:rPr>
              <a:t>Heater Efficiency</a:t>
            </a:r>
          </a:p>
        </p:txBody>
      </p:sp>
      <p:sp>
        <p:nvSpPr>
          <p:cNvPr id="21" name="">
            <a:extLst xmlns:a="http://schemas.openxmlformats.org/drawingml/2006/main">
              <a:ext uri="{FF2B5EF4-FFF2-40B4-BE49-F238E27FC236}">
                <a16:creationId xmlns:a16="http://schemas.microsoft.com/office/drawing/2014/main" id="{4A5A0655-FC3B-45A8-937A-6FD86AB37C02}"/>
              </a:ext>
            </a:extLst>
          </p:cNvPr>
          <p:cNvSpPr>
            <a:spLocks xmlns:a="http://schemas.openxmlformats.org/drawingml/2006/main" noGrp="1"/>
          </p:cNvSpPr>
          <p:nvPr/>
        </p:nvSpPr>
        <p:spPr>
          <a:xfrm xmlns:a="http://schemas.openxmlformats.org/drawingml/2006/main">
            <a:off x="7962900" y="2533650"/>
            <a:ext cx="3143250" cy="28575"/>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31C59C3-232D-46B1-9BF7-34FB253DD519}"/>
              </a:ext>
            </a:extLst>
          </p:cNvPr>
          <p:cNvSpPr>
            <a:spLocks xmlns:a="http://schemas.openxmlformats.org/drawingml/2006/main" noGrp="1"/>
          </p:cNvSpPr>
          <p:nvPr/>
        </p:nvSpPr>
        <p:spPr>
          <a:xfrm xmlns:a="http://schemas.openxmlformats.org/drawingml/2006/main">
            <a:off x="7962900" y="27813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11A3B"/>
                </a:solidFill>
                <a:latin typeface="Arial"/>
                <a:ea typeface="Arial"/>
                <a:cs typeface="Arial"/>
              </a:defRPr>
            </a:pPr>
            <a:r>
              <a:rPr sz="1575" b="1">
                <a:solidFill>
                  <a:srgbClr val="111A3B"/>
                </a:solidFill>
                <a:latin typeface="Arial"/>
                <a:ea typeface="Arial"/>
                <a:cs typeface="Arial"/>
              </a:rPr>
              <a:t>Electrical-to-optical response</a:t>
            </a:r>
          </a:p>
        </p:txBody>
      </p:sp>
      <p:sp>
        <p:nvSpPr>
          <p:cNvPr id="23" name="">
            <a:extLst xmlns:a="http://schemas.openxmlformats.org/drawingml/2006/main">
              <a:ext uri="{FF2B5EF4-FFF2-40B4-BE49-F238E27FC236}">
                <a16:creationId xmlns:a16="http://schemas.microsoft.com/office/drawing/2014/main" id="{06A48F6D-FF4E-4B9C-95CB-485447217A38}"/>
              </a:ext>
            </a:extLst>
          </p:cNvPr>
          <p:cNvSpPr>
            <a:spLocks xmlns:a="http://schemas.openxmlformats.org/drawingml/2006/main" noGrp="1"/>
          </p:cNvSpPr>
          <p:nvPr/>
        </p:nvSpPr>
        <p:spPr>
          <a:xfrm xmlns:a="http://schemas.openxmlformats.org/drawingml/2006/main">
            <a:off x="7962900" y="3486150"/>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MZI heater response, phase-shift interpretation and wafer-level electrical/optical comparison.</a:t>
            </a:r>
          </a:p>
        </p:txBody>
      </p:sp>
      <p:sp>
        <p:nvSpPr>
          <p:cNvPr id="24" name="">
            <a:extLst xmlns:a="http://schemas.openxmlformats.org/drawingml/2006/main">
              <a:ext uri="{FF2B5EF4-FFF2-40B4-BE49-F238E27FC236}">
                <a16:creationId xmlns:a16="http://schemas.microsoft.com/office/drawing/2014/main" id="{E28210CB-8E55-477E-8CFF-5ABE6BA0BB50}"/>
              </a:ext>
            </a:extLst>
          </p:cNvPr>
          <p:cNvSpPr>
            <a:spLocks xmlns:a="http://schemas.openxmlformats.org/drawingml/2006/main" noGrp="1"/>
          </p:cNvSpPr>
          <p:nvPr/>
        </p:nvSpPr>
        <p:spPr>
          <a:xfrm xmlns:a="http://schemas.openxmlformats.org/drawingml/2006/main">
            <a:off x="1314450" y="5619750"/>
            <a:ext cx="956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628"/>
          </a:bodyPr>
          <a:lstStyle xmlns:a="http://schemas.openxmlformats.org/drawingml/2006/main"/>
          <a:p xmlns:a="http://schemas.openxmlformats.org/drawingml/2006/main">
            <a:pPr algn="ctr">
              <a:buNone/>
              <a:defRPr sz="1725" b="1">
                <a:solidFill>
                  <a:srgbClr val="111A3B"/>
                </a:solidFill>
                <a:latin typeface="Arial"/>
                <a:ea typeface="Arial"/>
                <a:cs typeface="Arial"/>
              </a:defRPr>
            </a:pPr>
            <a:r>
              <a:rPr sz="1725" b="1">
                <a:solidFill>
                  <a:srgbClr val="111A3B"/>
                </a:solidFill>
                <a:latin typeface="Arial"/>
                <a:ea typeface="Arial"/>
                <a:cs typeface="Arial"/>
              </a:rPr>
              <a:t>Shared navigation and data handling make the three routes feel like one suite rather than separate scripts.</a:t>
            </a:r>
          </a:p>
        </p:txBody>
      </p:sp>
    </p:spTree>
    <p:extLst>
      <p:ext uri="{BB962C8B-B14F-4D97-AF65-F5344CB8AC3E}">
        <p14:creationId xmlns:p14="http://schemas.microsoft.com/office/powerpoint/2010/main" val="6768705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AB7396-F3AD-4EC5-B454-7B44EED7189F}"/>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331470-EDCC-4660-8B7C-9ECFBB6DF382}"/>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85B5FE-0969-45E0-B116-22ECCA799A13}"/>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E1D8AF-C4E1-4445-8012-236869D5CE99}"/>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50EEF5-13F7-4AB5-A7CB-ED0D5E83D88B}"/>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37AA3DF-A44F-47E3-A7BB-6DC11DF4C930}"/>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EA4A4D-171F-41B5-B1AB-93DF0F88B207}"/>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2B2B6F71-EA52-42B5-9FFB-9C0771BD97EE}"/>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709"/>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The Library keeps measurement data reusable beyond a single analysis session</a:t>
            </a:r>
          </a:p>
        </p:txBody>
      </p:sp>
      <p:sp>
        <p:nvSpPr>
          <p:cNvPr id="9" name="">
            <a:extLst xmlns:a="http://schemas.openxmlformats.org/drawingml/2006/main">
              <a:ext uri="{FF2B5EF4-FFF2-40B4-BE49-F238E27FC236}">
                <a16:creationId xmlns:a16="http://schemas.microsoft.com/office/drawing/2014/main" id="{45818133-F852-448A-A636-88CA44A38E81}"/>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DA0C03-DDA5-42A0-94E2-762635BA92C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BFAA0B85-B8B2-4F41-843F-430A0CA4133C}"/>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08</a:t>
            </a:r>
          </a:p>
        </p:txBody>
      </p:sp>
      <p:sp>
        <p:nvSpPr>
          <p:cNvPr id="12" name="">
            <a:extLst xmlns:a="http://schemas.openxmlformats.org/drawingml/2006/main">
              <a:ext uri="{FF2B5EF4-FFF2-40B4-BE49-F238E27FC236}">
                <a16:creationId xmlns:a16="http://schemas.microsoft.com/office/drawing/2014/main" id="{B8513F0A-6F21-4A55-BA7B-4068AB4B3E08}"/>
              </a:ext>
            </a:extLst>
          </p:cNvPr>
          <p:cNvSpPr>
            <a:spLocks xmlns:a="http://schemas.openxmlformats.org/drawingml/2006/main" noGrp="1"/>
          </p:cNvSpPr>
          <p:nvPr/>
        </p:nvSpPr>
        <p:spPr>
          <a:xfrm xmlns:a="http://schemas.openxmlformats.org/drawingml/2006/main">
            <a:off x="533400" y="1809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Discover and compare</a:t>
            </a:r>
          </a:p>
        </p:txBody>
      </p:sp>
      <p:sp>
        <p:nvSpPr>
          <p:cNvPr id="13" name="">
            <a:extLst xmlns:a="http://schemas.openxmlformats.org/drawingml/2006/main">
              <a:ext uri="{FF2B5EF4-FFF2-40B4-BE49-F238E27FC236}">
                <a16:creationId xmlns:a16="http://schemas.microsoft.com/office/drawing/2014/main" id="{502B9317-42F5-44EC-A863-D0288B233003}"/>
              </a:ext>
            </a:extLst>
          </p:cNvPr>
          <p:cNvSpPr>
            <a:spLocks xmlns:a="http://schemas.openxmlformats.org/drawingml/2006/main" noGrp="1"/>
          </p:cNvSpPr>
          <p:nvPr/>
        </p:nvSpPr>
        <p:spPr>
          <a:xfrm xmlns:a="http://schemas.openxmlformats.org/drawingml/2006/main">
            <a:off x="533400" y="2409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466766-3278-4015-94C3-CA12EED53CFA}"/>
              </a:ext>
            </a:extLst>
          </p:cNvPr>
          <p:cNvSpPr>
            <a:spLocks xmlns:a="http://schemas.openxmlformats.org/drawingml/2006/main" noGrp="1"/>
          </p:cNvSpPr>
          <p:nvPr/>
        </p:nvSpPr>
        <p:spPr>
          <a:xfrm xmlns:a="http://schemas.openxmlformats.org/drawingml/2006/main">
            <a:off x="762000" y="23431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Dashboard and published dataset coverage</a:t>
            </a:r>
          </a:p>
        </p:txBody>
      </p:sp>
      <p:sp>
        <p:nvSpPr>
          <p:cNvPr id="15" name="">
            <a:extLst xmlns:a="http://schemas.openxmlformats.org/drawingml/2006/main">
              <a:ext uri="{FF2B5EF4-FFF2-40B4-BE49-F238E27FC236}">
                <a16:creationId xmlns:a16="http://schemas.microsoft.com/office/drawing/2014/main" id="{0D568A6A-F646-4903-ACE1-DD2B2CE8DE53}"/>
              </a:ext>
            </a:extLst>
          </p:cNvPr>
          <p:cNvSpPr>
            <a:spLocks xmlns:a="http://schemas.openxmlformats.org/drawingml/2006/main" noGrp="1"/>
          </p:cNvSpPr>
          <p:nvPr/>
        </p:nvSpPr>
        <p:spPr>
          <a:xfrm xmlns:a="http://schemas.openxmlformats.org/drawingml/2006/main">
            <a:off x="533400" y="31337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F8DF83-ED78-4BF5-AEA6-C9691C5A8AF8}"/>
              </a:ext>
            </a:extLst>
          </p:cNvPr>
          <p:cNvSpPr>
            <a:spLocks xmlns:a="http://schemas.openxmlformats.org/drawingml/2006/main" noGrp="1"/>
          </p:cNvSpPr>
          <p:nvPr/>
        </p:nvSpPr>
        <p:spPr>
          <a:xfrm xmlns:a="http://schemas.openxmlformats.org/drawingml/2006/main">
            <a:off x="762000" y="30670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Dataset Snapshots and cross-dataset Comparison</a:t>
            </a:r>
          </a:p>
        </p:txBody>
      </p:sp>
      <p:sp>
        <p:nvSpPr>
          <p:cNvPr id="17" name="">
            <a:extLst xmlns:a="http://schemas.openxmlformats.org/drawingml/2006/main">
              <a:ext uri="{FF2B5EF4-FFF2-40B4-BE49-F238E27FC236}">
                <a16:creationId xmlns:a16="http://schemas.microsoft.com/office/drawing/2014/main" id="{C009168A-2B7B-48AE-8672-54E041F7042D}"/>
              </a:ext>
            </a:extLst>
          </p:cNvPr>
          <p:cNvSpPr>
            <a:spLocks xmlns:a="http://schemas.openxmlformats.org/drawingml/2006/main" noGrp="1"/>
          </p:cNvSpPr>
          <p:nvPr/>
        </p:nvSpPr>
        <p:spPr>
          <a:xfrm xmlns:a="http://schemas.openxmlformats.org/drawingml/2006/main">
            <a:off x="533400" y="3857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815B10-2329-4B5C-9985-39803E938483}"/>
              </a:ext>
            </a:extLst>
          </p:cNvPr>
          <p:cNvSpPr>
            <a:spLocks xmlns:a="http://schemas.openxmlformats.org/drawingml/2006/main" noGrp="1"/>
          </p:cNvSpPr>
          <p:nvPr/>
        </p:nvSpPr>
        <p:spPr>
          <a:xfrm xmlns:a="http://schemas.openxmlformats.org/drawingml/2006/main">
            <a:off x="762000" y="37909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Wafermaps and CD-SEM overlap review</a:t>
            </a:r>
          </a:p>
        </p:txBody>
      </p:sp>
      <p:sp>
        <p:nvSpPr>
          <p:cNvPr id="19" name="">
            <a:extLst xmlns:a="http://schemas.openxmlformats.org/drawingml/2006/main">
              <a:ext uri="{FF2B5EF4-FFF2-40B4-BE49-F238E27FC236}">
                <a16:creationId xmlns:a16="http://schemas.microsoft.com/office/drawing/2014/main" id="{09861ABD-16DC-4E55-9CB8-0A274CB0E962}"/>
              </a:ext>
            </a:extLst>
          </p:cNvPr>
          <p:cNvSpPr>
            <a:spLocks xmlns:a="http://schemas.openxmlformats.org/drawingml/2006/main" noGrp="1"/>
          </p:cNvSpPr>
          <p:nvPr/>
        </p:nvSpPr>
        <p:spPr>
          <a:xfrm xmlns:a="http://schemas.openxmlformats.org/drawingml/2006/main">
            <a:off x="6248400" y="18097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Prepare and standardise</a:t>
            </a:r>
          </a:p>
        </p:txBody>
      </p:sp>
      <p:sp>
        <p:nvSpPr>
          <p:cNvPr id="20" name="">
            <a:extLst xmlns:a="http://schemas.openxmlformats.org/drawingml/2006/main">
              <a:ext uri="{FF2B5EF4-FFF2-40B4-BE49-F238E27FC236}">
                <a16:creationId xmlns:a16="http://schemas.microsoft.com/office/drawing/2014/main" id="{5B0F5560-4817-4AB1-BDAA-1B49EFE87415}"/>
              </a:ext>
            </a:extLst>
          </p:cNvPr>
          <p:cNvSpPr>
            <a:spLocks xmlns:a="http://schemas.openxmlformats.org/drawingml/2006/main" noGrp="1"/>
          </p:cNvSpPr>
          <p:nvPr/>
        </p:nvSpPr>
        <p:spPr>
          <a:xfrm xmlns:a="http://schemas.openxmlformats.org/drawingml/2006/main">
            <a:off x="6248400" y="2409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FAB26DB-3DB8-43A7-951B-0527E2887D3F}"/>
              </a:ext>
            </a:extLst>
          </p:cNvPr>
          <p:cNvSpPr>
            <a:spLocks xmlns:a="http://schemas.openxmlformats.org/drawingml/2006/main" noGrp="1"/>
          </p:cNvSpPr>
          <p:nvPr/>
        </p:nvSpPr>
        <p:spPr>
          <a:xfrm xmlns:a="http://schemas.openxmlformats.org/drawingml/2006/main">
            <a:off x="6477000" y="23431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Manual Conversion and Advanced conversion</a:t>
            </a:r>
          </a:p>
        </p:txBody>
      </p:sp>
      <p:sp>
        <p:nvSpPr>
          <p:cNvPr id="22" name="">
            <a:extLst xmlns:a="http://schemas.openxmlformats.org/drawingml/2006/main">
              <a:ext uri="{FF2B5EF4-FFF2-40B4-BE49-F238E27FC236}">
                <a16:creationId xmlns:a16="http://schemas.microsoft.com/office/drawing/2014/main" id="{226B2864-7E06-4E03-B551-302954FF32DF}"/>
              </a:ext>
            </a:extLst>
          </p:cNvPr>
          <p:cNvSpPr>
            <a:spLocks xmlns:a="http://schemas.openxmlformats.org/drawingml/2006/main" noGrp="1"/>
          </p:cNvSpPr>
          <p:nvPr/>
        </p:nvSpPr>
        <p:spPr>
          <a:xfrm xmlns:a="http://schemas.openxmlformats.org/drawingml/2006/main">
            <a:off x="6248400" y="31337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A3B114C-F947-4C30-A4FB-B376A6EA1F6B}"/>
              </a:ext>
            </a:extLst>
          </p:cNvPr>
          <p:cNvSpPr>
            <a:spLocks xmlns:a="http://schemas.openxmlformats.org/drawingml/2006/main" noGrp="1"/>
          </p:cNvSpPr>
          <p:nvPr/>
        </p:nvSpPr>
        <p:spPr>
          <a:xfrm xmlns:a="http://schemas.openxmlformats.org/drawingml/2006/main">
            <a:off x="6477000" y="30670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Filename Conversion with controlled naming</a:t>
            </a:r>
          </a:p>
        </p:txBody>
      </p:sp>
      <p:sp>
        <p:nvSpPr>
          <p:cNvPr id="24" name="">
            <a:extLst xmlns:a="http://schemas.openxmlformats.org/drawingml/2006/main">
              <a:ext uri="{FF2B5EF4-FFF2-40B4-BE49-F238E27FC236}">
                <a16:creationId xmlns:a16="http://schemas.microsoft.com/office/drawing/2014/main" id="{3E181831-8568-4E7A-912A-DF3666EA508C}"/>
              </a:ext>
            </a:extLst>
          </p:cNvPr>
          <p:cNvSpPr>
            <a:spLocks xmlns:a="http://schemas.openxmlformats.org/drawingml/2006/main" noGrp="1"/>
          </p:cNvSpPr>
          <p:nvPr/>
        </p:nvSpPr>
        <p:spPr>
          <a:xfrm xmlns:a="http://schemas.openxmlformats.org/drawingml/2006/main">
            <a:off x="6248400" y="3857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A6C996E-EFE0-4387-BD31-5FE71F0F7AF0}"/>
              </a:ext>
            </a:extLst>
          </p:cNvPr>
          <p:cNvSpPr>
            <a:spLocks xmlns:a="http://schemas.openxmlformats.org/drawingml/2006/main" noGrp="1"/>
          </p:cNvSpPr>
          <p:nvPr/>
        </p:nvSpPr>
        <p:spPr>
          <a:xfrm xmlns:a="http://schemas.openxmlformats.org/drawingml/2006/main">
            <a:off x="6477000" y="37909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Standard and Advanced Spectrum Viewers</a:t>
            </a:r>
          </a:p>
        </p:txBody>
      </p:sp>
      <p:sp>
        <p:nvSpPr>
          <p:cNvPr id="26" name="">
            <a:extLst xmlns:a="http://schemas.openxmlformats.org/drawingml/2006/main">
              <a:ext uri="{FF2B5EF4-FFF2-40B4-BE49-F238E27FC236}">
                <a16:creationId xmlns:a16="http://schemas.microsoft.com/office/drawing/2014/main" id="{1C62E1AF-0C36-43EF-8E1E-EDCDCF53C0EF}"/>
              </a:ext>
            </a:extLst>
          </p:cNvPr>
          <p:cNvSpPr>
            <a:spLocks xmlns:a="http://schemas.openxmlformats.org/drawingml/2006/main" noGrp="1"/>
          </p:cNvSpPr>
          <p:nvPr/>
        </p:nvSpPr>
        <p:spPr>
          <a:xfrm xmlns:a="http://schemas.openxmlformats.org/drawingml/2006/main">
            <a:off x="533400" y="48577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D85C3ED-BA58-41B5-81EB-F0F1E9096717}"/>
              </a:ext>
            </a:extLst>
          </p:cNvPr>
          <p:cNvSpPr>
            <a:spLocks xmlns:a="http://schemas.openxmlformats.org/drawingml/2006/main" noGrp="1"/>
          </p:cNvSpPr>
          <p:nvPr/>
        </p:nvSpPr>
        <p:spPr>
          <a:xfrm xmlns:a="http://schemas.openxmlformats.org/drawingml/2006/main">
            <a:off x="1428750" y="52197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a:solidFill>
                  <a:srgbClr val="111A3B"/>
                </a:solidFill>
                <a:latin typeface="Arial"/>
                <a:ea typeface="Arial"/>
                <a:cs typeface="Arial"/>
              </a:defRPr>
            </a:pPr>
            <a:r>
              <a:rPr sz="1875" b="1">
                <a:solidFill>
                  <a:srgbClr val="111A3B"/>
                </a:solidFill>
                <a:latin typeface="Arial"/>
                <a:ea typeface="Arial"/>
                <a:cs typeface="Arial"/>
              </a:rPr>
              <a:t>Result: datasets can be revisited, compared across MPWs, and handed between teams with more context and less rework.</a:t>
            </a:r>
          </a:p>
        </p:txBody>
      </p:sp>
    </p:spTree>
    <p:extLst>
      <p:ext uri="{BB962C8B-B14F-4D97-AF65-F5344CB8AC3E}">
        <p14:creationId xmlns:p14="http://schemas.microsoft.com/office/powerpoint/2010/main" val="2393430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E639BB4-566F-4E4A-9327-DC8CFE9E37C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A4DD0C-DC49-4960-A0E1-8F5E734C4760}"/>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111FAA-395D-47FE-8B44-8D327B04364D}"/>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D302BF-1FC8-4B05-BB0E-3FAB2D674291}"/>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ADEEBD1-38A1-415F-94F4-CCF03D441425}"/>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257E99-EBEB-4B99-A6B8-723F51FC6C80}"/>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C247D7-2011-40D9-8025-8FA9B222F525}"/>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476E0B10-65DC-445F-B2EC-1BEC57C8F1C8}"/>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Reporting converts analysis state into review-ready material</a:t>
            </a:r>
          </a:p>
        </p:txBody>
      </p:sp>
      <p:sp>
        <p:nvSpPr>
          <p:cNvPr id="9" name="">
            <a:extLst xmlns:a="http://schemas.openxmlformats.org/drawingml/2006/main">
              <a:ext uri="{FF2B5EF4-FFF2-40B4-BE49-F238E27FC236}">
                <a16:creationId xmlns:a16="http://schemas.microsoft.com/office/drawing/2014/main" id="{2C06CACF-7566-491D-92F1-F0F4ED607D3D}"/>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7F0933-9269-49DF-9154-57B8DA1CAA55}"/>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AB8CEB16-346A-4C5B-A9D7-C4512FBD3A5E}"/>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09</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4533ffa96f34564"/>
          <a:stretch xmlns:a="http://schemas.openxmlformats.org/drawingml/2006/main"/>
        </p:blipFill>
        <p:spPr>
          <a:xfrm xmlns:a="http://schemas.openxmlformats.org/drawingml/2006/main">
            <a:off x="533400" y="1982583"/>
            <a:ext cx="6667500" cy="375008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1770CE1-3008-49E6-9406-568FE5DBA2F6}"/>
              </a:ext>
            </a:extLst>
          </p:cNvPr>
          <p:cNvSpPr>
            <a:spLocks xmlns:a="http://schemas.openxmlformats.org/drawingml/2006/main" noGrp="1"/>
          </p:cNvSpPr>
          <p:nvPr/>
        </p:nvSpPr>
        <p:spPr>
          <a:xfrm xmlns:a="http://schemas.openxmlformats.org/drawingml/2006/main">
            <a:off x="7829550" y="1809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Available outputs</a:t>
            </a:r>
          </a:p>
        </p:txBody>
      </p:sp>
      <p:sp>
        <p:nvSpPr>
          <p:cNvPr id="14" name="">
            <a:extLst xmlns:a="http://schemas.openxmlformats.org/drawingml/2006/main">
              <a:ext uri="{FF2B5EF4-FFF2-40B4-BE49-F238E27FC236}">
                <a16:creationId xmlns:a16="http://schemas.microsoft.com/office/drawing/2014/main" id="{9ABC02E7-E7E8-450A-9C27-DE569B728926}"/>
              </a:ext>
            </a:extLst>
          </p:cNvPr>
          <p:cNvSpPr>
            <a:spLocks xmlns:a="http://schemas.openxmlformats.org/drawingml/2006/main" noGrp="1"/>
          </p:cNvSpPr>
          <p:nvPr/>
        </p:nvSpPr>
        <p:spPr>
          <a:xfrm xmlns:a="http://schemas.openxmlformats.org/drawingml/2006/main">
            <a:off x="7829550" y="2409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3AA4AF7-B770-4B10-9EAF-FEB39BF1BDE3}"/>
              </a:ext>
            </a:extLst>
          </p:cNvPr>
          <p:cNvSpPr>
            <a:spLocks xmlns:a="http://schemas.openxmlformats.org/drawingml/2006/main" noGrp="1"/>
          </p:cNvSpPr>
          <p:nvPr/>
        </p:nvSpPr>
        <p:spPr>
          <a:xfrm xmlns:a="http://schemas.openxmlformats.org/drawingml/2006/main">
            <a:off x="8058150" y="23431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Open and inspect figures</a:t>
            </a:r>
          </a:p>
        </p:txBody>
      </p:sp>
      <p:sp>
        <p:nvSpPr>
          <p:cNvPr id="16" name="">
            <a:extLst xmlns:a="http://schemas.openxmlformats.org/drawingml/2006/main">
              <a:ext uri="{FF2B5EF4-FFF2-40B4-BE49-F238E27FC236}">
                <a16:creationId xmlns:a16="http://schemas.microsoft.com/office/drawing/2014/main" id="{E5192ADD-A728-4281-8B8E-EDE60322B138}"/>
              </a:ext>
            </a:extLst>
          </p:cNvPr>
          <p:cNvSpPr>
            <a:spLocks xmlns:a="http://schemas.openxmlformats.org/drawingml/2006/main" noGrp="1"/>
          </p:cNvSpPr>
          <p:nvPr/>
        </p:nvSpPr>
        <p:spPr>
          <a:xfrm xmlns:a="http://schemas.openxmlformats.org/drawingml/2006/main">
            <a:off x="7829550" y="31337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BC9DB3A-6842-4741-9BDD-12DDDE0479D9}"/>
              </a:ext>
            </a:extLst>
          </p:cNvPr>
          <p:cNvSpPr>
            <a:spLocks xmlns:a="http://schemas.openxmlformats.org/drawingml/2006/main" noGrp="1"/>
          </p:cNvSpPr>
          <p:nvPr/>
        </p:nvSpPr>
        <p:spPr>
          <a:xfrm xmlns:a="http://schemas.openxmlformats.org/drawingml/2006/main">
            <a:off x="8058150" y="30670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Download PNG evidence</a:t>
            </a:r>
          </a:p>
        </p:txBody>
      </p:sp>
      <p:sp>
        <p:nvSpPr>
          <p:cNvPr id="18" name="">
            <a:extLst xmlns:a="http://schemas.openxmlformats.org/drawingml/2006/main">
              <a:ext uri="{FF2B5EF4-FFF2-40B4-BE49-F238E27FC236}">
                <a16:creationId xmlns:a16="http://schemas.microsoft.com/office/drawing/2014/main" id="{E3334013-7B8F-43D6-A45A-F6CE3ED0DFE6}"/>
              </a:ext>
            </a:extLst>
          </p:cNvPr>
          <p:cNvSpPr>
            <a:spLocks xmlns:a="http://schemas.openxmlformats.org/drawingml/2006/main" noGrp="1"/>
          </p:cNvSpPr>
          <p:nvPr/>
        </p:nvSpPr>
        <p:spPr>
          <a:xfrm xmlns:a="http://schemas.openxmlformats.org/drawingml/2006/main">
            <a:off x="7829550" y="3857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1F46175-060F-4F24-95A8-624BCB9DC851}"/>
              </a:ext>
            </a:extLst>
          </p:cNvPr>
          <p:cNvSpPr>
            <a:spLocks xmlns:a="http://schemas.openxmlformats.org/drawingml/2006/main" noGrp="1"/>
          </p:cNvSpPr>
          <p:nvPr/>
        </p:nvSpPr>
        <p:spPr>
          <a:xfrm xmlns:a="http://schemas.openxmlformats.org/drawingml/2006/main">
            <a:off x="8058150" y="37909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Save interactive HTML where available</a:t>
            </a:r>
          </a:p>
        </p:txBody>
      </p:sp>
      <p:sp>
        <p:nvSpPr>
          <p:cNvPr id="20" name="">
            <a:extLst xmlns:a="http://schemas.openxmlformats.org/drawingml/2006/main">
              <a:ext uri="{FF2B5EF4-FFF2-40B4-BE49-F238E27FC236}">
                <a16:creationId xmlns:a16="http://schemas.microsoft.com/office/drawing/2014/main" id="{793979B0-D7A4-4896-88D9-A4BF583DD25F}"/>
              </a:ext>
            </a:extLst>
          </p:cNvPr>
          <p:cNvSpPr>
            <a:spLocks xmlns:a="http://schemas.openxmlformats.org/drawingml/2006/main" noGrp="1"/>
          </p:cNvSpPr>
          <p:nvPr/>
        </p:nvSpPr>
        <p:spPr>
          <a:xfrm xmlns:a="http://schemas.openxmlformats.org/drawingml/2006/main">
            <a:off x="7829550" y="45815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0060670-9705-4557-AB38-BCD5F64A2DD0}"/>
              </a:ext>
            </a:extLst>
          </p:cNvPr>
          <p:cNvSpPr>
            <a:spLocks xmlns:a="http://schemas.openxmlformats.org/drawingml/2006/main" noGrp="1"/>
          </p:cNvSpPr>
          <p:nvPr/>
        </p:nvSpPr>
        <p:spPr>
          <a:xfrm xmlns:a="http://schemas.openxmlformats.org/drawingml/2006/main">
            <a:off x="8058150" y="45148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Generate PowerPoint, Word and PDF reports</a:t>
            </a:r>
          </a:p>
        </p:txBody>
      </p:sp>
    </p:spTree>
    <p:extLst>
      <p:ext uri="{BB962C8B-B14F-4D97-AF65-F5344CB8AC3E}">
        <p14:creationId xmlns:p14="http://schemas.microsoft.com/office/powerpoint/2010/main" val="24000494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94084AB-8F70-4FCC-98D6-23C27AC72C05}"/>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930EE4-37C3-4D84-9348-802BE259EE0B}"/>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857F67-ADFB-48CB-959C-776C3F252AFE}"/>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94DD26-13FA-451A-92F9-0645965D001F}"/>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FE5E48-4796-4DE0-9BD2-D5A1192C6A01}"/>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2DB005-72E9-464E-9E0B-8A49E4A9E568}"/>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562249-278B-4703-8C7A-AB99F2AACC00}"/>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90A543D3-151B-4B74-8510-C816E6B8DEFF}"/>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70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For the test team, v0.5.0 adds governed, AI-assisted triage to faster interpretation</a:t>
            </a:r>
          </a:p>
        </p:txBody>
      </p:sp>
      <p:sp>
        <p:nvSpPr>
          <p:cNvPr id="9" name="">
            <a:extLst xmlns:a="http://schemas.openxmlformats.org/drawingml/2006/main">
              <a:ext uri="{FF2B5EF4-FFF2-40B4-BE49-F238E27FC236}">
                <a16:creationId xmlns:a16="http://schemas.microsoft.com/office/drawing/2014/main" id="{C23D19BB-C88A-4476-A474-16701DC674DA}"/>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ED4240-3C10-4A7F-9AF3-02352E50007D}"/>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4A32452A-3C60-4C98-8A6E-395A10E481D4}"/>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10</a:t>
            </a:r>
          </a:p>
        </p:txBody>
      </p:sp>
      <p:sp>
        <p:nvSpPr>
          <p:cNvPr id="12" name="">
            <a:extLst xmlns:a="http://schemas.openxmlformats.org/drawingml/2006/main">
              <a:ext uri="{FF2B5EF4-FFF2-40B4-BE49-F238E27FC236}">
                <a16:creationId xmlns:a16="http://schemas.microsoft.com/office/drawing/2014/main" id="{E0218159-03CB-4FCC-800D-E84A64811F9F}"/>
              </a:ext>
            </a:extLst>
          </p:cNvPr>
          <p:cNvSpPr>
            <a:spLocks xmlns:a="http://schemas.openxmlformats.org/drawingml/2006/main" noGrp="1"/>
          </p:cNvSpPr>
          <p:nvPr/>
        </p:nvSpPr>
        <p:spPr>
          <a:xfrm xmlns:a="http://schemas.openxmlformats.org/drawingml/2006/main">
            <a:off x="533400" y="18669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66708D"/>
                </a:solidFill>
                <a:latin typeface="Arial"/>
                <a:ea typeface="Arial"/>
                <a:cs typeface="Arial"/>
              </a:defRPr>
            </a:pPr>
            <a:r>
              <a:rPr sz="1800" b="1">
                <a:solidFill>
                  <a:srgbClr val="66708D"/>
                </a:solidFill>
                <a:latin typeface="Arial"/>
                <a:ea typeface="Arial"/>
                <a:cs typeface="Arial"/>
              </a:rPr>
              <a:t>Before</a:t>
            </a:r>
          </a:p>
        </p:txBody>
      </p:sp>
      <p:sp>
        <p:nvSpPr>
          <p:cNvPr id="13" name="">
            <a:extLst xmlns:a="http://schemas.openxmlformats.org/drawingml/2006/main">
              <a:ext uri="{FF2B5EF4-FFF2-40B4-BE49-F238E27FC236}">
                <a16:creationId xmlns:a16="http://schemas.microsoft.com/office/drawing/2014/main" id="{3635BE5C-AF6E-4174-8C89-332B64D0E4AC}"/>
              </a:ext>
            </a:extLst>
          </p:cNvPr>
          <p:cNvSpPr>
            <a:spLocks xmlns:a="http://schemas.openxmlformats.org/drawingml/2006/main" noGrp="1"/>
          </p:cNvSpPr>
          <p:nvPr/>
        </p:nvSpPr>
        <p:spPr>
          <a:xfrm xmlns:a="http://schemas.openxmlformats.org/drawingml/2006/main">
            <a:off x="533400" y="2381250"/>
            <a:ext cx="4572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A2F"/>
                </a:solidFill>
                <a:latin typeface="Arial"/>
                <a:ea typeface="Arial"/>
                <a:cs typeface="Arial"/>
              </a:defRPr>
            </a:pPr>
            <a:r>
              <a:rPr sz="1650" b="0">
                <a:solidFill>
                  <a:srgbClr val="151A2F"/>
                </a:solidFill>
                <a:latin typeface="Arial"/>
                <a:ea typeface="Arial"/>
                <a:cs typeface="Arial"/>
              </a:rPr>
              <a:t>Processing delays could look like an unresponsive page, and chip-level comparison required more scrolling and manual context switching.</a:t>
            </a:r>
          </a:p>
        </p:txBody>
      </p:sp>
      <p:sp>
        <p:nvSpPr>
          <p:cNvPr id="14" name="">
            <a:extLst xmlns:a="http://schemas.openxmlformats.org/drawingml/2006/main">
              <a:ext uri="{FF2B5EF4-FFF2-40B4-BE49-F238E27FC236}">
                <a16:creationId xmlns:a16="http://schemas.microsoft.com/office/drawing/2014/main" id="{02EF3066-5793-42F5-B617-39EED0174CDA}"/>
              </a:ext>
            </a:extLst>
          </p:cNvPr>
          <p:cNvSpPr>
            <a:spLocks xmlns:a="http://schemas.openxmlformats.org/drawingml/2006/main" noGrp="1"/>
          </p:cNvSpPr>
          <p:nvPr/>
        </p:nvSpPr>
        <p:spPr>
          <a:xfrm xmlns:a="http://schemas.openxmlformats.org/drawingml/2006/main">
            <a:off x="6248400" y="18669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With v0.5.0</a:t>
            </a:r>
          </a:p>
        </p:txBody>
      </p:sp>
      <p:sp>
        <p:nvSpPr>
          <p:cNvPr id="15" name="">
            <a:extLst xmlns:a="http://schemas.openxmlformats.org/drawingml/2006/main">
              <a:ext uri="{FF2B5EF4-FFF2-40B4-BE49-F238E27FC236}">
                <a16:creationId xmlns:a16="http://schemas.microsoft.com/office/drawing/2014/main" id="{26708B68-A4FB-4A87-9E8E-B15AF54B3132}"/>
              </a:ext>
            </a:extLst>
          </p:cNvPr>
          <p:cNvSpPr>
            <a:spLocks xmlns:a="http://schemas.openxmlformats.org/drawingml/2006/main" noGrp="1"/>
          </p:cNvSpPr>
          <p:nvPr/>
        </p:nvSpPr>
        <p:spPr>
          <a:xfrm xmlns:a="http://schemas.openxmlformats.org/drawingml/2006/main">
            <a:off x="6248400" y="24479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C35912D-A24F-4134-B59E-792D4C4D3A45}"/>
              </a:ext>
            </a:extLst>
          </p:cNvPr>
          <p:cNvSpPr>
            <a:spLocks xmlns:a="http://schemas.openxmlformats.org/drawingml/2006/main" noGrp="1"/>
          </p:cNvSpPr>
          <p:nvPr/>
        </p:nvSpPr>
        <p:spPr>
          <a:xfrm xmlns:a="http://schemas.openxmlformats.org/drawingml/2006/main">
            <a:off x="6477000" y="23812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Local screening before optional AI interpretation</a:t>
            </a:r>
          </a:p>
        </p:txBody>
      </p:sp>
      <p:sp>
        <p:nvSpPr>
          <p:cNvPr id="17" name="">
            <a:extLst xmlns:a="http://schemas.openxmlformats.org/drawingml/2006/main">
              <a:ext uri="{FF2B5EF4-FFF2-40B4-BE49-F238E27FC236}">
                <a16:creationId xmlns:a16="http://schemas.microsoft.com/office/drawing/2014/main" id="{C420A6F5-2B34-49C9-A216-1EB6153ECA0A}"/>
              </a:ext>
            </a:extLst>
          </p:cNvPr>
          <p:cNvSpPr>
            <a:spLocks xmlns:a="http://schemas.openxmlformats.org/drawingml/2006/main" noGrp="1"/>
          </p:cNvSpPr>
          <p:nvPr/>
        </p:nvSpPr>
        <p:spPr>
          <a:xfrm xmlns:a="http://schemas.openxmlformats.org/drawingml/2006/main">
            <a:off x="6248400" y="31718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9330218-550B-43F4-B677-E127063DEE17}"/>
              </a:ext>
            </a:extLst>
          </p:cNvPr>
          <p:cNvSpPr>
            <a:spLocks xmlns:a="http://schemas.openxmlformats.org/drawingml/2006/main" noGrp="1"/>
          </p:cNvSpPr>
          <p:nvPr/>
        </p:nvSpPr>
        <p:spPr>
          <a:xfrm xmlns:a="http://schemas.openxmlformats.org/drawingml/2006/main">
            <a:off x="6477000" y="31051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Wafer and chip metrics sent as compact evidence</a:t>
            </a:r>
          </a:p>
        </p:txBody>
      </p:sp>
      <p:sp>
        <p:nvSpPr>
          <p:cNvPr id="19" name="">
            <a:extLst xmlns:a="http://schemas.openxmlformats.org/drawingml/2006/main">
              <a:ext uri="{FF2B5EF4-FFF2-40B4-BE49-F238E27FC236}">
                <a16:creationId xmlns:a16="http://schemas.microsoft.com/office/drawing/2014/main" id="{C9E93B69-A6A7-4B93-AB04-2051EE816D46}"/>
              </a:ext>
            </a:extLst>
          </p:cNvPr>
          <p:cNvSpPr>
            <a:spLocks xmlns:a="http://schemas.openxmlformats.org/drawingml/2006/main" noGrp="1"/>
          </p:cNvSpPr>
          <p:nvPr/>
        </p:nvSpPr>
        <p:spPr>
          <a:xfrm xmlns:a="http://schemas.openxmlformats.org/drawingml/2006/main">
            <a:off x="6248400" y="38957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630649-B475-45FD-B1CA-CBABD059B376}"/>
              </a:ext>
            </a:extLst>
          </p:cNvPr>
          <p:cNvSpPr>
            <a:spLocks xmlns:a="http://schemas.openxmlformats.org/drawingml/2006/main" noGrp="1"/>
          </p:cNvSpPr>
          <p:nvPr/>
        </p:nvSpPr>
        <p:spPr>
          <a:xfrm xmlns:a="http://schemas.openxmlformats.org/drawingml/2006/main">
            <a:off x="6477000" y="38290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Explicit model selection and logging control</a:t>
            </a:r>
          </a:p>
        </p:txBody>
      </p:sp>
      <p:sp>
        <p:nvSpPr>
          <p:cNvPr id="21" name="">
            <a:extLst xmlns:a="http://schemas.openxmlformats.org/drawingml/2006/main">
              <a:ext uri="{FF2B5EF4-FFF2-40B4-BE49-F238E27FC236}">
                <a16:creationId xmlns:a16="http://schemas.microsoft.com/office/drawing/2014/main" id="{B6872AC4-D69C-4BBF-A0A7-F98422D44E6E}"/>
              </a:ext>
            </a:extLst>
          </p:cNvPr>
          <p:cNvSpPr>
            <a:spLocks xmlns:a="http://schemas.openxmlformats.org/drawingml/2006/main" noGrp="1"/>
          </p:cNvSpPr>
          <p:nvPr/>
        </p:nvSpPr>
        <p:spPr>
          <a:xfrm xmlns:a="http://schemas.openxmlformats.org/drawingml/2006/main">
            <a:off x="6248400" y="46196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DD7E9C6-6965-402E-9047-A01E2D6BD324}"/>
              </a:ext>
            </a:extLst>
          </p:cNvPr>
          <p:cNvSpPr>
            <a:spLocks xmlns:a="http://schemas.openxmlformats.org/drawingml/2006/main" noGrp="1"/>
          </p:cNvSpPr>
          <p:nvPr/>
        </p:nvSpPr>
        <p:spPr>
          <a:xfrm xmlns:a="http://schemas.openxmlformats.org/drawingml/2006/main">
            <a:off x="6477000" y="45529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Repeatable figures, reports and triage summaries</a:t>
            </a:r>
          </a:p>
        </p:txBody>
      </p:sp>
      <p:sp>
        <p:nvSpPr>
          <p:cNvPr id="23" name="">
            <a:extLst xmlns:a="http://schemas.openxmlformats.org/drawingml/2006/main">
              <a:ext uri="{FF2B5EF4-FFF2-40B4-BE49-F238E27FC236}">
                <a16:creationId xmlns:a16="http://schemas.microsoft.com/office/drawing/2014/main" id="{2C6E8AFD-6F1F-4D4E-8980-1EDACA7C1585}"/>
              </a:ext>
            </a:extLst>
          </p:cNvPr>
          <p:cNvSpPr>
            <a:spLocks xmlns:a="http://schemas.openxmlformats.org/drawingml/2006/main" noGrp="1"/>
          </p:cNvSpPr>
          <p:nvPr/>
        </p:nvSpPr>
        <p:spPr>
          <a:xfrm xmlns:a="http://schemas.openxmlformats.org/drawingml/2006/main">
            <a:off x="1352550" y="5429250"/>
            <a:ext cx="9486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a:solidFill>
                  <a:srgbClr val="111A3B"/>
                </a:solidFill>
                <a:latin typeface="Arial"/>
                <a:ea typeface="Arial"/>
                <a:cs typeface="Arial"/>
              </a:defRPr>
            </a:pPr>
            <a:r>
              <a:rPr sz="1875" b="1">
                <a:solidFill>
                  <a:srgbClr val="111A3B"/>
                </a:solidFill>
                <a:latin typeface="Arial"/>
                <a:ea typeface="Arial"/>
                <a:cs typeface="Arial"/>
              </a:rPr>
              <a:t>Outcome: less time preparing the view, more time deciding which evidence and follow-up checks matter next.</a:t>
            </a:r>
          </a:p>
        </p:txBody>
      </p:sp>
    </p:spTree>
    <p:extLst>
      <p:ext uri="{BB962C8B-B14F-4D97-AF65-F5344CB8AC3E}">
        <p14:creationId xmlns:p14="http://schemas.microsoft.com/office/powerpoint/2010/main" val="67612014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64ECBA6-4FC0-41AD-9C9C-5B7AF870B194}"/>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B1583C-FD53-47EF-8EC7-B4D082DCD125}"/>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3BA251-1E9D-4B38-BCF3-C5DAC52ECD9D}"/>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FEFE05A-079E-41EE-9132-AF0E30B82639}"/>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0935EF-5C3D-4697-A6BD-B2A7A0C9A333}"/>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314A2-220C-4A66-91C0-F101AEC2A861}"/>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7AB51A-243E-496D-B0C1-BB87B21568A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A078F1F3-B276-4B5D-AE6A-0F84A86A0C9C}"/>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999"/>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For the PDK team, AI-assisted triage must remain traceable and reviewable</a:t>
            </a:r>
          </a:p>
        </p:txBody>
      </p:sp>
      <p:sp>
        <p:nvSpPr>
          <p:cNvPr id="9" name="">
            <a:extLst xmlns:a="http://schemas.openxmlformats.org/drawingml/2006/main">
              <a:ext uri="{FF2B5EF4-FFF2-40B4-BE49-F238E27FC236}">
                <a16:creationId xmlns:a16="http://schemas.microsoft.com/office/drawing/2014/main" id="{E3152EB8-C059-4504-B004-BE36FCA2E261}"/>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B446E4-F681-4CD4-A134-B1810B85A7C9}"/>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678ED9F9-3678-4CD1-BBD8-8B9771A6BD3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11</a:t>
            </a:r>
          </a:p>
        </p:txBody>
      </p:sp>
      <p:sp>
        <p:nvSpPr>
          <p:cNvPr id="12" name="">
            <a:extLst xmlns:a="http://schemas.openxmlformats.org/drawingml/2006/main">
              <a:ext uri="{FF2B5EF4-FFF2-40B4-BE49-F238E27FC236}">
                <a16:creationId xmlns:a16="http://schemas.microsoft.com/office/drawing/2014/main" id="{EFA9F4A1-B494-46EC-B5F1-39BAA69CED90}"/>
              </a:ext>
            </a:extLst>
          </p:cNvPr>
          <p:cNvSpPr>
            <a:spLocks xmlns:a="http://schemas.openxmlformats.org/drawingml/2006/main" noGrp="1"/>
          </p:cNvSpPr>
          <p:nvPr/>
        </p:nvSpPr>
        <p:spPr>
          <a:xfrm xmlns:a="http://schemas.openxmlformats.org/drawingml/2006/main">
            <a:off x="53340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Compact evidence</a:t>
            </a:r>
          </a:p>
        </p:txBody>
      </p:sp>
      <p:sp>
        <p:nvSpPr>
          <p:cNvPr id="13" name="">
            <a:extLst xmlns:a="http://schemas.openxmlformats.org/drawingml/2006/main">
              <a:ext uri="{FF2B5EF4-FFF2-40B4-BE49-F238E27FC236}">
                <a16:creationId xmlns:a16="http://schemas.microsoft.com/office/drawing/2014/main" id="{B8A284FC-CAF9-43BF-A769-73B5E0999B33}"/>
              </a:ext>
            </a:extLst>
          </p:cNvPr>
          <p:cNvSpPr>
            <a:spLocks xmlns:a="http://schemas.openxmlformats.org/drawingml/2006/main" noGrp="1"/>
          </p:cNvSpPr>
          <p:nvPr/>
        </p:nvSpPr>
        <p:spPr>
          <a:xfrm xmlns:a="http://schemas.openxmlformats.org/drawingml/2006/main">
            <a:off x="53340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B061A7-3E27-4A91-B068-FF726D79DB52}"/>
              </a:ext>
            </a:extLst>
          </p:cNvPr>
          <p:cNvSpPr>
            <a:spLocks xmlns:a="http://schemas.openxmlformats.org/drawingml/2006/main" noGrp="1"/>
          </p:cNvSpPr>
          <p:nvPr/>
        </p:nvSpPr>
        <p:spPr>
          <a:xfrm xmlns:a="http://schemas.openxmlformats.org/drawingml/2006/main">
            <a:off x="53340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Local metrics and flagged features are prepared before any optional model request.</a:t>
            </a:r>
          </a:p>
        </p:txBody>
      </p:sp>
      <p:sp>
        <p:nvSpPr>
          <p:cNvPr id="15" name="">
            <a:extLst xmlns:a="http://schemas.openxmlformats.org/drawingml/2006/main">
              <a:ext uri="{FF2B5EF4-FFF2-40B4-BE49-F238E27FC236}">
                <a16:creationId xmlns:a16="http://schemas.microsoft.com/office/drawing/2014/main" id="{3FED64A6-FF3B-4E9B-805E-1CEB4481BACD}"/>
              </a:ext>
            </a:extLst>
          </p:cNvPr>
          <p:cNvSpPr>
            <a:spLocks xmlns:a="http://schemas.openxmlformats.org/drawingml/2006/main" noGrp="1"/>
          </p:cNvSpPr>
          <p:nvPr/>
        </p:nvSpPr>
        <p:spPr>
          <a:xfrm xmlns:a="http://schemas.openxmlformats.org/drawingml/2006/main">
            <a:off x="424815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Explicit model choice</a:t>
            </a:r>
          </a:p>
        </p:txBody>
      </p:sp>
      <p:sp>
        <p:nvSpPr>
          <p:cNvPr id="16" name="">
            <a:extLst xmlns:a="http://schemas.openxmlformats.org/drawingml/2006/main">
              <a:ext uri="{FF2B5EF4-FFF2-40B4-BE49-F238E27FC236}">
                <a16:creationId xmlns:a16="http://schemas.microsoft.com/office/drawing/2014/main" id="{22B349D5-551A-4D72-BBE1-28A76328812F}"/>
              </a:ext>
            </a:extLst>
          </p:cNvPr>
          <p:cNvSpPr>
            <a:spLocks xmlns:a="http://schemas.openxmlformats.org/drawingml/2006/main" noGrp="1"/>
          </p:cNvSpPr>
          <p:nvPr/>
        </p:nvSpPr>
        <p:spPr>
          <a:xfrm xmlns:a="http://schemas.openxmlformats.org/drawingml/2006/main">
            <a:off x="424815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3CA11B-7E20-42DF-8147-C252BECF8308}"/>
              </a:ext>
            </a:extLst>
          </p:cNvPr>
          <p:cNvSpPr>
            <a:spLocks xmlns:a="http://schemas.openxmlformats.org/drawingml/2006/main" noGrp="1"/>
          </p:cNvSpPr>
          <p:nvPr/>
        </p:nvSpPr>
        <p:spPr>
          <a:xfrm xmlns:a="http://schemas.openxmlformats.org/drawingml/2006/main">
            <a:off x="424815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Provider and model can be recorded with the diagnostic request when logging is enabled.</a:t>
            </a:r>
          </a:p>
        </p:txBody>
      </p:sp>
      <p:sp>
        <p:nvSpPr>
          <p:cNvPr id="18" name="">
            <a:extLst xmlns:a="http://schemas.openxmlformats.org/drawingml/2006/main">
              <a:ext uri="{FF2B5EF4-FFF2-40B4-BE49-F238E27FC236}">
                <a16:creationId xmlns:a16="http://schemas.microsoft.com/office/drawing/2014/main" id="{5531B684-7AA0-4B89-91CB-92FBD8848E6E}"/>
              </a:ext>
            </a:extLst>
          </p:cNvPr>
          <p:cNvSpPr>
            <a:spLocks xmlns:a="http://schemas.openxmlformats.org/drawingml/2006/main" noGrp="1"/>
          </p:cNvSpPr>
          <p:nvPr/>
        </p:nvSpPr>
        <p:spPr>
          <a:xfrm xmlns:a="http://schemas.openxmlformats.org/drawingml/2006/main">
            <a:off x="796290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Human-reviewed conclusions</a:t>
            </a:r>
          </a:p>
        </p:txBody>
      </p:sp>
      <p:sp>
        <p:nvSpPr>
          <p:cNvPr id="19" name="">
            <a:extLst xmlns:a="http://schemas.openxmlformats.org/drawingml/2006/main">
              <a:ext uri="{FF2B5EF4-FFF2-40B4-BE49-F238E27FC236}">
                <a16:creationId xmlns:a16="http://schemas.microsoft.com/office/drawing/2014/main" id="{49186640-F352-43AA-97E2-1618586B170E}"/>
              </a:ext>
            </a:extLst>
          </p:cNvPr>
          <p:cNvSpPr>
            <a:spLocks xmlns:a="http://schemas.openxmlformats.org/drawingml/2006/main" noGrp="1"/>
          </p:cNvSpPr>
          <p:nvPr/>
        </p:nvSpPr>
        <p:spPr>
          <a:xfrm xmlns:a="http://schemas.openxmlformats.org/drawingml/2006/main">
            <a:off x="796290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7C2607-9512-4E7D-8E35-65F54ACD6F6B}"/>
              </a:ext>
            </a:extLst>
          </p:cNvPr>
          <p:cNvSpPr>
            <a:spLocks xmlns:a="http://schemas.openxmlformats.org/drawingml/2006/main" noGrp="1"/>
          </p:cNvSpPr>
          <p:nvPr/>
        </p:nvSpPr>
        <p:spPr>
          <a:xfrm xmlns:a="http://schemas.openxmlformats.org/drawingml/2006/main">
            <a:off x="796290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The assistant can propose causes and priorities; it cannot make a wafer-release decision.</a:t>
            </a:r>
          </a:p>
        </p:txBody>
      </p:sp>
      <p:sp>
        <p:nvSpPr>
          <p:cNvPr id="21" name="">
            <a:extLst xmlns:a="http://schemas.openxmlformats.org/drawingml/2006/main">
              <a:ext uri="{FF2B5EF4-FFF2-40B4-BE49-F238E27FC236}">
                <a16:creationId xmlns:a16="http://schemas.microsoft.com/office/drawing/2014/main" id="{B428E703-EBF4-4993-9A9D-E0D0A5A5AA74}"/>
              </a:ext>
            </a:extLst>
          </p:cNvPr>
          <p:cNvSpPr>
            <a:spLocks xmlns:a="http://schemas.openxmlformats.org/drawingml/2006/main" noGrp="1"/>
          </p:cNvSpPr>
          <p:nvPr/>
        </p:nvSpPr>
        <p:spPr>
          <a:xfrm xmlns:a="http://schemas.openxmlformats.org/drawingml/2006/main">
            <a:off x="1257300" y="5334000"/>
            <a:ext cx="967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1">
                <a:solidFill>
                  <a:srgbClr val="111A3B"/>
                </a:solidFill>
                <a:latin typeface="Arial"/>
                <a:ea typeface="Arial"/>
                <a:cs typeface="Arial"/>
              </a:defRPr>
            </a:pPr>
            <a:r>
              <a:rPr sz="1950" b="1">
                <a:solidFill>
                  <a:srgbClr val="111A3B"/>
                </a:solidFill>
                <a:latin typeface="Arial"/>
                <a:ea typeface="Arial"/>
                <a:cs typeface="Arial"/>
              </a:rPr>
              <a:t>This shortens the path from measured performance to a documented engineering review without hiding the underlying evidence.</a:t>
            </a:r>
          </a:p>
        </p:txBody>
      </p:sp>
    </p:spTree>
    <p:extLst>
      <p:ext uri="{BB962C8B-B14F-4D97-AF65-F5344CB8AC3E}">
        <p14:creationId xmlns:p14="http://schemas.microsoft.com/office/powerpoint/2010/main" val="149084902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DD40C9C-0425-4B2F-8399-6980AABA2603}"/>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601999-8687-4CA7-968A-501286B05C29}"/>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C3A68E-A760-42C7-B4A0-2FF05EFA6F3E}"/>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012B59-D721-4FA2-9D6A-80DE2FA642A6}"/>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CD7ADE-E752-45A1-BDF9-2B40AE0C6D1E}"/>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4CBC1E-1CE1-4229-A162-F1238C20E8E2}"/>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EA6ED8-CB1F-423A-9CC5-35B3B7576E40}"/>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3E865AFD-0C53-44A5-B79E-EAC65A8F000D}"/>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2917"/>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For the cleanroom team, AI-assisted hypotheses can be reviewed beside optical performance</a:t>
            </a:r>
          </a:p>
        </p:txBody>
      </p:sp>
      <p:sp>
        <p:nvSpPr>
          <p:cNvPr id="9" name="">
            <a:extLst xmlns:a="http://schemas.openxmlformats.org/drawingml/2006/main">
              <a:ext uri="{FF2B5EF4-FFF2-40B4-BE49-F238E27FC236}">
                <a16:creationId xmlns:a16="http://schemas.microsoft.com/office/drawing/2014/main" id="{877B98D4-1BC0-4E87-9F62-EB4DDA1FA5FA}"/>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21568B-8388-4820-999C-3D4AF4CD738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E496331B-B1B9-4E46-AC0C-D553C9594C7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12</a:t>
            </a:r>
          </a:p>
        </p:txBody>
      </p:sp>
      <p:sp>
        <p:nvSpPr>
          <p:cNvPr id="12" name="">
            <a:extLst xmlns:a="http://schemas.openxmlformats.org/drawingml/2006/main">
              <a:ext uri="{FF2B5EF4-FFF2-40B4-BE49-F238E27FC236}">
                <a16:creationId xmlns:a16="http://schemas.microsoft.com/office/drawing/2014/main" id="{092677D9-77C1-4D03-9055-A694C1CB97D8}"/>
              </a:ext>
            </a:extLst>
          </p:cNvPr>
          <p:cNvSpPr>
            <a:spLocks xmlns:a="http://schemas.openxmlformats.org/drawingml/2006/main" noGrp="1"/>
          </p:cNvSpPr>
          <p:nvPr/>
        </p:nvSpPr>
        <p:spPr>
          <a:xfrm xmlns:a="http://schemas.openxmlformats.org/drawingml/2006/main">
            <a:off x="533400" y="200025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38258A"/>
                </a:solidFill>
                <a:latin typeface="Arial"/>
                <a:ea typeface="Arial"/>
                <a:cs typeface="Arial"/>
              </a:defRPr>
            </a:pPr>
            <a:r>
              <a:rPr sz="1950" b="1">
                <a:solidFill>
                  <a:srgbClr val="38258A"/>
                </a:solidFill>
                <a:latin typeface="Arial"/>
                <a:ea typeface="Arial"/>
                <a:cs typeface="Arial"/>
              </a:rPr>
              <a:t>CD-SEM coordinate import</a:t>
            </a:r>
          </a:p>
        </p:txBody>
      </p:sp>
      <p:sp>
        <p:nvSpPr>
          <p:cNvPr id="13" name="">
            <a:extLst xmlns:a="http://schemas.openxmlformats.org/drawingml/2006/main">
              <a:ext uri="{FF2B5EF4-FFF2-40B4-BE49-F238E27FC236}">
                <a16:creationId xmlns:a16="http://schemas.microsoft.com/office/drawing/2014/main" id="{F1DF1F6F-61CD-4497-B71E-D39C1084BDBE}"/>
              </a:ext>
            </a:extLst>
          </p:cNvPr>
          <p:cNvSpPr>
            <a:spLocks xmlns:a="http://schemas.openxmlformats.org/drawingml/2006/main" noGrp="1"/>
          </p:cNvSpPr>
          <p:nvPr/>
        </p:nvSpPr>
        <p:spPr>
          <a:xfrm xmlns:a="http://schemas.openxmlformats.org/drawingml/2006/main">
            <a:off x="533400" y="2571750"/>
            <a:ext cx="4572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A2F"/>
                </a:solidFill>
                <a:latin typeface="Arial"/>
                <a:ea typeface="Arial"/>
                <a:cs typeface="Arial"/>
              </a:defRPr>
            </a:pPr>
            <a:r>
              <a:rPr sz="1650" b="0">
                <a:solidFill>
                  <a:srgbClr val="151A2F"/>
                </a:solidFill>
                <a:latin typeface="Arial"/>
                <a:ea typeface="Arial"/>
                <a:cs typeface="Arial"/>
              </a:rPr>
              <a:t>Coordinate-based cleanroom measurements can be reviewed beside the local metrics and optional AI hypotheses for the same wafer template.</a:t>
            </a:r>
          </a:p>
        </p:txBody>
      </p:sp>
      <p:sp>
        <p:nvSpPr>
          <p:cNvPr id="14" name="">
            <a:extLst xmlns:a="http://schemas.openxmlformats.org/drawingml/2006/main">
              <a:ext uri="{FF2B5EF4-FFF2-40B4-BE49-F238E27FC236}">
                <a16:creationId xmlns:a16="http://schemas.microsoft.com/office/drawing/2014/main" id="{124B736A-D3F5-4559-BDA4-96888A4145FB}"/>
              </a:ext>
            </a:extLst>
          </p:cNvPr>
          <p:cNvSpPr>
            <a:spLocks xmlns:a="http://schemas.openxmlformats.org/drawingml/2006/main" noGrp="1"/>
          </p:cNvSpPr>
          <p:nvPr/>
        </p:nvSpPr>
        <p:spPr>
          <a:xfrm xmlns:a="http://schemas.openxmlformats.org/drawingml/2006/main">
            <a:off x="5810250" y="1809750"/>
            <a:ext cx="9525" cy="361950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5D78280-DBC3-4358-A433-4CE53715C9AD}"/>
              </a:ext>
            </a:extLst>
          </p:cNvPr>
          <p:cNvSpPr>
            <a:spLocks xmlns:a="http://schemas.openxmlformats.org/drawingml/2006/main" noGrp="1"/>
          </p:cNvSpPr>
          <p:nvPr/>
        </p:nvSpPr>
        <p:spPr>
          <a:xfrm xmlns:a="http://schemas.openxmlformats.org/drawingml/2006/main">
            <a:off x="634365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38258A"/>
                </a:solidFill>
                <a:latin typeface="Arial"/>
                <a:ea typeface="Arial"/>
                <a:cs typeface="Arial"/>
              </a:defRPr>
            </a:pPr>
            <a:r>
              <a:rPr sz="1950" b="1">
                <a:solidFill>
                  <a:srgbClr val="38258A"/>
                </a:solidFill>
                <a:latin typeface="Arial"/>
                <a:ea typeface="Arial"/>
                <a:cs typeface="Arial"/>
              </a:rPr>
              <a:t>Joint review questions</a:t>
            </a:r>
          </a:p>
        </p:txBody>
      </p:sp>
      <p:sp>
        <p:nvSpPr>
          <p:cNvPr id="16" name="">
            <a:extLst xmlns:a="http://schemas.openxmlformats.org/drawingml/2006/main">
              <a:ext uri="{FF2B5EF4-FFF2-40B4-BE49-F238E27FC236}">
                <a16:creationId xmlns:a16="http://schemas.microsoft.com/office/drawing/2014/main" id="{A79031C9-02EE-4A11-A4A7-4F08CF22E64E}"/>
              </a:ext>
            </a:extLst>
          </p:cNvPr>
          <p:cNvSpPr>
            <a:spLocks xmlns:a="http://schemas.openxmlformats.org/drawingml/2006/main" noGrp="1"/>
          </p:cNvSpPr>
          <p:nvPr/>
        </p:nvSpPr>
        <p:spPr>
          <a:xfrm xmlns:a="http://schemas.openxmlformats.org/drawingml/2006/main">
            <a:off x="6343650" y="26765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AC57816-BB4A-4BD3-BAC6-94D6370C6864}"/>
              </a:ext>
            </a:extLst>
          </p:cNvPr>
          <p:cNvSpPr>
            <a:spLocks xmlns:a="http://schemas.openxmlformats.org/drawingml/2006/main" noGrp="1"/>
          </p:cNvSpPr>
          <p:nvPr/>
        </p:nvSpPr>
        <p:spPr>
          <a:xfrm xmlns:a="http://schemas.openxmlformats.org/drawingml/2006/main">
            <a:off x="6572250" y="260985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Do CD changes align with optical-loss variation?</a:t>
            </a:r>
          </a:p>
        </p:txBody>
      </p:sp>
      <p:sp>
        <p:nvSpPr>
          <p:cNvPr id="18" name="">
            <a:extLst xmlns:a="http://schemas.openxmlformats.org/drawingml/2006/main">
              <a:ext uri="{FF2B5EF4-FFF2-40B4-BE49-F238E27FC236}">
                <a16:creationId xmlns:a16="http://schemas.microsoft.com/office/drawing/2014/main" id="{3152FEA9-4B8B-4059-A014-9029C18A0270}"/>
              </a:ext>
            </a:extLst>
          </p:cNvPr>
          <p:cNvSpPr>
            <a:spLocks xmlns:a="http://schemas.openxmlformats.org/drawingml/2006/main" noGrp="1"/>
          </p:cNvSpPr>
          <p:nvPr/>
        </p:nvSpPr>
        <p:spPr>
          <a:xfrm xmlns:a="http://schemas.openxmlformats.org/drawingml/2006/main">
            <a:off x="6343650" y="34575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3303B9-869C-4546-AFAA-9AA507E2830A}"/>
              </a:ext>
            </a:extLst>
          </p:cNvPr>
          <p:cNvSpPr>
            <a:spLocks xmlns:a="http://schemas.openxmlformats.org/drawingml/2006/main" noGrp="1"/>
          </p:cNvSpPr>
          <p:nvPr/>
        </p:nvSpPr>
        <p:spPr>
          <a:xfrm xmlns:a="http://schemas.openxmlformats.org/drawingml/2006/main">
            <a:off x="6572250" y="339090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Are edge, centre or row/column patterns visible?</a:t>
            </a:r>
          </a:p>
        </p:txBody>
      </p:sp>
      <p:sp>
        <p:nvSpPr>
          <p:cNvPr id="20" name="">
            <a:extLst xmlns:a="http://schemas.openxmlformats.org/drawingml/2006/main">
              <a:ext uri="{FF2B5EF4-FFF2-40B4-BE49-F238E27FC236}">
                <a16:creationId xmlns:a16="http://schemas.microsoft.com/office/drawing/2014/main" id="{26E48E40-B6A4-474B-8A67-D0C769C0D2F5}"/>
              </a:ext>
            </a:extLst>
          </p:cNvPr>
          <p:cNvSpPr>
            <a:spLocks xmlns:a="http://schemas.openxmlformats.org/drawingml/2006/main" noGrp="1"/>
          </p:cNvSpPr>
          <p:nvPr/>
        </p:nvSpPr>
        <p:spPr>
          <a:xfrm xmlns:a="http://schemas.openxmlformats.org/drawingml/2006/main">
            <a:off x="6343650" y="4238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C2BC37-FB24-4EB3-9D4B-6AECFDBC1C5F}"/>
              </a:ext>
            </a:extLst>
          </p:cNvPr>
          <p:cNvSpPr>
            <a:spLocks xmlns:a="http://schemas.openxmlformats.org/drawingml/2006/main" noGrp="1"/>
          </p:cNvSpPr>
          <p:nvPr/>
        </p:nvSpPr>
        <p:spPr>
          <a:xfrm xmlns:a="http://schemas.openxmlformats.org/drawingml/2006/main">
            <a:off x="6572250" y="417195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Which wafers or die should receive deeper review?</a:t>
            </a:r>
          </a:p>
        </p:txBody>
      </p:sp>
      <p:sp>
        <p:nvSpPr>
          <p:cNvPr id="22" name="">
            <a:extLst xmlns:a="http://schemas.openxmlformats.org/drawingml/2006/main">
              <a:ext uri="{FF2B5EF4-FFF2-40B4-BE49-F238E27FC236}">
                <a16:creationId xmlns:a16="http://schemas.microsoft.com/office/drawing/2014/main" id="{C4792BCA-50A5-4B97-9EC6-E5481E5208A6}"/>
              </a:ext>
            </a:extLst>
          </p:cNvPr>
          <p:cNvSpPr>
            <a:spLocks xmlns:a="http://schemas.openxmlformats.org/drawingml/2006/main" noGrp="1"/>
          </p:cNvSpPr>
          <p:nvPr/>
        </p:nvSpPr>
        <p:spPr>
          <a:xfrm xmlns:a="http://schemas.openxmlformats.org/drawingml/2006/main">
            <a:off x="1428750" y="561975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70"/>
          </a:bodyPr>
          <a:lstStyle xmlns:a="http://schemas.openxmlformats.org/drawingml/2006/main"/>
          <a:p xmlns:a="http://schemas.openxmlformats.org/drawingml/2006/main">
            <a:pPr algn="ctr">
              <a:buNone/>
              <a:defRPr sz="1575" b="1">
                <a:solidFill>
                  <a:srgbClr val="A66B00"/>
                </a:solidFill>
                <a:latin typeface="Arial"/>
                <a:ea typeface="Arial"/>
                <a:cs typeface="Arial"/>
              </a:defRPr>
            </a:pPr>
            <a:r>
              <a:rPr sz="1575" b="1">
                <a:solidFill>
                  <a:srgbClr val="A66B00"/>
                </a:solidFill>
                <a:latin typeface="Arial"/>
                <a:ea typeface="Arial"/>
                <a:cs typeface="Arial"/>
              </a:rPr>
              <a:t>The tool supports correlation and prioritisation; any suggested process cause still requires engineering review and appropriate sample size.</a:t>
            </a:r>
          </a:p>
        </p:txBody>
      </p:sp>
    </p:spTree>
    <p:extLst>
      <p:ext uri="{BB962C8B-B14F-4D97-AF65-F5344CB8AC3E}">
        <p14:creationId xmlns:p14="http://schemas.microsoft.com/office/powerpoint/2010/main" val="100273090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32571E9-6800-420F-B889-D9BE3DC3F69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739803-0499-4E6B-A763-E1BE502A7DB2}"/>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6298C4-7068-40FD-9C8A-6E03EA8D34E9}"/>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1E02FF-8A99-44ED-A704-B22EA537BDA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46DD64-6B9D-4940-BE40-DA16917D1CE8}"/>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7904B9-18AC-4B90-BE1D-DEAB257F5CF3}"/>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A2A971-D1AD-4B3B-B7E1-74ACF0B33E0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A674C11C-B7C2-4E12-B20C-5256DE011488}"/>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AI Diagnostics: screen locally, interpret optionally</a:t>
            </a:r>
          </a:p>
        </p:txBody>
      </p:sp>
      <p:sp>
        <p:nvSpPr>
          <p:cNvPr id="9" name="">
            <a:extLst xmlns:a="http://schemas.openxmlformats.org/drawingml/2006/main">
              <a:ext uri="{FF2B5EF4-FFF2-40B4-BE49-F238E27FC236}">
                <a16:creationId xmlns:a16="http://schemas.microsoft.com/office/drawing/2014/main" id="{32894930-8D73-411A-9C6C-C923B1EE08BB}"/>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388C09-B037-4BEC-B386-9A649EDE403F}"/>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6F5F78C4-1EE5-4D9C-BC9B-0C11FFE3BBD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04</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a86051e11204399"/>
          <a:stretch xmlns:a="http://schemas.openxmlformats.org/drawingml/2006/main"/>
        </p:blipFill>
        <p:spPr>
          <a:xfrm xmlns:a="http://schemas.openxmlformats.org/drawingml/2006/main">
            <a:off x="533400" y="1913912"/>
            <a:ext cx="5067300" cy="2849201"/>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6c1b92c6c6a430f"/>
          <a:stretch xmlns:a="http://schemas.openxmlformats.org/drawingml/2006/main"/>
        </p:blipFill>
        <p:spPr>
          <a:xfrm xmlns:a="http://schemas.openxmlformats.org/drawingml/2006/main" flipH="0" flipV="0">
            <a:off x="6591300" y="1918453"/>
            <a:ext cx="5067300" cy="2840119"/>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F09F3B4-E7D8-4D2E-A757-9AD538C20BD9}"/>
              </a:ext>
            </a:extLst>
          </p:cNvPr>
          <p:cNvSpPr>
            <a:spLocks xmlns:a="http://schemas.openxmlformats.org/drawingml/2006/main" noGrp="1"/>
          </p:cNvSpPr>
          <p:nvPr/>
        </p:nvSpPr>
        <p:spPr>
          <a:xfrm xmlns:a="http://schemas.openxmlformats.org/drawingml/2006/main">
            <a:off x="533400" y="5067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66708D"/>
                </a:solidFill>
                <a:latin typeface="Arial"/>
                <a:ea typeface="Arial"/>
                <a:cs typeface="Arial"/>
              </a:defRPr>
            </a:pPr>
            <a:r>
              <a:rPr sz="1650" b="1">
                <a:solidFill>
                  <a:srgbClr val="66708D"/>
                </a:solidFill>
                <a:latin typeface="Arial"/>
                <a:ea typeface="Arial"/>
                <a:cs typeface="Arial"/>
              </a:rPr>
              <a:t>Local evidence</a:t>
            </a:r>
          </a:p>
        </p:txBody>
      </p:sp>
      <p:sp>
        <p:nvSpPr>
          <p:cNvPr id="15" name="">
            <a:extLst xmlns:a="http://schemas.openxmlformats.org/drawingml/2006/main">
              <a:ext uri="{FF2B5EF4-FFF2-40B4-BE49-F238E27FC236}">
                <a16:creationId xmlns:a16="http://schemas.microsoft.com/office/drawing/2014/main" id="{6A85628F-2179-4F0B-88F5-0C23C3BB259E}"/>
              </a:ext>
            </a:extLst>
          </p:cNvPr>
          <p:cNvSpPr>
            <a:spLocks xmlns:a="http://schemas.openxmlformats.org/drawingml/2006/main" noGrp="1"/>
          </p:cNvSpPr>
          <p:nvPr/>
        </p:nvSpPr>
        <p:spPr>
          <a:xfrm xmlns:a="http://schemas.openxmlformats.org/drawingml/2006/main">
            <a:off x="6591300" y="5067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8258A"/>
                </a:solidFill>
                <a:latin typeface="Arial"/>
                <a:ea typeface="Arial"/>
                <a:cs typeface="Arial"/>
              </a:defRPr>
            </a:pPr>
            <a:r>
              <a:rPr sz="1650" b="1">
                <a:solidFill>
                  <a:srgbClr val="38258A"/>
                </a:solidFill>
                <a:latin typeface="Arial"/>
                <a:ea typeface="Arial"/>
                <a:cs typeface="Arial"/>
              </a:rPr>
              <a:t>AI Diagnostics v0.5.0</a:t>
            </a:r>
          </a:p>
        </p:txBody>
      </p:sp>
      <p:sp>
        <p:nvSpPr>
          <p:cNvPr id="16" name="">
            <a:extLst xmlns:a="http://schemas.openxmlformats.org/drawingml/2006/main">
              <a:ext uri="{FF2B5EF4-FFF2-40B4-BE49-F238E27FC236}">
                <a16:creationId xmlns:a16="http://schemas.microsoft.com/office/drawing/2014/main" id="{8AF81A81-4D17-49F5-91F8-597F0EB340EA}"/>
              </a:ext>
            </a:extLst>
          </p:cNvPr>
          <p:cNvSpPr>
            <a:spLocks xmlns:a="http://schemas.openxmlformats.org/drawingml/2006/main" noGrp="1"/>
          </p:cNvSpPr>
          <p:nvPr/>
        </p:nvSpPr>
        <p:spPr>
          <a:xfrm xmlns:a="http://schemas.openxmlformats.org/drawingml/2006/main">
            <a:off x="2952750" y="5715000"/>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704"/>
          </a:bodyPr>
          <a:lstStyle xmlns:a="http://schemas.openxmlformats.org/drawingml/2006/main"/>
          <a:p xmlns:a="http://schemas.openxmlformats.org/drawingml/2006/main">
            <a:pPr algn="ctr">
              <a:buNone/>
              <a:defRPr sz="1350" b="1">
                <a:solidFill>
                  <a:srgbClr val="111A3B"/>
                </a:solidFill>
                <a:latin typeface="Arial"/>
                <a:ea typeface="Arial"/>
                <a:cs typeface="Arial"/>
              </a:defRPr>
            </a:pPr>
            <a:r>
              <a:rPr sz="1350" b="1">
                <a:solidFill>
                  <a:srgbClr val="111A3B"/>
                </a:solidFill>
                <a:latin typeface="Arial"/>
                <a:ea typeface="Arial"/>
                <a:cs typeface="Arial"/>
              </a:rPr>
              <a:t>Outcome: compact metrics and flagged evidence are sent—not complete raw spectra; every proposed cause still requires verification.</a:t>
            </a:r>
          </a:p>
        </p:txBody>
      </p:sp>
    </p:spTree>
    <p:extLst>
      <p:ext uri="{BB962C8B-B14F-4D97-AF65-F5344CB8AC3E}">
        <p14:creationId xmlns:p14="http://schemas.microsoft.com/office/powerpoint/2010/main" val="4088928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64ECBA6-4FC0-41AD-9C9C-5B7AF870B194}"/>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B1583C-FD53-47EF-8EC7-B4D082DCD125}"/>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3BA251-1E9D-4B38-BCF3-C5DAC52ECD9D}"/>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FEFE05A-079E-41EE-9132-AF0E30B82639}"/>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0935EF-5C3D-4697-A6BD-B2A7A0C9A333}"/>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314A2-220C-4A66-91C0-F101AEC2A861}"/>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7AB51A-243E-496D-B0C1-BB87B21568A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A078F1F3-B276-4B5D-AE6A-0F84A86A0C9C}"/>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Choose models to match cost and review depth</a:t>
            </a:r>
          </a:p>
        </p:txBody>
      </p:sp>
      <p:sp>
        <p:nvSpPr>
          <p:cNvPr id="9" name="">
            <a:extLst xmlns:a="http://schemas.openxmlformats.org/drawingml/2006/main">
              <a:ext uri="{FF2B5EF4-FFF2-40B4-BE49-F238E27FC236}">
                <a16:creationId xmlns:a16="http://schemas.microsoft.com/office/drawing/2014/main" id="{E3152EB8-C059-4504-B004-BE36FCA2E261}"/>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B446E4-F681-4CD4-A134-B1810B85A7C9}"/>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678ED9F9-3678-4CD1-BBD8-8B9771A6BD3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11</a:t>
            </a:r>
          </a:p>
        </p:txBody>
      </p:sp>
      <p:sp>
        <p:nvSpPr>
          <p:cNvPr id="12" name="">
            <a:extLst xmlns:a="http://schemas.openxmlformats.org/drawingml/2006/main">
              <a:ext uri="{FF2B5EF4-FFF2-40B4-BE49-F238E27FC236}">
                <a16:creationId xmlns:a16="http://schemas.microsoft.com/office/drawing/2014/main" id="{EFA9F4A1-B494-46EC-B5F1-39BAA69CED90}"/>
              </a:ext>
            </a:extLst>
          </p:cNvPr>
          <p:cNvSpPr>
            <a:spLocks xmlns:a="http://schemas.openxmlformats.org/drawingml/2006/main" noGrp="1"/>
          </p:cNvSpPr>
          <p:nvPr/>
        </p:nvSpPr>
        <p:spPr>
          <a:xfrm xmlns:a="http://schemas.openxmlformats.org/drawingml/2006/main">
            <a:off x="53340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Routine default</a:t>
            </a:r>
          </a:p>
        </p:txBody>
      </p:sp>
      <p:sp>
        <p:nvSpPr>
          <p:cNvPr id="13" name="">
            <a:extLst xmlns:a="http://schemas.openxmlformats.org/drawingml/2006/main">
              <a:ext uri="{FF2B5EF4-FFF2-40B4-BE49-F238E27FC236}">
                <a16:creationId xmlns:a16="http://schemas.microsoft.com/office/drawing/2014/main" id="{B8A284FC-CAF9-43BF-A769-73B5E0999B33}"/>
              </a:ext>
            </a:extLst>
          </p:cNvPr>
          <p:cNvSpPr>
            <a:spLocks xmlns:a="http://schemas.openxmlformats.org/drawingml/2006/main" noGrp="1"/>
          </p:cNvSpPr>
          <p:nvPr/>
        </p:nvSpPr>
        <p:spPr>
          <a:xfrm xmlns:a="http://schemas.openxmlformats.org/drawingml/2006/main">
            <a:off x="53340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B061A7-3E27-4A91-B068-FF726D79DB52}"/>
              </a:ext>
            </a:extLst>
          </p:cNvPr>
          <p:cNvSpPr>
            <a:spLocks xmlns:a="http://schemas.openxmlformats.org/drawingml/2006/main" noGrp="1"/>
          </p:cNvSpPr>
          <p:nvPr/>
        </p:nvSpPr>
        <p:spPr>
          <a:xfrm xmlns:a="http://schemas.openxmlformats.org/drawingml/2006/main">
            <a:off x="53340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Gemini 3.1 Flash-Lite
Lowest implemented unit price; 900-token app ceiling.</a:t>
            </a:r>
          </a:p>
        </p:txBody>
      </p:sp>
      <p:sp>
        <p:nvSpPr>
          <p:cNvPr id="15" name="">
            <a:extLst xmlns:a="http://schemas.openxmlformats.org/drawingml/2006/main">
              <a:ext uri="{FF2B5EF4-FFF2-40B4-BE49-F238E27FC236}">
                <a16:creationId xmlns:a16="http://schemas.microsoft.com/office/drawing/2014/main" id="{3FED64A6-FF3B-4E9B-805E-1CEB4481BACD}"/>
              </a:ext>
            </a:extLst>
          </p:cNvPr>
          <p:cNvSpPr>
            <a:spLocks xmlns:a="http://schemas.openxmlformats.org/drawingml/2006/main" noGrp="1"/>
          </p:cNvSpPr>
          <p:nvPr/>
        </p:nvSpPr>
        <p:spPr>
          <a:xfrm xmlns:a="http://schemas.openxmlformats.org/drawingml/2006/main">
            <a:off x="424815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Shortest response</a:t>
            </a:r>
          </a:p>
        </p:txBody>
      </p:sp>
      <p:sp>
        <p:nvSpPr>
          <p:cNvPr id="16" name="">
            <a:extLst xmlns:a="http://schemas.openxmlformats.org/drawingml/2006/main">
              <a:ext uri="{FF2B5EF4-FFF2-40B4-BE49-F238E27FC236}">
                <a16:creationId xmlns:a16="http://schemas.microsoft.com/office/drawing/2014/main" id="{22B349D5-551A-4D72-BBE1-28A76328812F}"/>
              </a:ext>
            </a:extLst>
          </p:cNvPr>
          <p:cNvSpPr>
            <a:spLocks xmlns:a="http://schemas.openxmlformats.org/drawingml/2006/main" noGrp="1"/>
          </p:cNvSpPr>
          <p:nvPr/>
        </p:nvSpPr>
        <p:spPr>
          <a:xfrm xmlns:a="http://schemas.openxmlformats.org/drawingml/2006/main">
            <a:off x="424815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3CA11B-7E20-42DF-8147-C252BECF8308}"/>
              </a:ext>
            </a:extLst>
          </p:cNvPr>
          <p:cNvSpPr>
            <a:spLocks xmlns:a="http://schemas.openxmlformats.org/drawingml/2006/main" noGrp="1"/>
          </p:cNvSpPr>
          <p:nvPr/>
        </p:nvSpPr>
        <p:spPr>
          <a:xfrm xmlns:a="http://schemas.openxmlformats.org/drawingml/2006/main">
            <a:off x="424815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Gemini 3.5 Flash-Lite
700-token ceiling for concise summaries.</a:t>
            </a:r>
          </a:p>
        </p:txBody>
      </p:sp>
      <p:sp>
        <p:nvSpPr>
          <p:cNvPr id="18" name="">
            <a:extLst xmlns:a="http://schemas.openxmlformats.org/drawingml/2006/main">
              <a:ext uri="{FF2B5EF4-FFF2-40B4-BE49-F238E27FC236}">
                <a16:creationId xmlns:a16="http://schemas.microsoft.com/office/drawing/2014/main" id="{5531B684-7AA0-4B89-91CB-92FBD8848E6E}"/>
              </a:ext>
            </a:extLst>
          </p:cNvPr>
          <p:cNvSpPr>
            <a:spLocks xmlns:a="http://schemas.openxmlformats.org/drawingml/2006/main" noGrp="1"/>
          </p:cNvSpPr>
          <p:nvPr/>
        </p:nvSpPr>
        <p:spPr>
          <a:xfrm xmlns:a="http://schemas.openxmlformats.org/drawingml/2006/main">
            <a:off x="796290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Escalation</a:t>
            </a:r>
          </a:p>
        </p:txBody>
      </p:sp>
      <p:sp>
        <p:nvSpPr>
          <p:cNvPr id="19" name="">
            <a:extLst xmlns:a="http://schemas.openxmlformats.org/drawingml/2006/main">
              <a:ext uri="{FF2B5EF4-FFF2-40B4-BE49-F238E27FC236}">
                <a16:creationId xmlns:a16="http://schemas.microsoft.com/office/drawing/2014/main" id="{49186640-F352-43AA-97E2-1618586B170E}"/>
              </a:ext>
            </a:extLst>
          </p:cNvPr>
          <p:cNvSpPr>
            <a:spLocks xmlns:a="http://schemas.openxmlformats.org/drawingml/2006/main" noGrp="1"/>
          </p:cNvSpPr>
          <p:nvPr/>
        </p:nvSpPr>
        <p:spPr>
          <a:xfrm xmlns:a="http://schemas.openxmlformats.org/drawingml/2006/main">
            <a:off x="796290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7C2607-9512-4E7D-8E35-65F54ACD6F6B}"/>
              </a:ext>
            </a:extLst>
          </p:cNvPr>
          <p:cNvSpPr>
            <a:spLocks xmlns:a="http://schemas.openxmlformats.org/drawingml/2006/main" noGrp="1"/>
          </p:cNvSpPr>
          <p:nvPr/>
        </p:nvSpPr>
        <p:spPr>
          <a:xfrm xmlns:a="http://schemas.openxmlformats.org/drawingml/2006/main">
            <a:off x="796290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Gemini 3.6 / 3.7 Flash
Use for difficult cases; 3.7 has a 1,400-token ceiling.</a:t>
            </a:r>
          </a:p>
        </p:txBody>
      </p:sp>
      <p:sp>
        <p:nvSpPr>
          <p:cNvPr id="21" name="">
            <a:extLst xmlns:a="http://schemas.openxmlformats.org/drawingml/2006/main">
              <a:ext uri="{FF2B5EF4-FFF2-40B4-BE49-F238E27FC236}">
                <a16:creationId xmlns:a16="http://schemas.microsoft.com/office/drawing/2014/main" id="{B428E703-EBF4-4993-9A9D-E0D0A5A5AA74}"/>
              </a:ext>
            </a:extLst>
          </p:cNvPr>
          <p:cNvSpPr>
            <a:spLocks xmlns:a="http://schemas.openxmlformats.org/drawingml/2006/main" noGrp="1"/>
          </p:cNvSpPr>
          <p:nvPr/>
        </p:nvSpPr>
        <p:spPr>
          <a:xfrm xmlns:a="http://schemas.openxmlformats.org/drawingml/2006/main">
            <a:off x="1257300" y="5334000"/>
            <a:ext cx="967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1">
                <a:solidFill>
                  <a:srgbClr val="111A3B"/>
                </a:solidFill>
                <a:latin typeface="Arial"/>
                <a:ea typeface="Arial"/>
                <a:cs typeface="Arial"/>
              </a:defRPr>
            </a:pPr>
            <a:r>
              <a:rPr sz="1950" b="1">
                <a:solidFill>
                  <a:srgbClr val="111A3B"/>
                </a:solidFill>
                <a:latin typeface="Arial"/>
                <a:ea typeface="Arial"/>
                <a:cs typeface="Arial"/>
              </a:rPr>
              <a:t>Outcome: start with 3.1 Flash-Lite; compare difficult cases against verified engineering labels before changing the default.</a:t>
            </a:r>
          </a:p>
        </p:txBody>
      </p:sp>
    </p:spTree>
    <p:extLst>
      <p:ext uri="{BB962C8B-B14F-4D97-AF65-F5344CB8AC3E}">
        <p14:creationId xmlns:p14="http://schemas.microsoft.com/office/powerpoint/2010/main" val="149084902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B03BB7E-EAF5-447E-8107-8669CCD60127}"/>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175501-E633-4D15-A47D-084EB595F890}"/>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61C963-E5F1-4305-9A6C-342A3882A16C}"/>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3851E3-2883-41E3-B2B0-760D1D0C1DD5}"/>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57496D-72A3-4B51-85EE-B5B6E92030C0}"/>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4899D42-BCFB-493F-9A7B-2762885D46B7}"/>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04BC62-2371-4512-919E-3DF351E1906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DEVELOPMENT TIMELINE</a:t>
            </a:r>
          </a:p>
        </p:txBody>
      </p:sp>
      <p:sp>
        <p:nvSpPr>
          <p:cNvPr id="8" name="">
            <a:extLst xmlns:a="http://schemas.openxmlformats.org/drawingml/2006/main">
              <a:ext uri="{FF2B5EF4-FFF2-40B4-BE49-F238E27FC236}">
                <a16:creationId xmlns:a16="http://schemas.microsoft.com/office/drawing/2014/main" id="{646F5787-2441-4568-8D84-9DF41064F835}"/>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62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The suite moved from idea to a validated v0.5.0 candidate in nine weeks</a:t>
            </a:r>
          </a:p>
        </p:txBody>
      </p:sp>
      <p:sp>
        <p:nvSpPr>
          <p:cNvPr id="9" name="">
            <a:extLst xmlns:a="http://schemas.openxmlformats.org/drawingml/2006/main">
              <a:ext uri="{FF2B5EF4-FFF2-40B4-BE49-F238E27FC236}">
                <a16:creationId xmlns:a16="http://schemas.microsoft.com/office/drawing/2014/main" id="{F3A40A6D-375A-457C-87CD-E6CB9868AEDE}"/>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4EBD2C-DBC3-426B-9CED-B41F254E8CE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B8813266-0909-441B-9185-E65789AD8534}"/>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72A59887-81F3-4BA6-BEA2-072EF9BF27B7}"/>
              </a:ext>
            </a:extLst>
          </p:cNvPr>
          <p:cNvSpPr>
            <a:spLocks xmlns:a="http://schemas.openxmlformats.org/drawingml/2006/main" noGrp="1"/>
          </p:cNvSpPr>
          <p:nvPr/>
        </p:nvSpPr>
        <p:spPr>
          <a:xfrm xmlns:a="http://schemas.openxmlformats.org/drawingml/2006/main">
            <a:off x="819150" y="3333750"/>
            <a:ext cx="1055370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B4EA67-AF6B-47D8-A431-CF513950AA6E}"/>
              </a:ext>
            </a:extLst>
          </p:cNvPr>
          <p:cNvSpPr>
            <a:spLocks xmlns:a="http://schemas.openxmlformats.org/drawingml/2006/main" noGrp="1"/>
          </p:cNvSpPr>
          <p:nvPr/>
        </p:nvSpPr>
        <p:spPr>
          <a:xfrm xmlns:a="http://schemas.openxmlformats.org/drawingml/2006/main">
            <a:off x="8191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BCD4EE-CC48-4906-B10F-8A6577DA3740}"/>
              </a:ext>
            </a:extLst>
          </p:cNvPr>
          <p:cNvSpPr>
            <a:spLocks xmlns:a="http://schemas.openxmlformats.org/drawingml/2006/main" noGrp="1"/>
          </p:cNvSpPr>
          <p:nvPr/>
        </p:nvSpPr>
        <p:spPr>
          <a:xfrm xmlns:a="http://schemas.openxmlformats.org/drawingml/2006/main">
            <a:off x="704850" y="1714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25 JUN</a:t>
            </a:r>
          </a:p>
        </p:txBody>
      </p:sp>
      <p:sp>
        <p:nvSpPr>
          <p:cNvPr id="15" name="">
            <a:extLst xmlns:a="http://schemas.openxmlformats.org/drawingml/2006/main">
              <a:ext uri="{FF2B5EF4-FFF2-40B4-BE49-F238E27FC236}">
                <a16:creationId xmlns:a16="http://schemas.microsoft.com/office/drawing/2014/main" id="{20932A55-3E94-4FAE-89BB-03C5F419289D}"/>
              </a:ext>
            </a:extLst>
          </p:cNvPr>
          <p:cNvSpPr>
            <a:spLocks xmlns:a="http://schemas.openxmlformats.org/drawingml/2006/main" noGrp="1"/>
          </p:cNvSpPr>
          <p:nvPr/>
        </p:nvSpPr>
        <p:spPr>
          <a:xfrm xmlns:a="http://schemas.openxmlformats.org/drawingml/2006/main">
            <a:off x="704850" y="20383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Idea and repository</a:t>
            </a:r>
          </a:p>
        </p:txBody>
      </p:sp>
      <p:sp>
        <p:nvSpPr>
          <p:cNvPr id="16" name="">
            <a:extLst xmlns:a="http://schemas.openxmlformats.org/drawingml/2006/main">
              <a:ext uri="{FF2B5EF4-FFF2-40B4-BE49-F238E27FC236}">
                <a16:creationId xmlns:a16="http://schemas.microsoft.com/office/drawing/2014/main" id="{2C442CAD-9F76-4C03-B3C6-EA267EDC1382}"/>
              </a:ext>
            </a:extLst>
          </p:cNvPr>
          <p:cNvSpPr>
            <a:spLocks xmlns:a="http://schemas.openxmlformats.org/drawingml/2006/main" noGrp="1"/>
          </p:cNvSpPr>
          <p:nvPr/>
        </p:nvSpPr>
        <p:spPr>
          <a:xfrm xmlns:a="http://schemas.openxmlformats.org/drawingml/2006/main">
            <a:off x="704850" y="26670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Initial structure and connection test</a:t>
            </a:r>
          </a:p>
        </p:txBody>
      </p:sp>
      <p:sp>
        <p:nvSpPr>
          <p:cNvPr id="17" name="">
            <a:extLst xmlns:a="http://schemas.openxmlformats.org/drawingml/2006/main">
              <a:ext uri="{FF2B5EF4-FFF2-40B4-BE49-F238E27FC236}">
                <a16:creationId xmlns:a16="http://schemas.microsoft.com/office/drawing/2014/main" id="{BBCE2A92-27B8-42FA-BC99-7287CAA6ED21}"/>
              </a:ext>
            </a:extLst>
          </p:cNvPr>
          <p:cNvSpPr>
            <a:spLocks xmlns:a="http://schemas.openxmlformats.org/drawingml/2006/main" noGrp="1"/>
          </p:cNvSpPr>
          <p:nvPr/>
        </p:nvSpPr>
        <p:spPr>
          <a:xfrm xmlns:a="http://schemas.openxmlformats.org/drawingml/2006/main">
            <a:off x="27622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31421D-915C-4707-B841-4EE6C4EF66E2}"/>
              </a:ext>
            </a:extLst>
          </p:cNvPr>
          <p:cNvSpPr>
            <a:spLocks xmlns:a="http://schemas.openxmlformats.org/drawingml/2006/main" noGrp="1"/>
          </p:cNvSpPr>
          <p:nvPr/>
        </p:nvSpPr>
        <p:spPr>
          <a:xfrm xmlns:a="http://schemas.openxmlformats.org/drawingml/2006/main">
            <a:off x="2647950" y="3733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26–30 JUN</a:t>
            </a:r>
          </a:p>
        </p:txBody>
      </p:sp>
      <p:sp>
        <p:nvSpPr>
          <p:cNvPr id="19" name="">
            <a:extLst xmlns:a="http://schemas.openxmlformats.org/drawingml/2006/main">
              <a:ext uri="{FF2B5EF4-FFF2-40B4-BE49-F238E27FC236}">
                <a16:creationId xmlns:a16="http://schemas.microsoft.com/office/drawing/2014/main" id="{7BEEA24C-915B-4DFC-B085-AD1AD92B75C4}"/>
              </a:ext>
            </a:extLst>
          </p:cNvPr>
          <p:cNvSpPr>
            <a:spLocks xmlns:a="http://schemas.openxmlformats.org/drawingml/2006/main" noGrp="1"/>
          </p:cNvSpPr>
          <p:nvPr/>
        </p:nvSpPr>
        <p:spPr>
          <a:xfrm xmlns:a="http://schemas.openxmlformats.org/drawingml/2006/main">
            <a:off x="2647950" y="40576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Core web workflow</a:t>
            </a:r>
          </a:p>
        </p:txBody>
      </p:sp>
      <p:sp>
        <p:nvSpPr>
          <p:cNvPr id="20" name="">
            <a:extLst xmlns:a="http://schemas.openxmlformats.org/drawingml/2006/main">
              <a:ext uri="{FF2B5EF4-FFF2-40B4-BE49-F238E27FC236}">
                <a16:creationId xmlns:a16="http://schemas.microsoft.com/office/drawing/2014/main" id="{B6430F2D-1266-4199-A422-9C3F96512995}"/>
              </a:ext>
            </a:extLst>
          </p:cNvPr>
          <p:cNvSpPr>
            <a:spLocks xmlns:a="http://schemas.openxmlformats.org/drawingml/2006/main" noGrp="1"/>
          </p:cNvSpPr>
          <p:nvPr/>
        </p:nvSpPr>
        <p:spPr>
          <a:xfrm xmlns:a="http://schemas.openxmlformats.org/drawingml/2006/main">
            <a:off x="2647950" y="46863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Pages deployment, WST loading, wafermap and interactive charts</a:t>
            </a:r>
          </a:p>
        </p:txBody>
      </p:sp>
      <p:sp>
        <p:nvSpPr>
          <p:cNvPr id="21" name="">
            <a:extLst xmlns:a="http://schemas.openxmlformats.org/drawingml/2006/main">
              <a:ext uri="{FF2B5EF4-FFF2-40B4-BE49-F238E27FC236}">
                <a16:creationId xmlns:a16="http://schemas.microsoft.com/office/drawing/2014/main" id="{23C3500F-1BD5-4382-8A2F-89F0A0C0E996}"/>
              </a:ext>
            </a:extLst>
          </p:cNvPr>
          <p:cNvSpPr>
            <a:spLocks xmlns:a="http://schemas.openxmlformats.org/drawingml/2006/main" noGrp="1"/>
          </p:cNvSpPr>
          <p:nvPr/>
        </p:nvSpPr>
        <p:spPr>
          <a:xfrm xmlns:a="http://schemas.openxmlformats.org/drawingml/2006/main">
            <a:off x="47053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E3916B5-4564-47C6-9A5D-A33C9E51DF9B}"/>
              </a:ext>
            </a:extLst>
          </p:cNvPr>
          <p:cNvSpPr>
            <a:spLocks xmlns:a="http://schemas.openxmlformats.org/drawingml/2006/main" noGrp="1"/>
          </p:cNvSpPr>
          <p:nvPr/>
        </p:nvSpPr>
        <p:spPr>
          <a:xfrm xmlns:a="http://schemas.openxmlformats.org/drawingml/2006/main">
            <a:off x="4591050" y="1714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06–29 JUL</a:t>
            </a:r>
          </a:p>
        </p:txBody>
      </p:sp>
      <p:sp>
        <p:nvSpPr>
          <p:cNvPr id="23" name="">
            <a:extLst xmlns:a="http://schemas.openxmlformats.org/drawingml/2006/main">
              <a:ext uri="{FF2B5EF4-FFF2-40B4-BE49-F238E27FC236}">
                <a16:creationId xmlns:a16="http://schemas.microsoft.com/office/drawing/2014/main" id="{681EED92-9EEA-465A-9178-672AE06979FB}"/>
              </a:ext>
            </a:extLst>
          </p:cNvPr>
          <p:cNvSpPr>
            <a:spLocks xmlns:a="http://schemas.openxmlformats.org/drawingml/2006/main" noGrp="1"/>
          </p:cNvSpPr>
          <p:nvPr/>
        </p:nvSpPr>
        <p:spPr>
          <a:xfrm xmlns:a="http://schemas.openxmlformats.org/drawingml/2006/main">
            <a:off x="4591050" y="20383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Library expansion</a:t>
            </a:r>
          </a:p>
        </p:txBody>
      </p:sp>
      <p:sp>
        <p:nvSpPr>
          <p:cNvPr id="24" name="">
            <a:extLst xmlns:a="http://schemas.openxmlformats.org/drawingml/2006/main">
              <a:ext uri="{FF2B5EF4-FFF2-40B4-BE49-F238E27FC236}">
                <a16:creationId xmlns:a16="http://schemas.microsoft.com/office/drawing/2014/main" id="{2EF9DDDB-F938-4D46-8121-C86FA3226352}"/>
              </a:ext>
            </a:extLst>
          </p:cNvPr>
          <p:cNvSpPr>
            <a:spLocks xmlns:a="http://schemas.openxmlformats.org/drawingml/2006/main" noGrp="1"/>
          </p:cNvSpPr>
          <p:nvPr/>
        </p:nvSpPr>
        <p:spPr>
          <a:xfrm xmlns:a="http://schemas.openxmlformats.org/drawingml/2006/main">
            <a:off x="4591050" y="26670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Comparison, conversion and spectrum analysis</a:t>
            </a:r>
          </a:p>
        </p:txBody>
      </p:sp>
      <p:sp>
        <p:nvSpPr>
          <p:cNvPr id="25" name="">
            <a:extLst xmlns:a="http://schemas.openxmlformats.org/drawingml/2006/main">
              <a:ext uri="{FF2B5EF4-FFF2-40B4-BE49-F238E27FC236}">
                <a16:creationId xmlns:a16="http://schemas.microsoft.com/office/drawing/2014/main" id="{AD80D96F-9549-49E3-BD43-100D039B0DDF}"/>
              </a:ext>
            </a:extLst>
          </p:cNvPr>
          <p:cNvSpPr>
            <a:spLocks xmlns:a="http://schemas.openxmlformats.org/drawingml/2006/main" noGrp="1"/>
          </p:cNvSpPr>
          <p:nvPr/>
        </p:nvSpPr>
        <p:spPr>
          <a:xfrm xmlns:a="http://schemas.openxmlformats.org/drawingml/2006/main">
            <a:off x="66484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4E627D0-628D-4F5E-B604-4A278A27D734}"/>
              </a:ext>
            </a:extLst>
          </p:cNvPr>
          <p:cNvSpPr>
            <a:spLocks xmlns:a="http://schemas.openxmlformats.org/drawingml/2006/main" noGrp="1"/>
          </p:cNvSpPr>
          <p:nvPr/>
        </p:nvSpPr>
        <p:spPr>
          <a:xfrm xmlns:a="http://schemas.openxmlformats.org/drawingml/2006/main">
            <a:off x="6534150" y="3733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11–17 AUG</a:t>
            </a:r>
          </a:p>
        </p:txBody>
      </p:sp>
      <p:sp>
        <p:nvSpPr>
          <p:cNvPr id="27" name="">
            <a:extLst xmlns:a="http://schemas.openxmlformats.org/drawingml/2006/main">
              <a:ext uri="{FF2B5EF4-FFF2-40B4-BE49-F238E27FC236}">
                <a16:creationId xmlns:a16="http://schemas.microsoft.com/office/drawing/2014/main" id="{D9CA4D34-257E-44AC-9A92-299E9903A644}"/>
              </a:ext>
            </a:extLst>
          </p:cNvPr>
          <p:cNvSpPr>
            <a:spLocks xmlns:a="http://schemas.openxmlformats.org/drawingml/2006/main" noGrp="1"/>
          </p:cNvSpPr>
          <p:nvPr/>
        </p:nvSpPr>
        <p:spPr>
          <a:xfrm xmlns:a="http://schemas.openxmlformats.org/drawingml/2006/main">
            <a:off x="6534150" y="40576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Data and analysis depth</a:t>
            </a:r>
          </a:p>
        </p:txBody>
      </p:sp>
      <p:sp>
        <p:nvSpPr>
          <p:cNvPr id="28" name="">
            <a:extLst xmlns:a="http://schemas.openxmlformats.org/drawingml/2006/main">
              <a:ext uri="{FF2B5EF4-FFF2-40B4-BE49-F238E27FC236}">
                <a16:creationId xmlns:a16="http://schemas.microsoft.com/office/drawing/2014/main" id="{3A7A98DA-91E7-4B5C-9CA8-F0AF91F6C7BA}"/>
              </a:ext>
            </a:extLst>
          </p:cNvPr>
          <p:cNvSpPr>
            <a:spLocks xmlns:a="http://schemas.openxmlformats.org/drawingml/2006/main" noGrp="1"/>
          </p:cNvSpPr>
          <p:nvPr/>
        </p:nvSpPr>
        <p:spPr>
          <a:xfrm xmlns:a="http://schemas.openxmlformats.org/drawingml/2006/main">
            <a:off x="6534150" y="46863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153"/>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Filename fixes, CD-SEM, dashboard and advanced spectrum controls</a:t>
            </a:r>
          </a:p>
        </p:txBody>
      </p:sp>
      <p:sp>
        <p:nvSpPr>
          <p:cNvPr id="29" name="">
            <a:extLst xmlns:a="http://schemas.openxmlformats.org/drawingml/2006/main">
              <a:ext uri="{FF2B5EF4-FFF2-40B4-BE49-F238E27FC236}">
                <a16:creationId xmlns:a16="http://schemas.microsoft.com/office/drawing/2014/main" id="{44BBDBFC-DF6E-4AAB-B864-3A5151DF6F0A}"/>
              </a:ext>
            </a:extLst>
          </p:cNvPr>
          <p:cNvSpPr>
            <a:spLocks xmlns:a="http://schemas.openxmlformats.org/drawingml/2006/main" noGrp="1"/>
          </p:cNvSpPr>
          <p:nvPr/>
        </p:nvSpPr>
        <p:spPr>
          <a:xfrm xmlns:a="http://schemas.openxmlformats.org/drawingml/2006/main">
            <a:off x="85915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9BCE38B-9E61-47CE-8DD6-9178D2687C8A}"/>
              </a:ext>
            </a:extLst>
          </p:cNvPr>
          <p:cNvSpPr>
            <a:spLocks xmlns:a="http://schemas.openxmlformats.org/drawingml/2006/main" noGrp="1"/>
          </p:cNvSpPr>
          <p:nvPr/>
        </p:nvSpPr>
        <p:spPr>
          <a:xfrm xmlns:a="http://schemas.openxmlformats.org/drawingml/2006/main">
            <a:off x="8477250" y="1714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19–20 AUG</a:t>
            </a:r>
          </a:p>
        </p:txBody>
      </p:sp>
      <p:sp>
        <p:nvSpPr>
          <p:cNvPr id="31" name="">
            <a:extLst xmlns:a="http://schemas.openxmlformats.org/drawingml/2006/main">
              <a:ext uri="{FF2B5EF4-FFF2-40B4-BE49-F238E27FC236}">
                <a16:creationId xmlns:a16="http://schemas.microsoft.com/office/drawing/2014/main" id="{0EA8DF95-6DF5-439A-9828-B8D6AFC8E726}"/>
              </a:ext>
            </a:extLst>
          </p:cNvPr>
          <p:cNvSpPr>
            <a:spLocks xmlns:a="http://schemas.openxmlformats.org/drawingml/2006/main" noGrp="1"/>
          </p:cNvSpPr>
          <p:nvPr/>
        </p:nvSpPr>
        <p:spPr>
          <a:xfrm xmlns:a="http://schemas.openxmlformats.org/drawingml/2006/main">
            <a:off x="8477250" y="20383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Reporting + dataset ops</a:t>
            </a:r>
          </a:p>
        </p:txBody>
      </p:sp>
      <p:sp>
        <p:nvSpPr>
          <p:cNvPr id="32" name="">
            <a:extLst xmlns:a="http://schemas.openxmlformats.org/drawingml/2006/main">
              <a:ext uri="{FF2B5EF4-FFF2-40B4-BE49-F238E27FC236}">
                <a16:creationId xmlns:a16="http://schemas.microsoft.com/office/drawing/2014/main" id="{7936C3E5-8DEA-46A5-A7E9-B3F16EE9DD5F}"/>
              </a:ext>
            </a:extLst>
          </p:cNvPr>
          <p:cNvSpPr>
            <a:spLocks xmlns:a="http://schemas.openxmlformats.org/drawingml/2006/main" noGrp="1"/>
          </p:cNvSpPr>
          <p:nvPr/>
        </p:nvSpPr>
        <p:spPr>
          <a:xfrm xmlns:a="http://schemas.openxmlformats.org/drawingml/2006/main">
            <a:off x="8477250" y="26670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Analytics, deletion and report-export fixes</a:t>
            </a:r>
          </a:p>
        </p:txBody>
      </p:sp>
      <p:sp>
        <p:nvSpPr>
          <p:cNvPr id="33" name="">
            <a:extLst xmlns:a="http://schemas.openxmlformats.org/drawingml/2006/main">
              <a:ext uri="{FF2B5EF4-FFF2-40B4-BE49-F238E27FC236}">
                <a16:creationId xmlns:a16="http://schemas.microsoft.com/office/drawing/2014/main" id="{91A252A8-9F5C-4C89-A437-E40059A1636B}"/>
              </a:ext>
            </a:extLst>
          </p:cNvPr>
          <p:cNvSpPr>
            <a:spLocks xmlns:a="http://schemas.openxmlformats.org/drawingml/2006/main" noGrp="1"/>
          </p:cNvSpPr>
          <p:nvPr/>
        </p:nvSpPr>
        <p:spPr>
          <a:xfrm xmlns:a="http://schemas.openxmlformats.org/drawingml/2006/main">
            <a:off x="10534650" y="3238500"/>
            <a:ext cx="209550" cy="2095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8912A10-C320-457F-8D1E-399E84118637}"/>
              </a:ext>
            </a:extLst>
          </p:cNvPr>
          <p:cNvSpPr>
            <a:spLocks xmlns:a="http://schemas.openxmlformats.org/drawingml/2006/main" noGrp="1"/>
          </p:cNvSpPr>
          <p:nvPr/>
        </p:nvSpPr>
        <p:spPr>
          <a:xfrm xmlns:a="http://schemas.openxmlformats.org/drawingml/2006/main">
            <a:off x="10420350" y="3733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21–27 AUG</a:t>
            </a:r>
          </a:p>
        </p:txBody>
      </p:sp>
      <p:sp>
        <p:nvSpPr>
          <p:cNvPr id="35" name="">
            <a:extLst xmlns:a="http://schemas.openxmlformats.org/drawingml/2006/main">
              <a:ext uri="{FF2B5EF4-FFF2-40B4-BE49-F238E27FC236}">
                <a16:creationId xmlns:a16="http://schemas.microsoft.com/office/drawing/2014/main" id="{9AB8835E-696C-480E-A148-F23B9F14088B}"/>
              </a:ext>
            </a:extLst>
          </p:cNvPr>
          <p:cNvSpPr>
            <a:spLocks xmlns:a="http://schemas.openxmlformats.org/drawingml/2006/main" noGrp="1"/>
          </p:cNvSpPr>
          <p:nvPr/>
        </p:nvSpPr>
        <p:spPr>
          <a:xfrm xmlns:a="http://schemas.openxmlformats.org/drawingml/2006/main">
            <a:off x="10420350" y="40576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AI Diagnostics v0.5.0</a:t>
            </a:r>
          </a:p>
        </p:txBody>
      </p:sp>
      <p:sp>
        <p:nvSpPr>
          <p:cNvPr id="36" name="">
            <a:extLst xmlns:a="http://schemas.openxmlformats.org/drawingml/2006/main">
              <a:ext uri="{FF2B5EF4-FFF2-40B4-BE49-F238E27FC236}">
                <a16:creationId xmlns:a16="http://schemas.microsoft.com/office/drawing/2014/main" id="{94D6EE15-2C6D-4921-97A6-3253A661D4EC}"/>
              </a:ext>
            </a:extLst>
          </p:cNvPr>
          <p:cNvSpPr>
            <a:spLocks xmlns:a="http://schemas.openxmlformats.org/drawingml/2006/main" noGrp="1"/>
          </p:cNvSpPr>
          <p:nvPr/>
        </p:nvSpPr>
        <p:spPr>
          <a:xfrm xmlns:a="http://schemas.openxmlformats.org/drawingml/2006/main">
            <a:off x="10420350" y="46863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Local screening, Gemini models, logging and secure API handling</a:t>
            </a:r>
          </a:p>
        </p:txBody>
      </p:sp>
    </p:spTree>
    <p:extLst>
      <p:ext uri="{BB962C8B-B14F-4D97-AF65-F5344CB8AC3E}">
        <p14:creationId xmlns:p14="http://schemas.microsoft.com/office/powerpoint/2010/main" val="92628112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0E1854C-4C78-4AA2-A811-85B446A1CB1A}"/>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7D8862-D725-4B60-8877-455AC2DA4CAF}"/>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2B25B1-59B2-44D3-BC4A-02C2A6A57EC2}"/>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E23E8B-DADD-4746-B2BA-AF6C22D3A4A3}"/>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268841-AA18-49EA-AB91-A4C3FD07A46E}"/>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E1D5EB-4FE4-47A2-BBC9-B17E259D3028}"/>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8E20C5-B917-4C85-89A0-3201CAE33D9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RELEASE READINESS</a:t>
            </a:r>
          </a:p>
        </p:txBody>
      </p:sp>
      <p:sp>
        <p:nvSpPr>
          <p:cNvPr id="8" name="">
            <a:extLst xmlns:a="http://schemas.openxmlformats.org/drawingml/2006/main">
              <a:ext uri="{FF2B5EF4-FFF2-40B4-BE49-F238E27FC236}">
                <a16:creationId xmlns:a16="http://schemas.microsoft.com/office/drawing/2014/main" id="{A22854E2-E438-48A0-8842-68B0C5589E83}"/>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8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v0.5.0 is validated locally and ready for a controlled release decision</a:t>
            </a:r>
          </a:p>
        </p:txBody>
      </p:sp>
      <p:sp>
        <p:nvSpPr>
          <p:cNvPr id="9" name="">
            <a:extLst xmlns:a="http://schemas.openxmlformats.org/drawingml/2006/main">
              <a:ext uri="{FF2B5EF4-FFF2-40B4-BE49-F238E27FC236}">
                <a16:creationId xmlns:a16="http://schemas.microsoft.com/office/drawing/2014/main" id="{3F992FEC-A38C-4EA1-BEF2-0FC71FD3DDB7}"/>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215487-258D-4016-8396-DCE79343800F}"/>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2C64AC45-4DD5-4661-A94C-496395809FF9}"/>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14</a:t>
            </a:r>
          </a:p>
        </p:txBody>
      </p:sp>
      <p:sp>
        <p:nvSpPr>
          <p:cNvPr id="12" name="">
            <a:extLst xmlns:a="http://schemas.openxmlformats.org/drawingml/2006/main">
              <a:ext uri="{FF2B5EF4-FFF2-40B4-BE49-F238E27FC236}">
                <a16:creationId xmlns:a16="http://schemas.microsoft.com/office/drawing/2014/main" id="{51A49D52-2C4D-448B-91E5-5E72855FCA6E}"/>
              </a:ext>
            </a:extLst>
          </p:cNvPr>
          <p:cNvSpPr>
            <a:spLocks xmlns:a="http://schemas.openxmlformats.org/drawingml/2006/main" noGrp="1"/>
          </p:cNvSpPr>
          <p:nvPr/>
        </p:nvSpPr>
        <p:spPr>
          <a:xfrm xmlns:a="http://schemas.openxmlformats.org/drawingml/2006/main">
            <a:off x="533400" y="18669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78A62"/>
                </a:solidFill>
                <a:latin typeface="Arial"/>
                <a:ea typeface="Arial"/>
                <a:cs typeface="Arial"/>
              </a:defRPr>
            </a:pPr>
            <a:r>
              <a:rPr sz="1875" b="1">
                <a:solidFill>
                  <a:srgbClr val="178A62"/>
                </a:solidFill>
                <a:latin typeface="Arial"/>
                <a:ea typeface="Arial"/>
                <a:cs typeface="Arial"/>
              </a:rPr>
              <a:t>Validated locally</a:t>
            </a:r>
          </a:p>
        </p:txBody>
      </p:sp>
      <p:sp>
        <p:nvSpPr>
          <p:cNvPr id="13" name="">
            <a:extLst xmlns:a="http://schemas.openxmlformats.org/drawingml/2006/main">
              <a:ext uri="{FF2B5EF4-FFF2-40B4-BE49-F238E27FC236}">
                <a16:creationId xmlns:a16="http://schemas.microsoft.com/office/drawing/2014/main" id="{04BB6235-ECEB-4788-8A60-ABECA5959651}"/>
              </a:ext>
            </a:extLst>
          </p:cNvPr>
          <p:cNvSpPr>
            <a:spLocks xmlns:a="http://schemas.openxmlformats.org/drawingml/2006/main" noGrp="1"/>
          </p:cNvSpPr>
          <p:nvPr/>
        </p:nvSpPr>
        <p:spPr>
          <a:xfrm xmlns:a="http://schemas.openxmlformats.org/drawingml/2006/main">
            <a:off x="533400" y="24479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17ACAC-A5D8-4F19-BC33-DFFBED2A2865}"/>
              </a:ext>
            </a:extLst>
          </p:cNvPr>
          <p:cNvSpPr>
            <a:spLocks xmlns:a="http://schemas.openxmlformats.org/drawingml/2006/main" noGrp="1"/>
          </p:cNvSpPr>
          <p:nvPr/>
        </p:nvSpPr>
        <p:spPr>
          <a:xfrm xmlns:a="http://schemas.openxmlformats.org/drawingml/2006/main">
            <a:off x="762000" y="23812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Production Vite build</a:t>
            </a:r>
          </a:p>
        </p:txBody>
      </p:sp>
      <p:sp>
        <p:nvSpPr>
          <p:cNvPr id="15" name="">
            <a:extLst xmlns:a="http://schemas.openxmlformats.org/drawingml/2006/main">
              <a:ext uri="{FF2B5EF4-FFF2-40B4-BE49-F238E27FC236}">
                <a16:creationId xmlns:a16="http://schemas.microsoft.com/office/drawing/2014/main" id="{5A084C67-65F9-4435-85B7-3C8A494CEC07}"/>
              </a:ext>
            </a:extLst>
          </p:cNvPr>
          <p:cNvSpPr>
            <a:spLocks xmlns:a="http://schemas.openxmlformats.org/drawingml/2006/main" noGrp="1"/>
          </p:cNvSpPr>
          <p:nvPr/>
        </p:nvSpPr>
        <p:spPr>
          <a:xfrm xmlns:a="http://schemas.openxmlformats.org/drawingml/2006/main">
            <a:off x="533400" y="31146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20E1199-EC15-4163-B3D6-37C09620ABAF}"/>
              </a:ext>
            </a:extLst>
          </p:cNvPr>
          <p:cNvSpPr>
            <a:spLocks xmlns:a="http://schemas.openxmlformats.org/drawingml/2006/main" noGrp="1"/>
          </p:cNvSpPr>
          <p:nvPr/>
        </p:nvSpPr>
        <p:spPr>
          <a:xfrm xmlns:a="http://schemas.openxmlformats.org/drawingml/2006/main">
            <a:off x="762000" y="30480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AI Diagnostics UI and model selector</a:t>
            </a:r>
          </a:p>
        </p:txBody>
      </p:sp>
      <p:sp>
        <p:nvSpPr>
          <p:cNvPr id="17" name="">
            <a:extLst xmlns:a="http://schemas.openxmlformats.org/drawingml/2006/main">
              <a:ext uri="{FF2B5EF4-FFF2-40B4-BE49-F238E27FC236}">
                <a16:creationId xmlns:a16="http://schemas.microsoft.com/office/drawing/2014/main" id="{15176414-86C4-4087-BC43-F739EE1A3E84}"/>
              </a:ext>
            </a:extLst>
          </p:cNvPr>
          <p:cNvSpPr>
            <a:spLocks xmlns:a="http://schemas.openxmlformats.org/drawingml/2006/main" noGrp="1"/>
          </p:cNvSpPr>
          <p:nvPr/>
        </p:nvSpPr>
        <p:spPr>
          <a:xfrm xmlns:a="http://schemas.openxmlformats.org/drawingml/2006/main">
            <a:off x="533400" y="37814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711984A-0CA2-41AA-ABD0-9EEC0DA7E75B}"/>
              </a:ext>
            </a:extLst>
          </p:cNvPr>
          <p:cNvSpPr>
            <a:spLocks xmlns:a="http://schemas.openxmlformats.org/drawingml/2006/main" noGrp="1"/>
          </p:cNvSpPr>
          <p:nvPr/>
        </p:nvSpPr>
        <p:spPr>
          <a:xfrm xmlns:a="http://schemas.openxmlformats.org/drawingml/2006/main">
            <a:off x="762000" y="37147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Logging toggle and storage paths</a:t>
            </a:r>
          </a:p>
        </p:txBody>
      </p:sp>
      <p:sp>
        <p:nvSpPr>
          <p:cNvPr id="19" name="">
            <a:extLst xmlns:a="http://schemas.openxmlformats.org/drawingml/2006/main">
              <a:ext uri="{FF2B5EF4-FFF2-40B4-BE49-F238E27FC236}">
                <a16:creationId xmlns:a16="http://schemas.microsoft.com/office/drawing/2014/main" id="{AB3F4DE1-82BB-4862-A95B-6B9AC95B4B0B}"/>
              </a:ext>
            </a:extLst>
          </p:cNvPr>
          <p:cNvSpPr>
            <a:spLocks xmlns:a="http://schemas.openxmlformats.org/drawingml/2006/main" noGrp="1"/>
          </p:cNvSpPr>
          <p:nvPr/>
        </p:nvSpPr>
        <p:spPr>
          <a:xfrm xmlns:a="http://schemas.openxmlformats.org/drawingml/2006/main">
            <a:off x="533400" y="44481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9E55425-1083-4695-A5FE-05D4E1B331D4}"/>
              </a:ext>
            </a:extLst>
          </p:cNvPr>
          <p:cNvSpPr>
            <a:spLocks xmlns:a="http://schemas.openxmlformats.org/drawingml/2006/main" noGrp="1"/>
          </p:cNvSpPr>
          <p:nvPr/>
        </p:nvSpPr>
        <p:spPr>
          <a:xfrm xmlns:a="http://schemas.openxmlformats.org/drawingml/2006/main">
            <a:off x="762000" y="43815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Documentation, links and presentation QA</a:t>
            </a:r>
          </a:p>
        </p:txBody>
      </p:sp>
      <p:sp>
        <p:nvSpPr>
          <p:cNvPr id="21" name="">
            <a:extLst xmlns:a="http://schemas.openxmlformats.org/drawingml/2006/main">
              <a:ext uri="{FF2B5EF4-FFF2-40B4-BE49-F238E27FC236}">
                <a16:creationId xmlns:a16="http://schemas.microsoft.com/office/drawing/2014/main" id="{8D015624-18D0-4867-ACC1-B82D0A5019CF}"/>
              </a:ext>
            </a:extLst>
          </p:cNvPr>
          <p:cNvSpPr>
            <a:spLocks xmlns:a="http://schemas.openxmlformats.org/drawingml/2006/main" noGrp="1"/>
          </p:cNvSpPr>
          <p:nvPr/>
        </p:nvSpPr>
        <p:spPr>
          <a:xfrm xmlns:a="http://schemas.openxmlformats.org/drawingml/2006/main">
            <a:off x="6438900" y="18669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A66B00"/>
                </a:solidFill>
                <a:latin typeface="Arial"/>
                <a:ea typeface="Arial"/>
                <a:cs typeface="Arial"/>
              </a:defRPr>
            </a:pPr>
            <a:r>
              <a:rPr sz="1875" b="1">
                <a:solidFill>
                  <a:srgbClr val="A66B00"/>
                </a:solidFill>
                <a:latin typeface="Arial"/>
                <a:ea typeface="Arial"/>
                <a:cs typeface="Arial"/>
              </a:rPr>
              <a:t>Release controls</a:t>
            </a:r>
          </a:p>
        </p:txBody>
      </p:sp>
      <p:sp>
        <p:nvSpPr>
          <p:cNvPr id="22" name="">
            <a:extLst xmlns:a="http://schemas.openxmlformats.org/drawingml/2006/main">
              <a:ext uri="{FF2B5EF4-FFF2-40B4-BE49-F238E27FC236}">
                <a16:creationId xmlns:a16="http://schemas.microsoft.com/office/drawing/2014/main" id="{509CA03A-B6B0-4773-8D81-F9379AA84776}"/>
              </a:ext>
            </a:extLst>
          </p:cNvPr>
          <p:cNvSpPr>
            <a:spLocks xmlns:a="http://schemas.openxmlformats.org/drawingml/2006/main" noGrp="1"/>
          </p:cNvSpPr>
          <p:nvPr/>
        </p:nvSpPr>
        <p:spPr>
          <a:xfrm xmlns:a="http://schemas.openxmlformats.org/drawingml/2006/main">
            <a:off x="6438900" y="24479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59AF49-2618-4C2E-A733-427BEDF97F97}"/>
              </a:ext>
            </a:extLst>
          </p:cNvPr>
          <p:cNvSpPr>
            <a:spLocks xmlns:a="http://schemas.openxmlformats.org/drawingml/2006/main" noGrp="1"/>
          </p:cNvSpPr>
          <p:nvPr/>
        </p:nvSpPr>
        <p:spPr>
          <a:xfrm xmlns:a="http://schemas.openxmlformats.org/drawingml/2006/main">
            <a:off x="6667500" y="23812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Key remains server-side and out of Git</a:t>
            </a:r>
          </a:p>
        </p:txBody>
      </p:sp>
      <p:sp>
        <p:nvSpPr>
          <p:cNvPr id="24" name="">
            <a:extLst xmlns:a="http://schemas.openxmlformats.org/drawingml/2006/main">
              <a:ext uri="{FF2B5EF4-FFF2-40B4-BE49-F238E27FC236}">
                <a16:creationId xmlns:a16="http://schemas.microsoft.com/office/drawing/2014/main" id="{2B0FF789-0FC1-485C-8A4E-D6C02B43993F}"/>
              </a:ext>
            </a:extLst>
          </p:cNvPr>
          <p:cNvSpPr>
            <a:spLocks xmlns:a="http://schemas.openxmlformats.org/drawingml/2006/main" noGrp="1"/>
          </p:cNvSpPr>
          <p:nvPr/>
        </p:nvSpPr>
        <p:spPr>
          <a:xfrm xmlns:a="http://schemas.openxmlformats.org/drawingml/2006/main">
            <a:off x="6438900" y="31146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808A627-4A4B-4082-AF15-271225D0FCE4}"/>
              </a:ext>
            </a:extLst>
          </p:cNvPr>
          <p:cNvSpPr>
            <a:spLocks xmlns:a="http://schemas.openxmlformats.org/drawingml/2006/main" noGrp="1"/>
          </p:cNvSpPr>
          <p:nvPr/>
        </p:nvSpPr>
        <p:spPr>
          <a:xfrm xmlns:a="http://schemas.openxmlformats.org/drawingml/2006/main">
            <a:off x="6667500" y="30480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GitHub Pages needs a protected backend</a:t>
            </a:r>
          </a:p>
        </p:txBody>
      </p:sp>
      <p:sp>
        <p:nvSpPr>
          <p:cNvPr id="26" name="">
            <a:extLst xmlns:a="http://schemas.openxmlformats.org/drawingml/2006/main">
              <a:ext uri="{FF2B5EF4-FFF2-40B4-BE49-F238E27FC236}">
                <a16:creationId xmlns:a16="http://schemas.microsoft.com/office/drawing/2014/main" id="{D4FB731C-666C-42C2-BC5E-69DBD1F4085A}"/>
              </a:ext>
            </a:extLst>
          </p:cNvPr>
          <p:cNvSpPr>
            <a:spLocks xmlns:a="http://schemas.openxmlformats.org/drawingml/2006/main" noGrp="1"/>
          </p:cNvSpPr>
          <p:nvPr/>
        </p:nvSpPr>
        <p:spPr>
          <a:xfrm xmlns:a="http://schemas.openxmlformats.org/drawingml/2006/main">
            <a:off x="6438900" y="37814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0E75181-6D16-4FBF-B651-6CC410C0267C}"/>
              </a:ext>
            </a:extLst>
          </p:cNvPr>
          <p:cNvSpPr>
            <a:spLocks xmlns:a="http://schemas.openxmlformats.org/drawingml/2006/main" noGrp="1"/>
          </p:cNvSpPr>
          <p:nvPr/>
        </p:nvSpPr>
        <p:spPr>
          <a:xfrm xmlns:a="http://schemas.openxmlformats.org/drawingml/2006/main">
            <a:off x="6667500" y="37147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Data-governance approval still required</a:t>
            </a:r>
          </a:p>
        </p:txBody>
      </p:sp>
      <p:sp>
        <p:nvSpPr>
          <p:cNvPr id="28" name="">
            <a:extLst xmlns:a="http://schemas.openxmlformats.org/drawingml/2006/main">
              <a:ext uri="{FF2B5EF4-FFF2-40B4-BE49-F238E27FC236}">
                <a16:creationId xmlns:a16="http://schemas.microsoft.com/office/drawing/2014/main" id="{98DA3A49-933B-4B9E-8527-F43CB69D9DB8}"/>
              </a:ext>
            </a:extLst>
          </p:cNvPr>
          <p:cNvSpPr>
            <a:spLocks xmlns:a="http://schemas.openxmlformats.org/drawingml/2006/main" noGrp="1"/>
          </p:cNvSpPr>
          <p:nvPr/>
        </p:nvSpPr>
        <p:spPr>
          <a:xfrm xmlns:a="http://schemas.openxmlformats.org/drawingml/2006/main">
            <a:off x="6438900" y="44481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04800AB-A92A-441A-A940-91615EB1DC5C}"/>
              </a:ext>
            </a:extLst>
          </p:cNvPr>
          <p:cNvSpPr>
            <a:spLocks xmlns:a="http://schemas.openxmlformats.org/drawingml/2006/main" noGrp="1"/>
          </p:cNvSpPr>
          <p:nvPr/>
        </p:nvSpPr>
        <p:spPr>
          <a:xfrm xmlns:a="http://schemas.openxmlformats.org/drawingml/2006/main">
            <a:off x="6667500" y="43815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Approval required before push to main</a:t>
            </a:r>
          </a:p>
        </p:txBody>
      </p:sp>
      <p:sp>
        <p:nvSpPr>
          <p:cNvPr id="30" name="">
            <a:extLst xmlns:a="http://schemas.openxmlformats.org/drawingml/2006/main">
              <a:ext uri="{FF2B5EF4-FFF2-40B4-BE49-F238E27FC236}">
                <a16:creationId xmlns:a16="http://schemas.microsoft.com/office/drawing/2014/main" id="{09447559-FBDE-44FE-9CE8-A0FC9B82945E}"/>
              </a:ext>
            </a:extLst>
          </p:cNvPr>
          <p:cNvSpPr>
            <a:spLocks xmlns:a="http://schemas.openxmlformats.org/drawingml/2006/main" noGrp="1"/>
          </p:cNvSpPr>
          <p:nvPr/>
        </p:nvSpPr>
        <p:spPr>
          <a:xfrm xmlns:a="http://schemas.openxmlformats.org/drawingml/2006/main">
            <a:off x="1238250" y="55054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ctr">
              <a:buNone/>
              <a:defRPr sz="1800" b="1">
                <a:solidFill>
                  <a:srgbClr val="111A3B"/>
                </a:solidFill>
                <a:latin typeface="Arial"/>
                <a:ea typeface="Arial"/>
                <a:cs typeface="Arial"/>
              </a:defRPr>
            </a:pPr>
            <a:r>
              <a:rPr sz="1800" b="1">
                <a:solidFill>
                  <a:srgbClr val="111A3B"/>
                </a:solidFill>
                <a:latin typeface="Arial"/>
                <a:ea typeface="Arial"/>
                <a:cs typeface="Arial"/>
              </a:rPr>
              <a:t>Outcome: the release candidate is functionally ready locally; production hosting and data-governance controls remain explicit gates.</a:t>
            </a:r>
          </a:p>
        </p:txBody>
      </p:sp>
    </p:spTree>
    <p:extLst>
      <p:ext uri="{BB962C8B-B14F-4D97-AF65-F5344CB8AC3E}">
        <p14:creationId xmlns:p14="http://schemas.microsoft.com/office/powerpoint/2010/main" val="531182374"/>
      </p:ext>
    </p:extLst>
  </p:cSld>
</p:sld>
</file>

<file path=ppt/slides/slide17.xml><?xml version="1.0" encoding="utf-8"?>
<p:sld xmlns:p="http://schemas.openxmlformats.org/presentationml/2006/main">
  <p:cSld>
    <p:bg>
      <p:bgPr>
        <a:solidFill xmlns:a="http://schemas.openxmlformats.org/drawingml/2006/main">
          <a:srgbClr val="111A3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81ED0AE-CE89-4E13-9F4B-61C45DEE2802}"/>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3735CD-06D2-43C3-B27C-F69C91584A1F}"/>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FFEAC6-1623-4BE2-A570-12BCD07D6EA7}"/>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D73620-EF24-4EF8-8D43-88CB86351288}"/>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A4C66B-09C6-490B-988B-281CF4D8392F}"/>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8D60324-C6FB-4593-A6BD-FE23ACDEF8EA}"/>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E1AABC-EEA4-43D5-A49A-4DE48F76635D}"/>
              </a:ext>
            </a:extLst>
          </p:cNvPr>
          <p:cNvSpPr>
            <a:spLocks xmlns:a="http://schemas.openxmlformats.org/drawingml/2006/main" noGrp="1"/>
          </p:cNvSpPr>
          <p:nvPr/>
        </p:nvSpPr>
        <p:spPr>
          <a:xfrm xmlns:a="http://schemas.openxmlformats.org/drawingml/2006/main">
            <a:off x="533400" y="6477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BFC8E8"/>
                </a:solidFill>
                <a:latin typeface="Arial"/>
                <a:ea typeface="Arial"/>
                <a:cs typeface="Arial"/>
              </a:defRPr>
            </a:pPr>
            <a:r>
              <a:rPr sz="1500" b="1">
                <a:solidFill>
                  <a:srgbClr val="BFC8E8"/>
                </a:solidFill>
                <a:latin typeface="Arial"/>
                <a:ea typeface="Arial"/>
                <a:cs typeface="Arial"/>
              </a:rPr>
              <a:t>Proposal</a:t>
            </a:r>
          </a:p>
        </p:txBody>
      </p:sp>
      <p:sp>
        <p:nvSpPr>
          <p:cNvPr id="8" name="">
            <a:extLst xmlns:a="http://schemas.openxmlformats.org/drawingml/2006/main">
              <a:ext uri="{FF2B5EF4-FFF2-40B4-BE49-F238E27FC236}">
                <a16:creationId xmlns:a16="http://schemas.microsoft.com/office/drawing/2014/main" id="{23798368-F1F9-43AB-BA2F-199DC542DE8A}"/>
              </a:ext>
            </a:extLst>
          </p:cNvPr>
          <p:cNvSpPr>
            <a:spLocks xmlns:a="http://schemas.openxmlformats.org/drawingml/2006/main" noGrp="1"/>
          </p:cNvSpPr>
          <p:nvPr/>
        </p:nvSpPr>
        <p:spPr>
          <a:xfrm xmlns:a="http://schemas.openxmlformats.org/drawingml/2006/main">
            <a:off x="533400" y="1219200"/>
            <a:ext cx="10096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750" b="1">
                <a:solidFill>
                  <a:srgbClr val="FFFFFF"/>
                </a:solidFill>
                <a:latin typeface="Arial"/>
                <a:ea typeface="Arial"/>
                <a:cs typeface="Arial"/>
              </a:defRPr>
            </a:pPr>
            <a:r>
              <a:rPr sz="3750" b="1">
                <a:solidFill>
                  <a:srgbClr val="FFFFFF"/>
                </a:solidFill>
                <a:latin typeface="Arial"/>
                <a:ea typeface="Arial"/>
                <a:cs typeface="Arial"/>
              </a:rPr>
              <a:t>Run a governed AI-assisted review pilot before wider deployment</a:t>
            </a:r>
          </a:p>
        </p:txBody>
      </p:sp>
      <p:sp>
        <p:nvSpPr>
          <p:cNvPr id="9" name="">
            <a:extLst xmlns:a="http://schemas.openxmlformats.org/drawingml/2006/main">
              <a:ext uri="{FF2B5EF4-FFF2-40B4-BE49-F238E27FC236}">
                <a16:creationId xmlns:a16="http://schemas.microsoft.com/office/drawing/2014/main" id="{840E68F3-ADA7-4DB1-9C10-758299B3D749}"/>
              </a:ext>
            </a:extLst>
          </p:cNvPr>
          <p:cNvSpPr>
            <a:spLocks xmlns:a="http://schemas.openxmlformats.org/drawingml/2006/main" noGrp="1"/>
          </p:cNvSpPr>
          <p:nvPr/>
        </p:nvSpPr>
        <p:spPr>
          <a:xfrm xmlns:a="http://schemas.openxmlformats.org/drawingml/2006/main">
            <a:off x="533400" y="2876550"/>
            <a:ext cx="11125200" cy="9525"/>
          </a:xfrm>
          <a:prstGeom xmlns:a="http://schemas.openxmlformats.org/drawingml/2006/main" prst="rect">
            <a:avLst/>
          </a:prstGeom>
          <a:solidFill xmlns:a="http://schemas.openxmlformats.org/drawingml/2006/main">
            <a:srgbClr val="4B55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5C9070-FEFC-4D42-AA36-35F3400E1FB3}"/>
              </a:ext>
            </a:extLst>
          </p:cNvPr>
          <p:cNvSpPr>
            <a:spLocks xmlns:a="http://schemas.openxmlformats.org/drawingml/2006/main" noGrp="1"/>
          </p:cNvSpPr>
          <p:nvPr/>
        </p:nvSpPr>
        <p:spPr>
          <a:xfrm xmlns:a="http://schemas.openxmlformats.org/drawingml/2006/main">
            <a:off x="533400" y="3333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BFC8E8"/>
                </a:solidFill>
                <a:latin typeface="Arial"/>
                <a:ea typeface="Arial"/>
                <a:cs typeface="Arial"/>
              </a:defRPr>
            </a:pPr>
            <a:r>
              <a:rPr sz="1800" b="1">
                <a:solidFill>
                  <a:srgbClr val="BFC8E8"/>
                </a:solidFill>
                <a:latin typeface="Arial"/>
                <a:ea typeface="Arial"/>
                <a:cs typeface="Arial"/>
              </a:rPr>
              <a:t>Pilot</a:t>
            </a:r>
          </a:p>
        </p:txBody>
      </p:sp>
      <p:sp>
        <p:nvSpPr>
          <p:cNvPr id="11" name="">
            <a:extLst xmlns:a="http://schemas.openxmlformats.org/drawingml/2006/main">
              <a:ext uri="{FF2B5EF4-FFF2-40B4-BE49-F238E27FC236}">
                <a16:creationId xmlns:a16="http://schemas.microsoft.com/office/drawing/2014/main" id="{70C6022B-3CCA-4E57-88AE-C8182B6B3F26}"/>
              </a:ext>
            </a:extLst>
          </p:cNvPr>
          <p:cNvSpPr>
            <a:spLocks xmlns:a="http://schemas.openxmlformats.org/drawingml/2006/main" noGrp="1"/>
          </p:cNvSpPr>
          <p:nvPr/>
        </p:nvSpPr>
        <p:spPr>
          <a:xfrm xmlns:a="http://schemas.openxmlformats.org/drawingml/2006/main">
            <a:off x="533400" y="38290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1–2 representative, approved wafer datasets</a:t>
            </a:r>
          </a:p>
        </p:txBody>
      </p:sp>
      <p:sp>
        <p:nvSpPr>
          <p:cNvPr id="12" name="">
            <a:extLst xmlns:a="http://schemas.openxmlformats.org/drawingml/2006/main">
              <a:ext uri="{FF2B5EF4-FFF2-40B4-BE49-F238E27FC236}">
                <a16:creationId xmlns:a16="http://schemas.microsoft.com/office/drawing/2014/main" id="{25666B10-B207-4E1D-BF08-BEE609E77AE6}"/>
              </a:ext>
            </a:extLst>
          </p:cNvPr>
          <p:cNvSpPr>
            <a:spLocks xmlns:a="http://schemas.openxmlformats.org/drawingml/2006/main" noGrp="1"/>
          </p:cNvSpPr>
          <p:nvPr/>
        </p:nvSpPr>
        <p:spPr>
          <a:xfrm xmlns:a="http://schemas.openxmlformats.org/drawingml/2006/main">
            <a:off x="4210050" y="3333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BFC8E8"/>
                </a:solidFill>
                <a:latin typeface="Arial"/>
                <a:ea typeface="Arial"/>
                <a:cs typeface="Arial"/>
              </a:defRPr>
            </a:pPr>
            <a:r>
              <a:rPr sz="1800" b="1">
                <a:solidFill>
                  <a:srgbClr val="BFC8E8"/>
                </a:solidFill>
                <a:latin typeface="Arial"/>
                <a:ea typeface="Arial"/>
                <a:cs typeface="Arial"/>
              </a:rPr>
              <a:t>Participants</a:t>
            </a:r>
          </a:p>
        </p:txBody>
      </p:sp>
      <p:sp>
        <p:nvSpPr>
          <p:cNvPr id="13" name="">
            <a:extLst xmlns:a="http://schemas.openxmlformats.org/drawingml/2006/main">
              <a:ext uri="{FF2B5EF4-FFF2-40B4-BE49-F238E27FC236}">
                <a16:creationId xmlns:a16="http://schemas.microsoft.com/office/drawing/2014/main" id="{F8399B13-FDBC-40C2-A872-71728A529321}"/>
              </a:ext>
            </a:extLst>
          </p:cNvPr>
          <p:cNvSpPr>
            <a:spLocks xmlns:a="http://schemas.openxmlformats.org/drawingml/2006/main" noGrp="1"/>
          </p:cNvSpPr>
          <p:nvPr/>
        </p:nvSpPr>
        <p:spPr>
          <a:xfrm xmlns:a="http://schemas.openxmlformats.org/drawingml/2006/main">
            <a:off x="4210050" y="38290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Test + PDK + cleanroom + data owner</a:t>
            </a:r>
          </a:p>
        </p:txBody>
      </p:sp>
      <p:sp>
        <p:nvSpPr>
          <p:cNvPr id="14" name="">
            <a:extLst xmlns:a="http://schemas.openxmlformats.org/drawingml/2006/main">
              <a:ext uri="{FF2B5EF4-FFF2-40B4-BE49-F238E27FC236}">
                <a16:creationId xmlns:a16="http://schemas.microsoft.com/office/drawing/2014/main" id="{B06AA0C5-EA11-4DCE-8BB2-287B935E2130}"/>
              </a:ext>
            </a:extLst>
          </p:cNvPr>
          <p:cNvSpPr>
            <a:spLocks xmlns:a="http://schemas.openxmlformats.org/drawingml/2006/main" noGrp="1"/>
          </p:cNvSpPr>
          <p:nvPr/>
        </p:nvSpPr>
        <p:spPr>
          <a:xfrm xmlns:a="http://schemas.openxmlformats.org/drawingml/2006/main">
            <a:off x="8039100" y="3333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BFC8E8"/>
                </a:solidFill>
                <a:latin typeface="Arial"/>
                <a:ea typeface="Arial"/>
                <a:cs typeface="Arial"/>
              </a:defRPr>
            </a:pPr>
            <a:r>
              <a:rPr sz="1800" b="1">
                <a:solidFill>
                  <a:srgbClr val="BFC8E8"/>
                </a:solidFill>
                <a:latin typeface="Arial"/>
                <a:ea typeface="Arial"/>
                <a:cs typeface="Arial"/>
              </a:rPr>
              <a:t>Decision</a:t>
            </a:r>
          </a:p>
        </p:txBody>
      </p:sp>
      <p:sp>
        <p:nvSpPr>
          <p:cNvPr id="15" name="">
            <a:extLst xmlns:a="http://schemas.openxmlformats.org/drawingml/2006/main">
              <a:ext uri="{FF2B5EF4-FFF2-40B4-BE49-F238E27FC236}">
                <a16:creationId xmlns:a16="http://schemas.microsoft.com/office/drawing/2014/main" id="{DE5A27FE-8DC0-43BF-91E9-BF0EFB12C630}"/>
              </a:ext>
            </a:extLst>
          </p:cNvPr>
          <p:cNvSpPr>
            <a:spLocks xmlns:a="http://schemas.openxmlformats.org/drawingml/2006/main" noGrp="1"/>
          </p:cNvSpPr>
          <p:nvPr/>
        </p:nvSpPr>
        <p:spPr>
          <a:xfrm xmlns:a="http://schemas.openxmlformats.org/drawingml/2006/main">
            <a:off x="8039100" y="3829050"/>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Confirm model default, access controls and release priorities</a:t>
            </a:r>
          </a:p>
        </p:txBody>
      </p:sp>
      <p:sp>
        <p:nvSpPr>
          <p:cNvPr id="16" name="">
            <a:extLst xmlns:a="http://schemas.openxmlformats.org/drawingml/2006/main">
              <a:ext uri="{FF2B5EF4-FFF2-40B4-BE49-F238E27FC236}">
                <a16:creationId xmlns:a16="http://schemas.microsoft.com/office/drawing/2014/main" id="{4CB83351-A99B-4F56-B0E9-02A8C27F1F2D}"/>
              </a:ext>
            </a:extLst>
          </p:cNvPr>
          <p:cNvSpPr>
            <a:spLocks xmlns:a="http://schemas.openxmlformats.org/drawingml/2006/main" noGrp="1"/>
          </p:cNvSpPr>
          <p:nvPr/>
        </p:nvSpPr>
        <p:spPr>
          <a:xfrm xmlns:a="http://schemas.openxmlformats.org/drawingml/2006/main">
            <a:off x="990600" y="5391150"/>
            <a:ext cx="10210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0">
                <a:solidFill>
                  <a:srgbClr val="DCE3F8"/>
                </a:solidFill>
                <a:latin typeface="Arial"/>
                <a:ea typeface="Arial"/>
                <a:cs typeface="Arial"/>
              </a:defRPr>
            </a:pPr>
            <a:r>
              <a:rPr sz="1875" b="0">
                <a:solidFill>
                  <a:srgbClr val="DCE3F8"/>
                </a:solidFill>
                <a:latin typeface="Arial"/>
                <a:ea typeface="Arial"/>
                <a:cs typeface="Arial"/>
              </a:rPr>
              <a:t>Success means useful triage with traceable evidence, controlled data sharing and no loss of engineering judgement.</a:t>
            </a:r>
          </a:p>
        </p:txBody>
      </p:sp>
    </p:spTree>
    <p:extLst>
      <p:ext uri="{BB962C8B-B14F-4D97-AF65-F5344CB8AC3E}">
        <p14:creationId xmlns:p14="http://schemas.microsoft.com/office/powerpoint/2010/main" val="59733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2026-08-27T14:38:34.1400000Z</dcterms:created>
  <dcterms:modified xsi:type="dcterms:W3CDTF">2026-08-27T14:38:34.1400000Z</dcterms:modified>
</coreProperties>
</file>
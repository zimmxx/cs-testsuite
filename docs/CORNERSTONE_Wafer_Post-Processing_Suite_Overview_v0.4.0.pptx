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22f2919a85403b" /><Relationship Type="http://schemas.openxmlformats.org/officeDocument/2006/relationships/extended-properties" Target="/docProps/app.xml" Id="Rf806f158cf8d4aef" /><Relationship Type="http://schemas.openxmlformats.org/officeDocument/2006/relationships/officeDocument" Target="/ppt/presentation.xml" Id="R0184fe258eaa408c" /></Relationships>
</file>

<file path=ppt/presentation.xml><?xml version="1.0" encoding="utf-8"?>
<p:presentation xmlns:p="http://schemas.openxmlformats.org/presentationml/2006/main">
  <p:sldMasterIdLst>
    <p:sldMasterId xmlns:r="http://schemas.openxmlformats.org/officeDocument/2006/relationships" id="2147483648" r:id="R3b5b3bc540384d97"/>
  </p:sldMasterIdLst>
  <p:notesMasterIdLst>
    <p:notesMasterId xmlns:r="http://schemas.openxmlformats.org/officeDocument/2006/relationships" r:id="R10e4fdc55ef4452f"/>
  </p:notesMasterIdLst>
  <p:sldIdLst>
    <p:sldId xmlns:r="http://schemas.openxmlformats.org/officeDocument/2006/relationships" id="256" r:id="R90b6db40d5e34bd5"/>
    <p:sldId xmlns:r="http://schemas.openxmlformats.org/officeDocument/2006/relationships" id="257" r:id="R21baccf0218e434a"/>
    <p:sldId xmlns:r="http://schemas.openxmlformats.org/officeDocument/2006/relationships" id="258" r:id="R7171048393a84026"/>
    <p:sldId xmlns:r="http://schemas.openxmlformats.org/officeDocument/2006/relationships" id="259" r:id="R4fd303db4d0f4974"/>
    <p:sldId xmlns:r="http://schemas.openxmlformats.org/officeDocument/2006/relationships" id="260" r:id="Rfcd7e8544f034afc"/>
    <p:sldId xmlns:r="http://schemas.openxmlformats.org/officeDocument/2006/relationships" id="261" r:id="R9bcfcf02ba21446f"/>
    <p:sldId xmlns:r="http://schemas.openxmlformats.org/officeDocument/2006/relationships" id="262" r:id="R783c50c338d44397"/>
    <p:sldId xmlns:r="http://schemas.openxmlformats.org/officeDocument/2006/relationships" id="263" r:id="Rb4a38deb4b0b455d"/>
    <p:sldId xmlns:r="http://schemas.openxmlformats.org/officeDocument/2006/relationships" id="264" r:id="R8ba646419b9447a7"/>
    <p:sldId xmlns:r="http://schemas.openxmlformats.org/officeDocument/2006/relationships" id="265" r:id="R4f0ae3f396ad442a"/>
    <p:sldId xmlns:r="http://schemas.openxmlformats.org/officeDocument/2006/relationships" id="266" r:id="R6d56338a2907432f"/>
    <p:sldId xmlns:r="http://schemas.openxmlformats.org/officeDocument/2006/relationships" id="267" r:id="R064c52b9159e4306"/>
    <p:sldId xmlns:r="http://schemas.openxmlformats.org/officeDocument/2006/relationships" id="268" r:id="Rf3ee11a6973e4fed"/>
    <p:sldId xmlns:r="http://schemas.openxmlformats.org/officeDocument/2006/relationships" id="269" r:id="Reba206cfdb0f4f2e"/>
    <p:sldId xmlns:r="http://schemas.openxmlformats.org/officeDocument/2006/relationships" id="270" r:id="R34e33c1a114644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96899ef7c84e8d" /><Relationship Type="http://schemas.openxmlformats.org/officeDocument/2006/relationships/slideMaster" Target="/ppt/slideMasters/slideMaster1.xml" Id="R3b5b3bc540384d97" /><Relationship Type="http://schemas.openxmlformats.org/officeDocument/2006/relationships/notesMaster" Target="/ppt/notesMasters/notesMaster1.xml" Id="R10e4fdc55ef4452f" /><Relationship Type="http://schemas.openxmlformats.org/officeDocument/2006/relationships/presProps" Target="/ppt/presProps.xml" Id="R4888fd42f18340af" /><Relationship Type="http://schemas.openxmlformats.org/officeDocument/2006/relationships/tableStyles" Target="/ppt/tableStyles.xml" Id="R87dd5760c90a4f38" /><Relationship Type="http://schemas.openxmlformats.org/officeDocument/2006/relationships/slide" Target="/ppt/slides/slide1.xml" Id="R90b6db40d5e34bd5" /><Relationship Type="http://schemas.openxmlformats.org/officeDocument/2006/relationships/slide" Target="/ppt/slides/slide2.xml" Id="R21baccf0218e434a" /><Relationship Type="http://schemas.openxmlformats.org/officeDocument/2006/relationships/slide" Target="/ppt/slides/slide3.xml" Id="R7171048393a84026" /><Relationship Type="http://schemas.openxmlformats.org/officeDocument/2006/relationships/slide" Target="/ppt/slides/slide4.xml" Id="R4fd303db4d0f4974" /><Relationship Type="http://schemas.openxmlformats.org/officeDocument/2006/relationships/slide" Target="/ppt/slides/slide5.xml" Id="Rfcd7e8544f034afc" /><Relationship Type="http://schemas.openxmlformats.org/officeDocument/2006/relationships/slide" Target="/ppt/slides/slide6.xml" Id="R9bcfcf02ba21446f" /><Relationship Type="http://schemas.openxmlformats.org/officeDocument/2006/relationships/slide" Target="/ppt/slides/slide7.xml" Id="R783c50c338d44397" /><Relationship Type="http://schemas.openxmlformats.org/officeDocument/2006/relationships/slide" Target="/ppt/slides/slide8.xml" Id="Rb4a38deb4b0b455d" /><Relationship Type="http://schemas.openxmlformats.org/officeDocument/2006/relationships/slide" Target="/ppt/slides/slide9.xml" Id="R8ba646419b9447a7" /><Relationship Type="http://schemas.openxmlformats.org/officeDocument/2006/relationships/slide" Target="/ppt/slides/slide10.xml" Id="R4f0ae3f396ad442a" /><Relationship Type="http://schemas.openxmlformats.org/officeDocument/2006/relationships/slide" Target="/ppt/slides/slide11.xml" Id="R6d56338a2907432f" /><Relationship Type="http://schemas.openxmlformats.org/officeDocument/2006/relationships/slide" Target="/ppt/slides/slide12.xml" Id="R064c52b9159e4306" /><Relationship Type="http://schemas.openxmlformats.org/officeDocument/2006/relationships/slide" Target="/ppt/slides/slide13.xml" Id="Rf3ee11a6973e4fed" /><Relationship Type="http://schemas.openxmlformats.org/officeDocument/2006/relationships/slide" Target="/ppt/slides/slide14.xml" Id="Reba206cfdb0f4f2e" /><Relationship Type="http://schemas.openxmlformats.org/officeDocument/2006/relationships/slide" Target="/ppt/slides/slide15.xml" Id="R34e33c1a114644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906f28367b46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730bcdac104061" /><Relationship Type="http://schemas.openxmlformats.org/officeDocument/2006/relationships/notesMaster" Target="/ppt/notesMasters/notesMaster1.xml" Id="R8d4e001eabbf45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1bc8bc28ec46e5" /><Relationship Type="http://schemas.openxmlformats.org/officeDocument/2006/relationships/notesMaster" Target="/ppt/notesMasters/notesMaster1.xml" Id="R53f9420b09a042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72c54c3ad2400c" /><Relationship Type="http://schemas.openxmlformats.org/officeDocument/2006/relationships/notesMaster" Target="/ppt/notesMasters/notesMaster1.xml" Id="R44d23d7f7afe42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a6a82747d142b3" /><Relationship Type="http://schemas.openxmlformats.org/officeDocument/2006/relationships/notesMaster" Target="/ppt/notesMasters/notesMaster1.xml" Id="R4c89e5f94ade46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76237385db424b" /><Relationship Type="http://schemas.openxmlformats.org/officeDocument/2006/relationships/notesMaster" Target="/ppt/notesMasters/notesMaster1.xml" Id="R0014d9f5f23d4a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8752cf0bee4f91" /><Relationship Type="http://schemas.openxmlformats.org/officeDocument/2006/relationships/notesMaster" Target="/ppt/notesMasters/notesMaster1.xml" Id="R59fabbb58c3441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17d09d59ea4639" /><Relationship Type="http://schemas.openxmlformats.org/officeDocument/2006/relationships/notesMaster" Target="/ppt/notesMasters/notesMaster1.xml" Id="Rad2e45ea7f024f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3de6b4b7fd4356" /><Relationship Type="http://schemas.openxmlformats.org/officeDocument/2006/relationships/notesMaster" Target="/ppt/notesMasters/notesMaster1.xml" Id="Rfa199a28838443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3d04d7fe4d428a" /><Relationship Type="http://schemas.openxmlformats.org/officeDocument/2006/relationships/notesMaster" Target="/ppt/notesMasters/notesMaster1.xml" Id="R43c52dfdc1bc4d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597404d5b9410f" /><Relationship Type="http://schemas.openxmlformats.org/officeDocument/2006/relationships/notesMaster" Target="/ppt/notesMasters/notesMaster1.xml" Id="R2585caf4cd144e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afd2b9c87b4257" /><Relationship Type="http://schemas.openxmlformats.org/officeDocument/2006/relationships/notesMaster" Target="/ppt/notesMasters/notesMaster1.xml" Id="R082352f0340943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ece6229772447d" /><Relationship Type="http://schemas.openxmlformats.org/officeDocument/2006/relationships/notesMaster" Target="/ppt/notesMasters/notesMaster1.xml" Id="R041c292d6cdf43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18fdf3e00b4bec" /><Relationship Type="http://schemas.openxmlformats.org/officeDocument/2006/relationships/notesMaster" Target="/ppt/notesMasters/notesMaster1.xml" Id="R556d6deca8614e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146683faa649cd" /><Relationship Type="http://schemas.openxmlformats.org/officeDocument/2006/relationships/notesMaster" Target="/ppt/notesMasters/notesMaster1.xml" Id="Re2c60badac1740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1d2e0a7b574ad2" /><Relationship Type="http://schemas.openxmlformats.org/officeDocument/2006/relationships/notesMaster" Target="/ppt/notesMasters/notesMaster1.xml" Id="R8953e12f3cdb49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as Aiman Hazim Shafizam, Research Technician in Testing and Characterisation at CORNERSTONE. Open by framing this as a shared engineering workflow, not simply a new interface. The objective is to make wafer measurements easier to process, compare, explain, and reuse across teams. Mention that this deck covers the published v0.4.0 release and the proposal for controlled team adoption.</a:t>
            </a:r>
          </a:p>
          <a:p xmlns:a="http://schemas.openxmlformats.org/drawingml/2006/main">
            <a:r>
              <a:t/>
            </a:r>
          </a:p>
          <a:p xmlns:a="http://schemas.openxmlformats.org/drawingml/2006/main">
            <a:r>
              <a:t>[Sources]</a:t>
            </a:r>
          </a:p>
          <a:p xmlns:a="http://schemas.openxmlformats.org/drawingml/2006/main">
            <a:r>
              <a:t>- public/assets/CORNERSTONE_Logo.png</a:t>
            </a:r>
          </a:p>
          <a:p xmlns:a="http://schemas.openxmlformats.org/drawingml/2006/main">
            <a:r>
              <a:t>- Screenshot - App Development/05-compact-analysis-workspace-2026-08-21.png</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current friction in neutral terms: the problem is not the measurement equipment; it is the handoff between formats, calculations, visual review, and reporting. The suite is intended to preserve engineering judgement while reducing repetitive preparation and ambiguity.</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docs/releases/v0.4.0/FEATURES.md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Emphasise that normalisation is the key architectural idea: tester text files and manual spreadsheet measurements can enter the same downstream analysis. The stages remain separate enough to inspect, but the dataset context is retained throughout.</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docs/releases/v0.4.0/FEATURES.md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before-and-after to explain the design objective. The approved layout is not only cosmetic: it supports a real comparison task—selecting a die on the wafermap and immediately reviewing fit and spectral behaviour without losing context.</a:t>
            </a:r>
          </a:p>
          <a:p xmlns:a="http://schemas.openxmlformats.org/drawingml/2006/main">
            <a:r>
              <a:t/>
            </a:r>
          </a:p>
          <a:p xmlns:a="http://schemas.openxmlformats.org/drawingml/2006/main">
            <a:r>
              <a:t>[Sources]</a:t>
            </a:r>
          </a:p>
          <a:p xmlns:a="http://schemas.openxmlformats.org/drawingml/2006/main">
            <a:r>
              <a:t>- Screenshot - App Development/01-initial-interface-2026-08-20.png</a:t>
            </a:r>
          </a:p>
          <a:p xmlns:a="http://schemas.openxmlformats.org/drawingml/2006/main">
            <a:r>
              <a:t>- Screenshot - App Development/05-compact-analysis-workspace-2026-08-21.png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the distinction between counts and filters. Measured Chips describes dataset coverage; Valid Fitted Chips and wafer yield describe the quality gate. The wafer average is based on selected chips passing the fit criterion, while detailed MSE remains visible for individual fits.</a:t>
            </a:r>
          </a:p>
          <a:p xmlns:a="http://schemas.openxmlformats.org/drawingml/2006/main">
            <a:r>
              <a:t/>
            </a:r>
          </a:p>
          <a:p xmlns:a="http://schemas.openxmlformats.org/drawingml/2006/main">
            <a:r>
              <a:t>[Sources]</a:t>
            </a:r>
          </a:p>
          <a:p xmlns:a="http://schemas.openxmlformats.org/drawingml/2006/main">
            <a:r>
              <a:t>- Screenshot - App Development/11-propagation-analysis-current-v0.4.0.png</a:t>
            </a:r>
          </a:p>
          <a:p xmlns:a="http://schemas.openxmlformats.org/drawingml/2006/main">
            <a:r>
              <a:t>- docs/releases/v0.4.0/FEATURES.md</a:t>
            </a:r>
          </a:p>
          <a:p xmlns:a="http://schemas.openxmlformats.org/drawingml/2006/main">
            <a:r>
              <a:t>- docs/releases/v0.4.0/CHANGELOG.md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user interaction as a safety feature. Defaults are anchored to measured data, but the reviewer can set controlled thresholds for comparison. Temporarily clearing a field no longer forces the spinner arrows or interrupts the map; Reset Scale provides a clear return path.</a:t>
            </a:r>
          </a:p>
          <a:p xmlns:a="http://schemas.openxmlformats.org/drawingml/2006/main">
            <a:r>
              <a:t/>
            </a:r>
          </a:p>
          <a:p xmlns:a="http://schemas.openxmlformats.org/drawingml/2006/main">
            <a:r>
              <a:t>[Sources]</a:t>
            </a:r>
          </a:p>
          <a:p xmlns:a="http://schemas.openxmlformats.org/drawingml/2006/main">
            <a:r>
              <a:t>- Screenshot - App Development/07-wafer-scale-redesign-2026-08-21.png</a:t>
            </a:r>
          </a:p>
          <a:p xmlns:a="http://schemas.openxmlformats.org/drawingml/2006/main">
            <a:r>
              <a:t>- Screenshot - App Development/08-wafer-scale-editable-input-2026-08-21.png</a:t>
            </a:r>
          </a:p>
          <a:p xmlns:a="http://schemas.openxmlformats.org/drawingml/2006/main">
            <a:r>
              <a:t>- docs/releases/v0.4.0/CHANGELOG.md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one sentence to each workspace. For non-technical colleagues, describe them as three views of device performance: optical loss along waveguides, transmission through a component, and optical response to electrical heating. For technical colleagues, point to the specific metrics listed.</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docs/releases/v0.4.0/FEATURES.md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the Library as the long-term value layer. The workspaces answer the immediate engineering question; the Library helps the team retain, standardise and compare the evidence later. Mention that GitHub-hosted datasets can support shared access when repository credentials and governance are in place.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docs/releases/v0.4.0/FEATURES.md</a:t>
            </a:r>
          </a:p>
          <a:p xmlns:a="http://schemas.openxmlformats.org/drawingml/2006/main">
            <a:r>
              <a:t>- docs/DATASET_FILENAME_STANDARD.md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report generation remains the dedicated place for consolidated outputs. Duplicate post-processing actions were removed from the propagation panel so analysis and reporting responsibilities are clearer. The goal is a repeatable review package rather than a collection of manually assembled screenshots.</a:t>
            </a:r>
          </a:p>
          <a:p xmlns:a="http://schemas.openxmlformats.org/drawingml/2006/main">
            <a:r>
              <a:t/>
            </a:r>
          </a:p>
          <a:p xmlns:a="http://schemas.openxmlformats.org/drawingml/2006/main">
            <a:r>
              <a:t>[Sources]</a:t>
            </a:r>
          </a:p>
          <a:p xmlns:a="http://schemas.openxmlformats.org/drawingml/2006/main">
            <a:r>
              <a:t>- Screenshot - App Development/10-report-generator-current-v0.4.0.png</a:t>
            </a:r>
          </a:p>
          <a:p xmlns:a="http://schemas.openxmlformats.org/drawingml/2006/main">
            <a:r>
              <a:t>- README.md</a:t>
            </a:r>
          </a:p>
          <a:p xmlns:a="http://schemas.openxmlformats.org/drawingml/2006/main">
            <a:r>
              <a:t>- docs/releases/v0.4.0/CHANGELOG.md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Tailor this slide to test engineers and operators. The strongest benefit is clarity during the work: users know when loading is happening, can see dataset coverage separately from fit yield, and can compare selected chips without rearranging the page.</a:t>
            </a:r>
          </a:p>
          <a:p xmlns:a="http://schemas.openxmlformats.org/drawingml/2006/main">
            <a:r>
              <a:t/>
            </a:r>
          </a:p>
          <a:p xmlns:a="http://schemas.openxmlformats.org/drawingml/2006/main">
            <a:r>
              <a:t>[Sources]</a:t>
            </a:r>
          </a:p>
          <a:p xmlns:a="http://schemas.openxmlformats.org/drawingml/2006/main">
            <a:r>
              <a:t>- docs/releases/v0.4.0/FEATURES.md</a:t>
            </a:r>
          </a:p>
          <a:p xmlns:a="http://schemas.openxmlformats.org/drawingml/2006/main">
            <a:r>
              <a:t>- docs/releases/v0.4.0/CHANGELOG.md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claiming that the app automatically changes the PDK. Its role is to improve the evidence feeding PDK decisions. It brings measured building-block performance, wafer variation, and processing assumptions into a form that is easier to compare and discuss.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docs/releases/v0.4.0/FEATURES.md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carefully. The application can align coordinate-based CD-SEM values with optical chip positions and support simple correlation inspection. It does not prove process causation. The value is faster joint review and better prioritisation of follow-up analysis.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docs/releases/v0.4.0/FEATURES.md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timeline to show disciplined iteration rather than a single large build. Start with the June repository and deployment foundation, then explain how real dataset loading drove the analysis features, and how user review on 20–21 August shaped the current interface.</a:t>
            </a:r>
          </a:p>
          <a:p xmlns:a="http://schemas.openxmlformats.org/drawingml/2006/main">
            <a:r>
              <a:t/>
            </a:r>
          </a:p>
          <a:p xmlns:a="http://schemas.openxmlformats.org/drawingml/2006/main">
            <a:r>
              <a:t>[Sources]</a:t>
            </a:r>
          </a:p>
          <a:p xmlns:a="http://schemas.openxmlformats.org/drawingml/2006/main">
            <a:r>
              <a:t>- docs/PROJECT_VERSION_HISTORY.md</a:t>
            </a:r>
          </a:p>
          <a:p xmlns:a="http://schemas.openxmlformats.org/drawingml/2006/main">
            <a:r>
              <a:t>- git history recorded in the local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release gate has been completed. The v0.4.0 work was integrated onto the latest origin/main, rebuilt, browser-tested, checked for release scope and then published as commit fd1ac31. Unrelated dataset edits and the older root-level presentation were deliberately excluded. The next step is controlled review with representatives from the test, PDK and cleanroom teams.</a:t>
            </a:r>
          </a:p>
          <a:p xmlns:a="http://schemas.openxmlformats.org/drawingml/2006/main">
            <a:r>
              <a:t/>
            </a:r>
          </a:p>
          <a:p xmlns:a="http://schemas.openxmlformats.org/drawingml/2006/main">
            <a:r>
              <a:t>[Sources]</a:t>
            </a:r>
          </a:p>
          <a:p xmlns:a="http://schemas.openxmlformats.org/drawingml/2006/main">
            <a:r>
              <a:t>- docs/releases/v0.4.0/RELEASE_CHECKLIST.md</a:t>
            </a:r>
          </a:p>
          <a:p xmlns:a="http://schemas.openxmlformats.org/drawingml/2006/main">
            <a:r>
              <a:t>- Git commit fd1ac311beec417e760cc58e78c38c61d73a238c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concrete decision. Recommend a small pilot using representative datasets and reviewers from the three teams. Ask participants to evaluate trust in the metrics, clarity of the workflow, usefulness of the outputs, and the highest-priority gaps for the next release.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docs/releases/v0.4.0/FEATURES.md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9c7b5a115643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b44755cbc34e17" /><Relationship Type="http://schemas.openxmlformats.org/officeDocument/2006/relationships/slideLayout" Target="/ppt/slideLayouts/slideLayout1.xml" Id="R510056261c8d4d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0056261c8d4d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f7d18bd8194b8b" /><Relationship Type="http://schemas.openxmlformats.org/officeDocument/2006/relationships/image" Target="/ppt/media/image.png" Id="R6e6aa1e470ac4327" /><Relationship Type="http://schemas.openxmlformats.org/officeDocument/2006/relationships/image" Target="/ppt/media/image2.png" Id="R80cd125b44ff4a3e" /><Relationship Type="http://schemas.openxmlformats.org/officeDocument/2006/relationships/notesSlide" Target="/ppt/notesSlides/notesSlide1.xml" Id="Rfe1b3b42837842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b92ba79d884708" /><Relationship Type="http://schemas.openxmlformats.org/officeDocument/2006/relationships/notesSlide" Target="/ppt/notesSlides/notesSlide2.xml" Id="Rdbc35779afc94f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62a74f62fa481d" /><Relationship Type="http://schemas.openxmlformats.org/officeDocument/2006/relationships/notesSlide" Target="/ppt/notesSlides/notesSlide3.xml" Id="Rf5333f54b69c44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ce1cb89cf1451f" /><Relationship Type="http://schemas.openxmlformats.org/officeDocument/2006/relationships/image" Target="/ppt/media/image3.png" Id="R6120aecf0e5947ac" /><Relationship Type="http://schemas.openxmlformats.org/officeDocument/2006/relationships/image" Target="/ppt/media/image4.png" Id="Rf59260f358454749" /><Relationship Type="http://schemas.openxmlformats.org/officeDocument/2006/relationships/notesSlide" Target="/ppt/notesSlides/notesSlide4.xml" Id="Re841b23ff9924c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1dfb21cea747a7" /><Relationship Type="http://schemas.openxmlformats.org/officeDocument/2006/relationships/image" Target="/ppt/media/image.jpeg" Id="R15c4ab68b8ae4af2" /><Relationship Type="http://schemas.openxmlformats.org/officeDocument/2006/relationships/notesSlide" Target="/ppt/notesSlides/notesSlide5.xml" Id="R3ec1509b00de4d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87a0da330d4f3f" /><Relationship Type="http://schemas.openxmlformats.org/officeDocument/2006/relationships/image" Target="/ppt/media/image2.jpeg" Id="R2cae4931d6d848b2" /><Relationship Type="http://schemas.openxmlformats.org/officeDocument/2006/relationships/image" Target="/ppt/media/image3.jpeg" Id="Rafea63ef8b274a67" /><Relationship Type="http://schemas.openxmlformats.org/officeDocument/2006/relationships/notesSlide" Target="/ppt/notesSlides/notesSlide6.xml" Id="Ra1a25cc7dc7044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a110ebf97c452f" /><Relationship Type="http://schemas.openxmlformats.org/officeDocument/2006/relationships/notesSlide" Target="/ppt/notesSlides/notesSlide7.xml" Id="R8a273354381742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9b5a8746844c04" /><Relationship Type="http://schemas.openxmlformats.org/officeDocument/2006/relationships/notesSlide" Target="/ppt/notesSlides/notesSlide8.xml" Id="Rbf6552fc64ab41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3bf42378cf4cfb" /><Relationship Type="http://schemas.openxmlformats.org/officeDocument/2006/relationships/image" Target="/ppt/media/image4.jpeg" Id="R15eed98add5e41ed" /><Relationship Type="http://schemas.openxmlformats.org/officeDocument/2006/relationships/notesSlide" Target="/ppt/notesSlides/notesSlide9.xml" Id="R12b1227635ab48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49cdbdb58714854" /><Relationship Type="http://schemas.openxmlformats.org/officeDocument/2006/relationships/notesSlide" Target="/ppt/notesSlides/notesSlide10.xml" Id="R96da59986dda49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61b487008e54672" /><Relationship Type="http://schemas.openxmlformats.org/officeDocument/2006/relationships/notesSlide" Target="/ppt/notesSlides/notesSlide11.xml" Id="R047290c9f2a942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ada1c07c0304bfa" /><Relationship Type="http://schemas.openxmlformats.org/officeDocument/2006/relationships/notesSlide" Target="/ppt/notesSlides/notesSlide12.xml" Id="R1c57816a06d543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8227c35329a40c7" /><Relationship Type="http://schemas.openxmlformats.org/officeDocument/2006/relationships/notesSlide" Target="/ppt/notesSlides/notesSlide13.xml" Id="R0f419c6b2a304d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b62fba45cbf4dde" /><Relationship Type="http://schemas.openxmlformats.org/officeDocument/2006/relationships/notesSlide" Target="/ppt/notesSlides/notesSlide14.xml" Id="R8b2a5d3aca8942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445f084f1264ea2" /><Relationship Type="http://schemas.openxmlformats.org/officeDocument/2006/relationships/notesSlide" Target="/ppt/notesSlides/notesSlide15.xml" Id="Rac8948052b934a4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39ED37E-E5C0-4520-A529-58A5FC3865C2}"/>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180876-C72A-43B2-BD09-A59799093BDA}"/>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A9C43C-DA90-46DC-97B1-074D6390181F}"/>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CA96A04-A693-424A-894D-DAA60D78E48E}"/>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4B8A936-E93E-424A-A570-679D420783A2}"/>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EA07FE9-B26E-476F-82F1-8705CA5D40CE}"/>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e6aa1e470ac4327"/>
          <a:stretch xmlns:a="http://schemas.openxmlformats.org/drawingml/2006/main"/>
        </p:blipFill>
        <p:spPr>
          <a:xfrm xmlns:a="http://schemas.openxmlformats.org/drawingml/2006/main">
            <a:off x="675473" y="400050"/>
            <a:ext cx="1525605" cy="933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6294636-4289-49E9-93E4-0964211329AD}"/>
              </a:ext>
            </a:extLst>
          </p:cNvPr>
          <p:cNvSpPr>
            <a:spLocks xmlns:a="http://schemas.openxmlformats.org/drawingml/2006/main" noGrp="1"/>
          </p:cNvSpPr>
          <p:nvPr/>
        </p:nvSpPr>
        <p:spPr>
          <a:xfrm xmlns:a="http://schemas.openxmlformats.org/drawingml/2006/main">
            <a:off x="533400" y="18097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053"/>
          </a:bodyPr>
          <a:lstStyle xmlns:a="http://schemas.openxmlformats.org/drawingml/2006/main"/>
          <a:p xmlns:a="http://schemas.openxmlformats.org/drawingml/2006/main">
            <a:pPr algn="l">
              <a:buNone/>
              <a:defRPr sz="4350" b="1">
                <a:solidFill>
                  <a:srgbClr val="111A3B"/>
                </a:solidFill>
                <a:latin typeface="Arial"/>
                <a:ea typeface="Arial"/>
                <a:cs typeface="Arial"/>
              </a:defRPr>
            </a:pPr>
            <a:r>
              <a:rPr sz="4350" b="1">
                <a:solidFill>
                  <a:srgbClr val="111A3B"/>
                </a:solidFill>
                <a:latin typeface="Arial"/>
                <a:ea typeface="Arial"/>
                <a:cs typeface="Arial"/>
              </a:rPr>
              <a:t>Wafer Post-Processing</a:t>
            </a:r>
          </a:p>
          <a:p xmlns:a="http://schemas.openxmlformats.org/drawingml/2006/main">
            <a:pPr algn="l">
              <a:buNone/>
              <a:defRPr sz="4350" b="1">
                <a:solidFill>
                  <a:srgbClr val="111A3B"/>
                </a:solidFill>
                <a:latin typeface="Arial"/>
                <a:ea typeface="Arial"/>
                <a:cs typeface="Arial"/>
              </a:defRPr>
            </a:pPr>
            <a:r>
              <a:rPr sz="4350" b="1">
                <a:solidFill>
                  <a:srgbClr val="111A3B"/>
                </a:solidFill>
                <a:latin typeface="Arial"/>
                <a:ea typeface="Arial"/>
                <a:cs typeface="Arial"/>
              </a:rPr>
              <a:t>Suite</a:t>
            </a:r>
          </a:p>
        </p:txBody>
      </p:sp>
      <p:sp>
        <p:nvSpPr>
          <p:cNvPr id="9" name="">
            <a:extLst xmlns:a="http://schemas.openxmlformats.org/drawingml/2006/main">
              <a:ext uri="{FF2B5EF4-FFF2-40B4-BE49-F238E27FC236}">
                <a16:creationId xmlns:a16="http://schemas.microsoft.com/office/drawing/2014/main" id="{9C989A0F-0671-47CF-9060-E86FF572D7BF}"/>
              </a:ext>
            </a:extLst>
          </p:cNvPr>
          <p:cNvSpPr>
            <a:spLocks xmlns:a="http://schemas.openxmlformats.org/drawingml/2006/main" noGrp="1"/>
          </p:cNvSpPr>
          <p:nvPr/>
        </p:nvSpPr>
        <p:spPr>
          <a:xfrm xmlns:a="http://schemas.openxmlformats.org/drawingml/2006/main">
            <a:off x="533400" y="342900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66708D"/>
                </a:solidFill>
                <a:latin typeface="Arial"/>
                <a:ea typeface="Arial"/>
                <a:cs typeface="Arial"/>
              </a:defRPr>
            </a:pPr>
            <a:r>
              <a:rPr sz="1875" b="0">
                <a:solidFill>
                  <a:srgbClr val="66708D"/>
                </a:solidFill>
                <a:latin typeface="Arial"/>
                <a:ea typeface="Arial"/>
                <a:cs typeface="Arial"/>
              </a:rPr>
              <a:t>Unified processing and analysis for silicon photonics wafer measurements</a:t>
            </a:r>
          </a:p>
        </p:txBody>
      </p:sp>
      <p:sp>
        <p:nvSpPr>
          <p:cNvPr id="10" name="">
            <a:extLst xmlns:a="http://schemas.openxmlformats.org/drawingml/2006/main">
              <a:ext uri="{FF2B5EF4-FFF2-40B4-BE49-F238E27FC236}">
                <a16:creationId xmlns:a16="http://schemas.microsoft.com/office/drawing/2014/main" id="{28ECD252-B653-492B-8DC3-354E10E4AE29}"/>
              </a:ext>
            </a:extLst>
          </p:cNvPr>
          <p:cNvSpPr>
            <a:spLocks xmlns:a="http://schemas.openxmlformats.org/drawingml/2006/main" noGrp="1"/>
          </p:cNvSpPr>
          <p:nvPr/>
        </p:nvSpPr>
        <p:spPr>
          <a:xfrm xmlns:a="http://schemas.openxmlformats.org/drawingml/2006/main">
            <a:off x="533400" y="571500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056"/>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Created by Aiman Hazim Shafizam · Research Technician
Testing and Characterisation · CORNERSTONE · v0.4.0 · 21 August 2026</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0cd125b44ff4a3e"/>
          <a:stretch xmlns:a="http://schemas.openxmlformats.org/drawingml/2006/main"/>
        </p:blipFill>
        <p:spPr>
          <a:xfrm xmlns:a="http://schemas.openxmlformats.org/drawingml/2006/main">
            <a:off x="6057900" y="1792786"/>
            <a:ext cx="5600700" cy="3139078"/>
          </a:xfrm>
          <a:prstGeom xmlns:a="http://schemas.openxmlformats.org/drawingml/2006/main" prst="rect">
            <a:avLst/>
          </a:prstGeom>
        </p:spPr>
      </p:pic>
    </p:spTree>
    <p:extLst>
      <p:ext uri="{BB962C8B-B14F-4D97-AF65-F5344CB8AC3E}">
        <p14:creationId xmlns:p14="http://schemas.microsoft.com/office/powerpoint/2010/main" val="1139785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7482951-17EB-4D7D-BE38-E55074995279}"/>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1DFA0D-B70C-45D4-9247-6282570403DA}"/>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3AF3AD-6F23-49CA-BE8B-4172015689A4}"/>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E492D7-1E3C-4B5A-B7D9-E9576A210E9F}"/>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86B66C2-DD54-4E8E-8845-FA725D4EFA1E}"/>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881D868-65BA-473A-9F84-7F4A2065D6E9}"/>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CEBEB74-3F1B-4BDE-A289-8265DE654852}"/>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381A155F-6E66-4020-B061-2F05CA06DE9D}"/>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956"/>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Wafer measurements become more useful when the workflow is shared</a:t>
            </a:r>
          </a:p>
        </p:txBody>
      </p:sp>
      <p:sp>
        <p:nvSpPr>
          <p:cNvPr id="9" name="">
            <a:extLst xmlns:a="http://schemas.openxmlformats.org/drawingml/2006/main">
              <a:ext uri="{FF2B5EF4-FFF2-40B4-BE49-F238E27FC236}">
                <a16:creationId xmlns:a16="http://schemas.microsoft.com/office/drawing/2014/main" id="{137AC5F0-9E42-4371-9FBC-030DE67C04F3}"/>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83C7E45-0F69-4775-BEE8-443ED8BA26C8}"/>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CF3EDCBE-DE2A-45BA-9C3B-A2A8494493DA}"/>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EF164099-474C-40DC-9EBF-33C7E022E17B}"/>
              </a:ext>
            </a:extLst>
          </p:cNvPr>
          <p:cNvSpPr>
            <a:spLocks xmlns:a="http://schemas.openxmlformats.org/drawingml/2006/main" noGrp="1"/>
          </p:cNvSpPr>
          <p:nvPr/>
        </p:nvSpPr>
        <p:spPr>
          <a:xfrm xmlns:a="http://schemas.openxmlformats.org/drawingml/2006/main">
            <a:off x="533400" y="1714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Today’s opportunity</a:t>
            </a:r>
          </a:p>
        </p:txBody>
      </p:sp>
      <p:sp>
        <p:nvSpPr>
          <p:cNvPr id="13" name="">
            <a:extLst xmlns:a="http://schemas.openxmlformats.org/drawingml/2006/main">
              <a:ext uri="{FF2B5EF4-FFF2-40B4-BE49-F238E27FC236}">
                <a16:creationId xmlns:a16="http://schemas.microsoft.com/office/drawing/2014/main" id="{80E73796-FA16-498F-B284-2B42A56E5245}"/>
              </a:ext>
            </a:extLst>
          </p:cNvPr>
          <p:cNvSpPr>
            <a:spLocks xmlns:a="http://schemas.openxmlformats.org/drawingml/2006/main" noGrp="1"/>
          </p:cNvSpPr>
          <p:nvPr/>
        </p:nvSpPr>
        <p:spPr>
          <a:xfrm xmlns:a="http://schemas.openxmlformats.org/drawingml/2006/main">
            <a:off x="533400" y="213360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151A2F"/>
                </a:solidFill>
                <a:latin typeface="Arial"/>
                <a:ea typeface="Arial"/>
                <a:cs typeface="Arial"/>
              </a:defRPr>
            </a:pPr>
            <a:r>
              <a:rPr sz="1800" b="0">
                <a:solidFill>
                  <a:srgbClr val="151A2F"/>
                </a:solidFill>
                <a:latin typeface="Arial"/>
                <a:ea typeface="Arial"/>
                <a:cs typeface="Arial"/>
              </a:rPr>
              <a:t>Optical and electrical measurements arrive in different formats, are reviewed through different tools, and can be difficult to compare later. The suite creates one visible path from source files to wafer-level evidence.</a:t>
            </a:r>
          </a:p>
        </p:txBody>
      </p:sp>
      <p:sp>
        <p:nvSpPr>
          <p:cNvPr id="14" name="">
            <a:extLst xmlns:a="http://schemas.openxmlformats.org/drawingml/2006/main">
              <a:ext uri="{FF2B5EF4-FFF2-40B4-BE49-F238E27FC236}">
                <a16:creationId xmlns:a16="http://schemas.microsoft.com/office/drawing/2014/main" id="{BF65E346-3BF2-4BFF-8D1A-201CF319AF60}"/>
              </a:ext>
            </a:extLst>
          </p:cNvPr>
          <p:cNvSpPr>
            <a:spLocks xmlns:a="http://schemas.openxmlformats.org/drawingml/2006/main" noGrp="1"/>
          </p:cNvSpPr>
          <p:nvPr/>
        </p:nvSpPr>
        <p:spPr>
          <a:xfrm xmlns:a="http://schemas.openxmlformats.org/drawingml/2006/main">
            <a:off x="6057900" y="1771650"/>
            <a:ext cx="9525" cy="382905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E0F0023-0E99-4423-AE10-FC1BE5B56C4A}"/>
              </a:ext>
            </a:extLst>
          </p:cNvPr>
          <p:cNvSpPr>
            <a:spLocks xmlns:a="http://schemas.openxmlformats.org/drawingml/2006/main" noGrp="1"/>
          </p:cNvSpPr>
          <p:nvPr/>
        </p:nvSpPr>
        <p:spPr>
          <a:xfrm xmlns:a="http://schemas.openxmlformats.org/drawingml/2006/main">
            <a:off x="6572250" y="19907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BEA674F-46FB-42E6-8DC8-FBE2CC4A427C}"/>
              </a:ext>
            </a:extLst>
          </p:cNvPr>
          <p:cNvSpPr>
            <a:spLocks xmlns:a="http://schemas.openxmlformats.org/drawingml/2006/main" noGrp="1"/>
          </p:cNvSpPr>
          <p:nvPr/>
        </p:nvSpPr>
        <p:spPr>
          <a:xfrm xmlns:a="http://schemas.openxmlformats.org/drawingml/2006/main">
            <a:off x="6800850" y="192405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Reduce manual translation between tester and spreadsheet workflows</a:t>
            </a:r>
          </a:p>
        </p:txBody>
      </p:sp>
      <p:sp>
        <p:nvSpPr>
          <p:cNvPr id="17" name="">
            <a:extLst xmlns:a="http://schemas.openxmlformats.org/drawingml/2006/main">
              <a:ext uri="{FF2B5EF4-FFF2-40B4-BE49-F238E27FC236}">
                <a16:creationId xmlns:a16="http://schemas.microsoft.com/office/drawing/2014/main" id="{EADFF859-4AFA-438D-A494-3617808BB327}"/>
              </a:ext>
            </a:extLst>
          </p:cNvPr>
          <p:cNvSpPr>
            <a:spLocks xmlns:a="http://schemas.openxmlformats.org/drawingml/2006/main" noGrp="1"/>
          </p:cNvSpPr>
          <p:nvPr/>
        </p:nvSpPr>
        <p:spPr>
          <a:xfrm xmlns:a="http://schemas.openxmlformats.org/drawingml/2006/main">
            <a:off x="6572250" y="27717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7DCCBCD-1833-46F5-92BE-58DEC60AE0FA}"/>
              </a:ext>
            </a:extLst>
          </p:cNvPr>
          <p:cNvSpPr>
            <a:spLocks xmlns:a="http://schemas.openxmlformats.org/drawingml/2006/main" noGrp="1"/>
          </p:cNvSpPr>
          <p:nvPr/>
        </p:nvSpPr>
        <p:spPr>
          <a:xfrm xmlns:a="http://schemas.openxmlformats.org/drawingml/2006/main">
            <a:off x="6800850" y="270510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Make processing status and fit quality visible to the reviewer</a:t>
            </a:r>
          </a:p>
        </p:txBody>
      </p:sp>
      <p:sp>
        <p:nvSpPr>
          <p:cNvPr id="19" name="">
            <a:extLst xmlns:a="http://schemas.openxmlformats.org/drawingml/2006/main">
              <a:ext uri="{FF2B5EF4-FFF2-40B4-BE49-F238E27FC236}">
                <a16:creationId xmlns:a16="http://schemas.microsoft.com/office/drawing/2014/main" id="{51918A44-1F5C-4BFB-9A96-3A633285382D}"/>
              </a:ext>
            </a:extLst>
          </p:cNvPr>
          <p:cNvSpPr>
            <a:spLocks xmlns:a="http://schemas.openxmlformats.org/drawingml/2006/main" noGrp="1"/>
          </p:cNvSpPr>
          <p:nvPr/>
        </p:nvSpPr>
        <p:spPr>
          <a:xfrm xmlns:a="http://schemas.openxmlformats.org/drawingml/2006/main">
            <a:off x="6572250" y="35528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F7F5378-02CB-4D42-BB9C-A25E95C3737A}"/>
              </a:ext>
            </a:extLst>
          </p:cNvPr>
          <p:cNvSpPr>
            <a:spLocks xmlns:a="http://schemas.openxmlformats.org/drawingml/2006/main" noGrp="1"/>
          </p:cNvSpPr>
          <p:nvPr/>
        </p:nvSpPr>
        <p:spPr>
          <a:xfrm xmlns:a="http://schemas.openxmlformats.org/drawingml/2006/main">
            <a:off x="6800850" y="348615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Keep chip, wafer, and dataset context together</a:t>
            </a:r>
          </a:p>
        </p:txBody>
      </p:sp>
      <p:sp>
        <p:nvSpPr>
          <p:cNvPr id="21" name="">
            <a:extLst xmlns:a="http://schemas.openxmlformats.org/drawingml/2006/main">
              <a:ext uri="{FF2B5EF4-FFF2-40B4-BE49-F238E27FC236}">
                <a16:creationId xmlns:a16="http://schemas.microsoft.com/office/drawing/2014/main" id="{ADF0AC4E-3E69-4D5B-9385-8A86FF9FD995}"/>
              </a:ext>
            </a:extLst>
          </p:cNvPr>
          <p:cNvSpPr>
            <a:spLocks xmlns:a="http://schemas.openxmlformats.org/drawingml/2006/main" noGrp="1"/>
          </p:cNvSpPr>
          <p:nvPr/>
        </p:nvSpPr>
        <p:spPr>
          <a:xfrm xmlns:a="http://schemas.openxmlformats.org/drawingml/2006/main">
            <a:off x="6572250" y="43338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7B24B6F-6DD3-4EA3-AF70-6A4D4ABB2145}"/>
              </a:ext>
            </a:extLst>
          </p:cNvPr>
          <p:cNvSpPr>
            <a:spLocks xmlns:a="http://schemas.openxmlformats.org/drawingml/2006/main" noGrp="1"/>
          </p:cNvSpPr>
          <p:nvPr/>
        </p:nvSpPr>
        <p:spPr>
          <a:xfrm xmlns:a="http://schemas.openxmlformats.org/drawingml/2006/main">
            <a:off x="6800850" y="426720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Create repeatable outputs for technical review and reporting</a:t>
            </a:r>
          </a:p>
        </p:txBody>
      </p:sp>
    </p:spTree>
    <p:extLst>
      <p:ext uri="{BB962C8B-B14F-4D97-AF65-F5344CB8AC3E}">
        <p14:creationId xmlns:p14="http://schemas.microsoft.com/office/powerpoint/2010/main" val="117039202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1C79194-BC06-4CE7-9F72-05A53B76537F}"/>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8A3589-5A25-47D8-9DA9-5E4A4BA27E73}"/>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72A804-03AC-4181-B4FD-13456F572CE9}"/>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3143A0-6DBD-4E4F-A8BC-9A6E1D7A2E47}"/>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91132CB-A569-4755-8DCB-E2AD84F90A00}"/>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7590F86-2679-43FB-94F9-EB57EC9E82B6}"/>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A8D9280-B94E-49E2-9825-F528B9B98B5F}"/>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E101DC4A-87FE-4D78-A09A-7FAA3F94EBBB}"/>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291"/>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One workflow connects raw files, analysis, wafer context, and reports</a:t>
            </a:r>
          </a:p>
        </p:txBody>
      </p:sp>
      <p:sp>
        <p:nvSpPr>
          <p:cNvPr id="9" name="">
            <a:extLst xmlns:a="http://schemas.openxmlformats.org/drawingml/2006/main">
              <a:ext uri="{FF2B5EF4-FFF2-40B4-BE49-F238E27FC236}">
                <a16:creationId xmlns:a16="http://schemas.microsoft.com/office/drawing/2014/main" id="{D71F17D1-421F-47B6-99E4-5D4176B8CD73}"/>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2C6B527-0A0E-4626-A927-4FF00F27539E}"/>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A44BA9F3-9228-4AFE-A31B-5D3DE5C16258}"/>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2FE3C75F-55A5-4C5A-818D-B2F32BAD1254}"/>
              </a:ext>
            </a:extLst>
          </p:cNvPr>
          <p:cNvSpPr>
            <a:spLocks xmlns:a="http://schemas.openxmlformats.org/drawingml/2006/main" noGrp="1"/>
          </p:cNvSpPr>
          <p:nvPr/>
        </p:nvSpPr>
        <p:spPr>
          <a:xfrm xmlns:a="http://schemas.openxmlformats.org/drawingml/2006/main">
            <a:off x="2209800" y="3162300"/>
            <a:ext cx="514350" cy="2857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968170B-FB3F-4D46-AE53-802B539560E5}"/>
              </a:ext>
            </a:extLst>
          </p:cNvPr>
          <p:cNvSpPr>
            <a:spLocks xmlns:a="http://schemas.openxmlformats.org/drawingml/2006/main" noGrp="1"/>
          </p:cNvSpPr>
          <p:nvPr/>
        </p:nvSpPr>
        <p:spPr>
          <a:xfrm xmlns:a="http://schemas.openxmlformats.org/drawingml/2006/main">
            <a:off x="533400" y="2133600"/>
            <a:ext cx="1790700" cy="2095500"/>
          </a:xfrm>
          <a:prstGeom xmlns:a="http://schemas.openxmlformats.org/drawingml/2006/main" prst="roundRect">
            <a:avLst>
              <a:gd name="adj" fmla="val 6383"/>
            </a:avLst>
          </a:prstGeom>
          <a:solidFill xmlns:a="http://schemas.openxmlformats.org/drawingml/2006/main">
            <a:srgbClr val="F4F6FA"/>
          </a:solidFill>
          <a:ln xmlns:a="http://schemas.openxmlformats.org/drawingml/2006/main" w="9525">
            <a:solidFill>
              <a:srgbClr val="D9DEEA"/>
            </a:solidFill>
            <a:prstDash val="solid"/>
          </a:ln>
        </p:spPr>
      </p:sp>
      <p:sp>
        <p:nvSpPr>
          <p:cNvPr id="14" name="">
            <a:extLst xmlns:a="http://schemas.openxmlformats.org/drawingml/2006/main">
              <a:ext uri="{FF2B5EF4-FFF2-40B4-BE49-F238E27FC236}">
                <a16:creationId xmlns:a16="http://schemas.microsoft.com/office/drawing/2014/main" id="{72B27C55-566F-4DA4-B84E-C14D0CCFC03E}"/>
              </a:ext>
            </a:extLst>
          </p:cNvPr>
          <p:cNvSpPr>
            <a:spLocks xmlns:a="http://schemas.openxmlformats.org/drawingml/2006/main" noGrp="1"/>
          </p:cNvSpPr>
          <p:nvPr/>
        </p:nvSpPr>
        <p:spPr>
          <a:xfrm xmlns:a="http://schemas.openxmlformats.org/drawingml/2006/main">
            <a:off x="704850" y="2343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1  INGEST</a:t>
            </a:r>
          </a:p>
        </p:txBody>
      </p:sp>
      <p:sp>
        <p:nvSpPr>
          <p:cNvPr id="15" name="">
            <a:extLst xmlns:a="http://schemas.openxmlformats.org/drawingml/2006/main">
              <a:ext uri="{FF2B5EF4-FFF2-40B4-BE49-F238E27FC236}">
                <a16:creationId xmlns:a16="http://schemas.microsoft.com/office/drawing/2014/main" id="{C31D092B-8D7A-42F7-BA15-46FFDD59E575}"/>
              </a:ext>
            </a:extLst>
          </p:cNvPr>
          <p:cNvSpPr>
            <a:spLocks xmlns:a="http://schemas.openxmlformats.org/drawingml/2006/main" noGrp="1"/>
          </p:cNvSpPr>
          <p:nvPr/>
        </p:nvSpPr>
        <p:spPr>
          <a:xfrm xmlns:a="http://schemas.openxmlformats.org/drawingml/2006/main">
            <a:off x="704850" y="28194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TXT, CSV, XLSX and bundled GitHub datasets</a:t>
            </a:r>
          </a:p>
        </p:txBody>
      </p:sp>
      <p:sp>
        <p:nvSpPr>
          <p:cNvPr id="16" name="">
            <a:extLst xmlns:a="http://schemas.openxmlformats.org/drawingml/2006/main">
              <a:ext uri="{FF2B5EF4-FFF2-40B4-BE49-F238E27FC236}">
                <a16:creationId xmlns:a16="http://schemas.microsoft.com/office/drawing/2014/main" id="{7A732EC1-E77D-473A-B862-FB864401BDC9}"/>
              </a:ext>
            </a:extLst>
          </p:cNvPr>
          <p:cNvSpPr>
            <a:spLocks xmlns:a="http://schemas.openxmlformats.org/drawingml/2006/main" noGrp="1"/>
          </p:cNvSpPr>
          <p:nvPr/>
        </p:nvSpPr>
        <p:spPr>
          <a:xfrm xmlns:a="http://schemas.openxmlformats.org/drawingml/2006/main">
            <a:off x="4400550" y="3162300"/>
            <a:ext cx="514350" cy="2857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CDE31EA-306C-4CBE-B1E9-7F05B4CC4C0D}"/>
              </a:ext>
            </a:extLst>
          </p:cNvPr>
          <p:cNvSpPr>
            <a:spLocks xmlns:a="http://schemas.openxmlformats.org/drawingml/2006/main" noGrp="1"/>
          </p:cNvSpPr>
          <p:nvPr/>
        </p:nvSpPr>
        <p:spPr>
          <a:xfrm xmlns:a="http://schemas.openxmlformats.org/drawingml/2006/main">
            <a:off x="2724150" y="2133600"/>
            <a:ext cx="1790700" cy="2095500"/>
          </a:xfrm>
          <a:prstGeom xmlns:a="http://schemas.openxmlformats.org/drawingml/2006/main" prst="roundRect">
            <a:avLst>
              <a:gd name="adj" fmla="val 6383"/>
            </a:avLst>
          </a:prstGeom>
          <a:solidFill xmlns:a="http://schemas.openxmlformats.org/drawingml/2006/main">
            <a:srgbClr val="F4F6FA"/>
          </a:solidFill>
          <a:ln xmlns:a="http://schemas.openxmlformats.org/drawingml/2006/main" w="9525">
            <a:solidFill>
              <a:srgbClr val="D9DEEA"/>
            </a:solidFill>
            <a:prstDash val="solid"/>
          </a:ln>
        </p:spPr>
      </p:sp>
      <p:sp>
        <p:nvSpPr>
          <p:cNvPr id="18" name="">
            <a:extLst xmlns:a="http://schemas.openxmlformats.org/drawingml/2006/main">
              <a:ext uri="{FF2B5EF4-FFF2-40B4-BE49-F238E27FC236}">
                <a16:creationId xmlns:a16="http://schemas.microsoft.com/office/drawing/2014/main" id="{F5147C52-53BF-4789-A32E-3D0DA5860B38}"/>
              </a:ext>
            </a:extLst>
          </p:cNvPr>
          <p:cNvSpPr>
            <a:spLocks xmlns:a="http://schemas.openxmlformats.org/drawingml/2006/main" noGrp="1"/>
          </p:cNvSpPr>
          <p:nvPr/>
        </p:nvSpPr>
        <p:spPr>
          <a:xfrm xmlns:a="http://schemas.openxmlformats.org/drawingml/2006/main">
            <a:off x="2895600" y="2343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2  NORMALISE</a:t>
            </a:r>
          </a:p>
        </p:txBody>
      </p:sp>
      <p:sp>
        <p:nvSpPr>
          <p:cNvPr id="19" name="">
            <a:extLst xmlns:a="http://schemas.openxmlformats.org/drawingml/2006/main">
              <a:ext uri="{FF2B5EF4-FFF2-40B4-BE49-F238E27FC236}">
                <a16:creationId xmlns:a16="http://schemas.microsoft.com/office/drawing/2014/main" id="{07FD51C9-4438-4361-9A82-A4C496503C84}"/>
              </a:ext>
            </a:extLst>
          </p:cNvPr>
          <p:cNvSpPr>
            <a:spLocks xmlns:a="http://schemas.openxmlformats.org/drawingml/2006/main" noGrp="1"/>
          </p:cNvSpPr>
          <p:nvPr/>
        </p:nvSpPr>
        <p:spPr>
          <a:xfrm xmlns:a="http://schemas.openxmlformats.org/drawingml/2006/main">
            <a:off x="2895600" y="28194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Shared internal schema and controlled filenames</a:t>
            </a:r>
          </a:p>
        </p:txBody>
      </p:sp>
      <p:sp>
        <p:nvSpPr>
          <p:cNvPr id="20" name="">
            <a:extLst xmlns:a="http://schemas.openxmlformats.org/drawingml/2006/main">
              <a:ext uri="{FF2B5EF4-FFF2-40B4-BE49-F238E27FC236}">
                <a16:creationId xmlns:a16="http://schemas.microsoft.com/office/drawing/2014/main" id="{6C2494B2-A126-4817-97CC-0CB6502D3B2D}"/>
              </a:ext>
            </a:extLst>
          </p:cNvPr>
          <p:cNvSpPr>
            <a:spLocks xmlns:a="http://schemas.openxmlformats.org/drawingml/2006/main" noGrp="1"/>
          </p:cNvSpPr>
          <p:nvPr/>
        </p:nvSpPr>
        <p:spPr>
          <a:xfrm xmlns:a="http://schemas.openxmlformats.org/drawingml/2006/main">
            <a:off x="6591300" y="3162300"/>
            <a:ext cx="514350" cy="2857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9829753-DEAC-4326-937E-ACE9897E6B95}"/>
              </a:ext>
            </a:extLst>
          </p:cNvPr>
          <p:cNvSpPr>
            <a:spLocks xmlns:a="http://schemas.openxmlformats.org/drawingml/2006/main" noGrp="1"/>
          </p:cNvSpPr>
          <p:nvPr/>
        </p:nvSpPr>
        <p:spPr>
          <a:xfrm xmlns:a="http://schemas.openxmlformats.org/drawingml/2006/main">
            <a:off x="4914900" y="2133600"/>
            <a:ext cx="1790700" cy="2095500"/>
          </a:xfrm>
          <a:prstGeom xmlns:a="http://schemas.openxmlformats.org/drawingml/2006/main" prst="roundRect">
            <a:avLst>
              <a:gd name="adj" fmla="val 6383"/>
            </a:avLst>
          </a:prstGeom>
          <a:solidFill xmlns:a="http://schemas.openxmlformats.org/drawingml/2006/main">
            <a:srgbClr val="EEEAFB"/>
          </a:solidFill>
          <a:ln xmlns:a="http://schemas.openxmlformats.org/drawingml/2006/main" w="9525">
            <a:solidFill>
              <a:srgbClr val="D9DEEA"/>
            </a:solidFill>
            <a:prstDash val="solid"/>
          </a:ln>
        </p:spPr>
      </p:sp>
      <p:sp>
        <p:nvSpPr>
          <p:cNvPr id="22" name="">
            <a:extLst xmlns:a="http://schemas.openxmlformats.org/drawingml/2006/main">
              <a:ext uri="{FF2B5EF4-FFF2-40B4-BE49-F238E27FC236}">
                <a16:creationId xmlns:a16="http://schemas.microsoft.com/office/drawing/2014/main" id="{7EE4444C-5187-44DD-9815-51444DEE6336}"/>
              </a:ext>
            </a:extLst>
          </p:cNvPr>
          <p:cNvSpPr>
            <a:spLocks xmlns:a="http://schemas.openxmlformats.org/drawingml/2006/main" noGrp="1"/>
          </p:cNvSpPr>
          <p:nvPr/>
        </p:nvSpPr>
        <p:spPr>
          <a:xfrm xmlns:a="http://schemas.openxmlformats.org/drawingml/2006/main">
            <a:off x="5086350" y="2343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3  ANALYSE</a:t>
            </a:r>
          </a:p>
        </p:txBody>
      </p:sp>
      <p:sp>
        <p:nvSpPr>
          <p:cNvPr id="23" name="">
            <a:extLst xmlns:a="http://schemas.openxmlformats.org/drawingml/2006/main">
              <a:ext uri="{FF2B5EF4-FFF2-40B4-BE49-F238E27FC236}">
                <a16:creationId xmlns:a16="http://schemas.microsoft.com/office/drawing/2014/main" id="{2C65EFED-3DE7-4150-913C-5517D92B2C9B}"/>
              </a:ext>
            </a:extLst>
          </p:cNvPr>
          <p:cNvSpPr>
            <a:spLocks xmlns:a="http://schemas.openxmlformats.org/drawingml/2006/main" noGrp="1"/>
          </p:cNvSpPr>
          <p:nvPr/>
        </p:nvSpPr>
        <p:spPr>
          <a:xfrm xmlns:a="http://schemas.openxmlformats.org/drawingml/2006/main">
            <a:off x="5086350" y="28194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Propagation, insertion and heater metrics</a:t>
            </a:r>
          </a:p>
        </p:txBody>
      </p:sp>
      <p:sp>
        <p:nvSpPr>
          <p:cNvPr id="24" name="">
            <a:extLst xmlns:a="http://schemas.openxmlformats.org/drawingml/2006/main">
              <a:ext uri="{FF2B5EF4-FFF2-40B4-BE49-F238E27FC236}">
                <a16:creationId xmlns:a16="http://schemas.microsoft.com/office/drawing/2014/main" id="{518086F2-CEE0-48BD-BDBB-E542E5B8A1C5}"/>
              </a:ext>
            </a:extLst>
          </p:cNvPr>
          <p:cNvSpPr>
            <a:spLocks xmlns:a="http://schemas.openxmlformats.org/drawingml/2006/main" noGrp="1"/>
          </p:cNvSpPr>
          <p:nvPr/>
        </p:nvSpPr>
        <p:spPr>
          <a:xfrm xmlns:a="http://schemas.openxmlformats.org/drawingml/2006/main">
            <a:off x="8782050" y="3162300"/>
            <a:ext cx="514350" cy="2857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FBC69CD-CC8E-46BE-A381-F640EB8F4B95}"/>
              </a:ext>
            </a:extLst>
          </p:cNvPr>
          <p:cNvSpPr>
            <a:spLocks xmlns:a="http://schemas.openxmlformats.org/drawingml/2006/main" noGrp="1"/>
          </p:cNvSpPr>
          <p:nvPr/>
        </p:nvSpPr>
        <p:spPr>
          <a:xfrm xmlns:a="http://schemas.openxmlformats.org/drawingml/2006/main">
            <a:off x="7105650" y="2133600"/>
            <a:ext cx="1790700" cy="2095500"/>
          </a:xfrm>
          <a:prstGeom xmlns:a="http://schemas.openxmlformats.org/drawingml/2006/main" prst="roundRect">
            <a:avLst>
              <a:gd name="adj" fmla="val 6383"/>
            </a:avLst>
          </a:prstGeom>
          <a:solidFill xmlns:a="http://schemas.openxmlformats.org/drawingml/2006/main">
            <a:srgbClr val="F4F6FA"/>
          </a:solidFill>
          <a:ln xmlns:a="http://schemas.openxmlformats.org/drawingml/2006/main" w="9525">
            <a:solidFill>
              <a:srgbClr val="D9DEEA"/>
            </a:solidFill>
            <a:prstDash val="solid"/>
          </a:ln>
        </p:spPr>
      </p:sp>
      <p:sp>
        <p:nvSpPr>
          <p:cNvPr id="26" name="">
            <a:extLst xmlns:a="http://schemas.openxmlformats.org/drawingml/2006/main">
              <a:ext uri="{FF2B5EF4-FFF2-40B4-BE49-F238E27FC236}">
                <a16:creationId xmlns:a16="http://schemas.microsoft.com/office/drawing/2014/main" id="{BE50FAA0-C3B1-4DB0-BAF3-B470E68997BC}"/>
              </a:ext>
            </a:extLst>
          </p:cNvPr>
          <p:cNvSpPr>
            <a:spLocks xmlns:a="http://schemas.openxmlformats.org/drawingml/2006/main" noGrp="1"/>
          </p:cNvSpPr>
          <p:nvPr/>
        </p:nvSpPr>
        <p:spPr>
          <a:xfrm xmlns:a="http://schemas.openxmlformats.org/drawingml/2006/main">
            <a:off x="7277100" y="2343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4  COMPARE</a:t>
            </a:r>
          </a:p>
        </p:txBody>
      </p:sp>
      <p:sp>
        <p:nvSpPr>
          <p:cNvPr id="27" name="">
            <a:extLst xmlns:a="http://schemas.openxmlformats.org/drawingml/2006/main">
              <a:ext uri="{FF2B5EF4-FFF2-40B4-BE49-F238E27FC236}">
                <a16:creationId xmlns:a16="http://schemas.microsoft.com/office/drawing/2014/main" id="{A3690C0F-D72C-42B8-97F6-2B04F789E85A}"/>
              </a:ext>
            </a:extLst>
          </p:cNvPr>
          <p:cNvSpPr>
            <a:spLocks xmlns:a="http://schemas.openxmlformats.org/drawingml/2006/main" noGrp="1"/>
          </p:cNvSpPr>
          <p:nvPr/>
        </p:nvSpPr>
        <p:spPr>
          <a:xfrm xmlns:a="http://schemas.openxmlformats.org/drawingml/2006/main">
            <a:off x="7277100" y="28194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Chip selection, wafermaps and cross-dataset views</a:t>
            </a:r>
          </a:p>
        </p:txBody>
      </p:sp>
      <p:sp>
        <p:nvSpPr>
          <p:cNvPr id="28" name="">
            <a:extLst xmlns:a="http://schemas.openxmlformats.org/drawingml/2006/main">
              <a:ext uri="{FF2B5EF4-FFF2-40B4-BE49-F238E27FC236}">
                <a16:creationId xmlns:a16="http://schemas.microsoft.com/office/drawing/2014/main" id="{BA20C640-732F-494D-868A-0E5ABD6285AA}"/>
              </a:ext>
            </a:extLst>
          </p:cNvPr>
          <p:cNvSpPr>
            <a:spLocks xmlns:a="http://schemas.openxmlformats.org/drawingml/2006/main" noGrp="1"/>
          </p:cNvSpPr>
          <p:nvPr/>
        </p:nvSpPr>
        <p:spPr>
          <a:xfrm xmlns:a="http://schemas.openxmlformats.org/drawingml/2006/main">
            <a:off x="9296400" y="2133600"/>
            <a:ext cx="1790700" cy="2095500"/>
          </a:xfrm>
          <a:prstGeom xmlns:a="http://schemas.openxmlformats.org/drawingml/2006/main" prst="roundRect">
            <a:avLst>
              <a:gd name="adj" fmla="val 6383"/>
            </a:avLst>
          </a:prstGeom>
          <a:solidFill xmlns:a="http://schemas.openxmlformats.org/drawingml/2006/main">
            <a:srgbClr val="F4F6FA"/>
          </a:solidFill>
          <a:ln xmlns:a="http://schemas.openxmlformats.org/drawingml/2006/main" w="9525">
            <a:solidFill>
              <a:srgbClr val="D9DEEA"/>
            </a:solidFill>
            <a:prstDash val="solid"/>
          </a:ln>
        </p:spPr>
      </p:sp>
      <p:sp>
        <p:nvSpPr>
          <p:cNvPr id="29" name="">
            <a:extLst xmlns:a="http://schemas.openxmlformats.org/drawingml/2006/main">
              <a:ext uri="{FF2B5EF4-FFF2-40B4-BE49-F238E27FC236}">
                <a16:creationId xmlns:a16="http://schemas.microsoft.com/office/drawing/2014/main" id="{00D72C81-110B-46F9-A622-7CA07783E9F1}"/>
              </a:ext>
            </a:extLst>
          </p:cNvPr>
          <p:cNvSpPr>
            <a:spLocks xmlns:a="http://schemas.openxmlformats.org/drawingml/2006/main" noGrp="1"/>
          </p:cNvSpPr>
          <p:nvPr/>
        </p:nvSpPr>
        <p:spPr>
          <a:xfrm xmlns:a="http://schemas.openxmlformats.org/drawingml/2006/main">
            <a:off x="9467850" y="2343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38258A"/>
                </a:solidFill>
                <a:latin typeface="Arial"/>
                <a:ea typeface="Arial"/>
                <a:cs typeface="Arial"/>
              </a:defRPr>
            </a:pPr>
            <a:r>
              <a:rPr sz="1275" b="1">
                <a:solidFill>
                  <a:srgbClr val="38258A"/>
                </a:solidFill>
                <a:latin typeface="Arial"/>
                <a:ea typeface="Arial"/>
                <a:cs typeface="Arial"/>
              </a:rPr>
              <a:t>5  REPORT</a:t>
            </a:r>
          </a:p>
        </p:txBody>
      </p:sp>
      <p:sp>
        <p:nvSpPr>
          <p:cNvPr id="30" name="">
            <a:extLst xmlns:a="http://schemas.openxmlformats.org/drawingml/2006/main">
              <a:ext uri="{FF2B5EF4-FFF2-40B4-BE49-F238E27FC236}">
                <a16:creationId xmlns:a16="http://schemas.microsoft.com/office/drawing/2014/main" id="{4D387A2E-E931-4C8B-9B0E-EE4958E7A653}"/>
              </a:ext>
            </a:extLst>
          </p:cNvPr>
          <p:cNvSpPr>
            <a:spLocks xmlns:a="http://schemas.openxmlformats.org/drawingml/2006/main" noGrp="1"/>
          </p:cNvSpPr>
          <p:nvPr/>
        </p:nvSpPr>
        <p:spPr>
          <a:xfrm xmlns:a="http://schemas.openxmlformats.org/drawingml/2006/main">
            <a:off x="9467850" y="28194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Figures, interactive HTML and presentation outputs</a:t>
            </a:r>
          </a:p>
        </p:txBody>
      </p:sp>
      <p:sp>
        <p:nvSpPr>
          <p:cNvPr id="31" name="">
            <a:extLst xmlns:a="http://schemas.openxmlformats.org/drawingml/2006/main">
              <a:ext uri="{FF2B5EF4-FFF2-40B4-BE49-F238E27FC236}">
                <a16:creationId xmlns:a16="http://schemas.microsoft.com/office/drawing/2014/main" id="{2F1DAD37-0186-4217-B381-70D2FB82070C}"/>
              </a:ext>
            </a:extLst>
          </p:cNvPr>
          <p:cNvSpPr>
            <a:spLocks xmlns:a="http://schemas.openxmlformats.org/drawingml/2006/main" noGrp="1"/>
          </p:cNvSpPr>
          <p:nvPr/>
        </p:nvSpPr>
        <p:spPr>
          <a:xfrm xmlns:a="http://schemas.openxmlformats.org/drawingml/2006/main">
            <a:off x="1238250" y="4762500"/>
            <a:ext cx="971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a:solidFill>
                  <a:srgbClr val="111A3B"/>
                </a:solidFill>
                <a:latin typeface="Arial"/>
                <a:ea typeface="Arial"/>
                <a:cs typeface="Arial"/>
              </a:defRPr>
            </a:pPr>
            <a:r>
              <a:rPr sz="1875" b="1">
                <a:solidFill>
                  <a:srgbClr val="111A3B"/>
                </a:solidFill>
                <a:latin typeface="Arial"/>
                <a:ea typeface="Arial"/>
                <a:cs typeface="Arial"/>
              </a:rPr>
              <a:t>The same dataset remains traceable as the user moves from loading to chip-level review and export.</a:t>
            </a:r>
          </a:p>
        </p:txBody>
      </p:sp>
    </p:spTree>
    <p:extLst>
      <p:ext uri="{BB962C8B-B14F-4D97-AF65-F5344CB8AC3E}">
        <p14:creationId xmlns:p14="http://schemas.microsoft.com/office/powerpoint/2010/main" val="102846438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32571E9-6800-420F-B889-D9BE3DC3F699}"/>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739803-0499-4E6B-A763-E1BE502A7DB2}"/>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86298C4-7068-40FD-9C8A-6E03EA8D34E9}"/>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1E02FF-8A99-44ED-A704-B22EA537BDAE}"/>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546DD64-6B9D-4940-BE40-DA16917D1CE8}"/>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7904B9-18AC-4B90-BE1D-DEAB257F5CF3}"/>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A2A971-D1AD-4B3B-B7E1-74ACF0B33E0F}"/>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A674C11C-B7C2-4E12-B20C-5256DE011488}"/>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64"/>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The interface evolved from a long dashboard into a comparison workspace</a:t>
            </a:r>
          </a:p>
        </p:txBody>
      </p:sp>
      <p:sp>
        <p:nvSpPr>
          <p:cNvPr id="9" name="">
            <a:extLst xmlns:a="http://schemas.openxmlformats.org/drawingml/2006/main">
              <a:ext uri="{FF2B5EF4-FFF2-40B4-BE49-F238E27FC236}">
                <a16:creationId xmlns:a16="http://schemas.microsoft.com/office/drawing/2014/main" id="{32894930-8D73-411A-9C6C-C923B1EE08BB}"/>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388C09-B037-4BEC-B386-9A649EDE403F}"/>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6F5F78C4-1EE5-4D9C-BC9B-0C11FFE3BBDF}"/>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04</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120aecf0e5947ac"/>
          <a:stretch xmlns:a="http://schemas.openxmlformats.org/drawingml/2006/main"/>
        </p:blipFill>
        <p:spPr>
          <a:xfrm xmlns:a="http://schemas.openxmlformats.org/drawingml/2006/main">
            <a:off x="533400" y="1913912"/>
            <a:ext cx="5067300" cy="2849201"/>
          </a:xfrm>
          <a:prstGeom xmlns:a="http://schemas.openxmlformats.org/drawingml/2006/main" prst="rect">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f59260f358454749"/>
          <a:stretch xmlns:a="http://schemas.openxmlformats.org/drawingml/2006/main"/>
        </p:blipFill>
        <p:spPr>
          <a:xfrm xmlns:a="http://schemas.openxmlformats.org/drawingml/2006/main">
            <a:off x="6591300" y="1918453"/>
            <a:ext cx="5067300" cy="2840119"/>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F09F3B4-E7D8-4D2E-A757-9AD538C20BD9}"/>
              </a:ext>
            </a:extLst>
          </p:cNvPr>
          <p:cNvSpPr>
            <a:spLocks xmlns:a="http://schemas.openxmlformats.org/drawingml/2006/main" noGrp="1"/>
          </p:cNvSpPr>
          <p:nvPr/>
        </p:nvSpPr>
        <p:spPr>
          <a:xfrm xmlns:a="http://schemas.openxmlformats.org/drawingml/2006/main">
            <a:off x="533400" y="5067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66708D"/>
                </a:solidFill>
                <a:latin typeface="Arial"/>
                <a:ea typeface="Arial"/>
                <a:cs typeface="Arial"/>
              </a:defRPr>
            </a:pPr>
            <a:r>
              <a:rPr sz="1650" b="1">
                <a:solidFill>
                  <a:srgbClr val="66708D"/>
                </a:solidFill>
                <a:latin typeface="Arial"/>
                <a:ea typeface="Arial"/>
                <a:cs typeface="Arial"/>
              </a:rPr>
              <a:t>Earlier layout</a:t>
            </a:r>
          </a:p>
        </p:txBody>
      </p:sp>
      <p:sp>
        <p:nvSpPr>
          <p:cNvPr id="15" name="">
            <a:extLst xmlns:a="http://schemas.openxmlformats.org/drawingml/2006/main">
              <a:ext uri="{FF2B5EF4-FFF2-40B4-BE49-F238E27FC236}">
                <a16:creationId xmlns:a16="http://schemas.microsoft.com/office/drawing/2014/main" id="{6A85628F-2179-4F0B-88F5-0C23C3BB259E}"/>
              </a:ext>
            </a:extLst>
          </p:cNvPr>
          <p:cNvSpPr>
            <a:spLocks xmlns:a="http://schemas.openxmlformats.org/drawingml/2006/main" noGrp="1"/>
          </p:cNvSpPr>
          <p:nvPr/>
        </p:nvSpPr>
        <p:spPr>
          <a:xfrm xmlns:a="http://schemas.openxmlformats.org/drawingml/2006/main">
            <a:off x="6591300" y="5067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38258A"/>
                </a:solidFill>
                <a:latin typeface="Arial"/>
                <a:ea typeface="Arial"/>
                <a:cs typeface="Arial"/>
              </a:defRPr>
            </a:pPr>
            <a:r>
              <a:rPr sz="1650" b="1">
                <a:solidFill>
                  <a:srgbClr val="38258A"/>
                </a:solidFill>
                <a:latin typeface="Arial"/>
                <a:ea typeface="Arial"/>
                <a:cs typeface="Arial"/>
              </a:rPr>
              <a:t>Approved v0.4.0 layout</a:t>
            </a:r>
          </a:p>
        </p:txBody>
      </p:sp>
      <p:sp>
        <p:nvSpPr>
          <p:cNvPr id="16" name="">
            <a:extLst xmlns:a="http://schemas.openxmlformats.org/drawingml/2006/main">
              <a:ext uri="{FF2B5EF4-FFF2-40B4-BE49-F238E27FC236}">
                <a16:creationId xmlns:a16="http://schemas.microsoft.com/office/drawing/2014/main" id="{8AF81A81-4D17-49F5-91F8-597F0EB340EA}"/>
              </a:ext>
            </a:extLst>
          </p:cNvPr>
          <p:cNvSpPr>
            <a:spLocks xmlns:a="http://schemas.openxmlformats.org/drawingml/2006/main" noGrp="1"/>
          </p:cNvSpPr>
          <p:nvPr/>
        </p:nvSpPr>
        <p:spPr>
          <a:xfrm xmlns:a="http://schemas.openxmlformats.org/drawingml/2006/main">
            <a:off x="2952750" y="5715000"/>
            <a:ext cx="628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111A3B"/>
                </a:solidFill>
                <a:latin typeface="Arial"/>
                <a:ea typeface="Arial"/>
                <a:cs typeface="Arial"/>
              </a:defRPr>
            </a:pPr>
            <a:r>
              <a:rPr sz="1350" b="1">
                <a:solidFill>
                  <a:srgbClr val="111A3B"/>
                </a:solidFill>
                <a:latin typeface="Arial"/>
                <a:ea typeface="Arial"/>
                <a:cs typeface="Arial"/>
              </a:rPr>
              <a:t>Fit, spectra and wafermap stay visible together at a standard desktop view.</a:t>
            </a:r>
          </a:p>
        </p:txBody>
      </p:sp>
    </p:spTree>
    <p:extLst>
      <p:ext uri="{BB962C8B-B14F-4D97-AF65-F5344CB8AC3E}">
        <p14:creationId xmlns:p14="http://schemas.microsoft.com/office/powerpoint/2010/main" val="40889286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CA8DEE7-605D-47EF-9A57-6E6DECD3BDDA}"/>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287792-19D1-49F6-92D7-5B473137FCEB}"/>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9D60AFE-AB7B-48B9-81D6-37CDA967E2EC}"/>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7CC0208-8AA7-483E-B7BE-9C08B9AA1BDC}"/>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E7EC884-D71F-43FE-AF0D-860151BD89C7}"/>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CAF9745-1B35-41D7-9755-618E9586DC2F}"/>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C245F4-FBFF-4E19-8380-BC4C48EA5BB6}"/>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AF79D7D3-F81A-4E50-9681-AF2E579F57AC}"/>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539"/>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Propagation analysis now separates wafer health from individual fit detail</a:t>
            </a:r>
          </a:p>
        </p:txBody>
      </p:sp>
      <p:sp>
        <p:nvSpPr>
          <p:cNvPr id="9" name="">
            <a:extLst xmlns:a="http://schemas.openxmlformats.org/drawingml/2006/main">
              <a:ext uri="{FF2B5EF4-FFF2-40B4-BE49-F238E27FC236}">
                <a16:creationId xmlns:a16="http://schemas.microsoft.com/office/drawing/2014/main" id="{E2CC7CE0-89C3-43A8-96B0-0AAFB4C3AA05}"/>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0611485-96FF-460F-A92E-A46664748E21}"/>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585AC6E0-2830-413F-B71A-2445D1CB662F}"/>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05</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5c4ab68b8ae4af2"/>
          <a:srcRect xmlns:a="http://schemas.openxmlformats.org/drawingml/2006/main" l="4176" t="0" r="4176" b="0"/>
          <a:stretch xmlns:a="http://schemas.openxmlformats.org/drawingml/2006/main">
            <a:fillRect l="0" t="0" r="0" b="0"/>
          </a:stretch>
        </p:blipFill>
        <p:spPr>
          <a:xfrm xmlns:a="http://schemas.openxmlformats.org/drawingml/2006/main">
            <a:off x="533400" y="1714500"/>
            <a:ext cx="6953250" cy="42672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2F35D5C-3537-48C2-BE78-4C2FFEE5A435}"/>
              </a:ext>
            </a:extLst>
          </p:cNvPr>
          <p:cNvSpPr>
            <a:spLocks xmlns:a="http://schemas.openxmlformats.org/drawingml/2006/main" noGrp="1"/>
          </p:cNvSpPr>
          <p:nvPr/>
        </p:nvSpPr>
        <p:spPr>
          <a:xfrm xmlns:a="http://schemas.openxmlformats.org/drawingml/2006/main">
            <a:off x="7981950" y="17907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What changed</a:t>
            </a:r>
          </a:p>
        </p:txBody>
      </p:sp>
      <p:sp>
        <p:nvSpPr>
          <p:cNvPr id="14" name="">
            <a:extLst xmlns:a="http://schemas.openxmlformats.org/drawingml/2006/main">
              <a:ext uri="{FF2B5EF4-FFF2-40B4-BE49-F238E27FC236}">
                <a16:creationId xmlns:a16="http://schemas.microsoft.com/office/drawing/2014/main" id="{05BCE17C-A909-408E-911C-C469D6018B7B}"/>
              </a:ext>
            </a:extLst>
          </p:cNvPr>
          <p:cNvSpPr>
            <a:spLocks xmlns:a="http://schemas.openxmlformats.org/drawingml/2006/main" noGrp="1"/>
          </p:cNvSpPr>
          <p:nvPr/>
        </p:nvSpPr>
        <p:spPr>
          <a:xfrm xmlns:a="http://schemas.openxmlformats.org/drawingml/2006/main">
            <a:off x="7981950" y="239077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C581DCD-7A96-4D7B-A724-13141C5232BE}"/>
              </a:ext>
            </a:extLst>
          </p:cNvPr>
          <p:cNvSpPr>
            <a:spLocks xmlns:a="http://schemas.openxmlformats.org/drawingml/2006/main" noGrp="1"/>
          </p:cNvSpPr>
          <p:nvPr/>
        </p:nvSpPr>
        <p:spPr>
          <a:xfrm xmlns:a="http://schemas.openxmlformats.org/drawingml/2006/main">
            <a:off x="8210550" y="2324100"/>
            <a:ext cx="3105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Measured Chips counts every measured die</a:t>
            </a:r>
          </a:p>
        </p:txBody>
      </p:sp>
      <p:sp>
        <p:nvSpPr>
          <p:cNvPr id="16" name="">
            <a:extLst xmlns:a="http://schemas.openxmlformats.org/drawingml/2006/main">
              <a:ext uri="{FF2B5EF4-FFF2-40B4-BE49-F238E27FC236}">
                <a16:creationId xmlns:a16="http://schemas.microsoft.com/office/drawing/2014/main" id="{E2775837-27B7-45C6-B0E4-3C6845413EC6}"/>
              </a:ext>
            </a:extLst>
          </p:cNvPr>
          <p:cNvSpPr>
            <a:spLocks xmlns:a="http://schemas.openxmlformats.org/drawingml/2006/main" noGrp="1"/>
          </p:cNvSpPr>
          <p:nvPr/>
        </p:nvSpPr>
        <p:spPr>
          <a:xfrm xmlns:a="http://schemas.openxmlformats.org/drawingml/2006/main">
            <a:off x="7981950" y="31718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F7E33DE-EEAA-4B5F-8703-E1ACED9A7FDD}"/>
              </a:ext>
            </a:extLst>
          </p:cNvPr>
          <p:cNvSpPr>
            <a:spLocks xmlns:a="http://schemas.openxmlformats.org/drawingml/2006/main" noGrp="1"/>
          </p:cNvSpPr>
          <p:nvPr/>
        </p:nvSpPr>
        <p:spPr>
          <a:xfrm xmlns:a="http://schemas.openxmlformats.org/drawingml/2006/main">
            <a:off x="8210550" y="3105150"/>
            <a:ext cx="3105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Avg Propagation Loss is the filtered wafer average</a:t>
            </a:r>
          </a:p>
        </p:txBody>
      </p:sp>
      <p:sp>
        <p:nvSpPr>
          <p:cNvPr id="18" name="">
            <a:extLst xmlns:a="http://schemas.openxmlformats.org/drawingml/2006/main">
              <a:ext uri="{FF2B5EF4-FFF2-40B4-BE49-F238E27FC236}">
                <a16:creationId xmlns:a16="http://schemas.microsoft.com/office/drawing/2014/main" id="{F10C15ED-124E-4687-B953-ABCC59CCF0F2}"/>
              </a:ext>
            </a:extLst>
          </p:cNvPr>
          <p:cNvSpPr>
            <a:spLocks xmlns:a="http://schemas.openxmlformats.org/drawingml/2006/main" noGrp="1"/>
          </p:cNvSpPr>
          <p:nvPr/>
        </p:nvSpPr>
        <p:spPr>
          <a:xfrm xmlns:a="http://schemas.openxmlformats.org/drawingml/2006/main">
            <a:off x="7981950" y="395287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FA1CE4E-77B8-4E46-9A1F-41B81C192BCB}"/>
              </a:ext>
            </a:extLst>
          </p:cNvPr>
          <p:cNvSpPr>
            <a:spLocks xmlns:a="http://schemas.openxmlformats.org/drawingml/2006/main" noGrp="1"/>
          </p:cNvSpPr>
          <p:nvPr/>
        </p:nvSpPr>
        <p:spPr>
          <a:xfrm xmlns:a="http://schemas.openxmlformats.org/drawingml/2006/main">
            <a:off x="8210550" y="3886200"/>
            <a:ext cx="3105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MSE is the stated fit-quality measure</a:t>
            </a:r>
          </a:p>
        </p:txBody>
      </p:sp>
      <p:sp>
        <p:nvSpPr>
          <p:cNvPr id="20" name="">
            <a:extLst xmlns:a="http://schemas.openxmlformats.org/drawingml/2006/main">
              <a:ext uri="{FF2B5EF4-FFF2-40B4-BE49-F238E27FC236}">
                <a16:creationId xmlns:a16="http://schemas.microsoft.com/office/drawing/2014/main" id="{8D7B48D2-38BA-4960-AD80-8AFC8214F32B}"/>
              </a:ext>
            </a:extLst>
          </p:cNvPr>
          <p:cNvSpPr>
            <a:spLocks xmlns:a="http://schemas.openxmlformats.org/drawingml/2006/main" noGrp="1"/>
          </p:cNvSpPr>
          <p:nvPr/>
        </p:nvSpPr>
        <p:spPr>
          <a:xfrm xmlns:a="http://schemas.openxmlformats.org/drawingml/2006/main">
            <a:off x="7981950" y="47339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1D81CD9-2819-4DAF-B813-674104BF997A}"/>
              </a:ext>
            </a:extLst>
          </p:cNvPr>
          <p:cNvSpPr>
            <a:spLocks xmlns:a="http://schemas.openxmlformats.org/drawingml/2006/main" noGrp="1"/>
          </p:cNvSpPr>
          <p:nvPr/>
        </p:nvSpPr>
        <p:spPr>
          <a:xfrm xmlns:a="http://schemas.openxmlformats.org/drawingml/2006/main">
            <a:off x="8210550" y="4667250"/>
            <a:ext cx="3105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Fit, spectra and map remain linked by chip selection</a:t>
            </a:r>
          </a:p>
        </p:txBody>
      </p:sp>
    </p:spTree>
    <p:extLst>
      <p:ext uri="{BB962C8B-B14F-4D97-AF65-F5344CB8AC3E}">
        <p14:creationId xmlns:p14="http://schemas.microsoft.com/office/powerpoint/2010/main" val="93726902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F60960C-2785-4E8D-B4BC-EEDDBF7D8F2D}"/>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25F0E33-142E-4C2B-AFC1-C6462F00C0AC}"/>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EA6C14E-49B1-4765-86AA-3224569106F1}"/>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5AB69B4-6E3E-4B51-AF60-1D59AFBA1E2E}"/>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F736184-9315-4CF4-8E78-2CD25E934892}"/>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C80247-192E-4A5B-BFC6-9C0A34AB1DBA}"/>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97B4263-B546-4803-8266-BAC242815EE8}"/>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F84FAEBE-7541-46D8-B0E7-96E4E9CDA592}"/>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244"/>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Wafer colour scaling starts from the data and remains under user control</a:t>
            </a:r>
          </a:p>
        </p:txBody>
      </p:sp>
      <p:sp>
        <p:nvSpPr>
          <p:cNvPr id="9" name="">
            <a:extLst xmlns:a="http://schemas.openxmlformats.org/drawingml/2006/main">
              <a:ext uri="{FF2B5EF4-FFF2-40B4-BE49-F238E27FC236}">
                <a16:creationId xmlns:a16="http://schemas.microsoft.com/office/drawing/2014/main" id="{E47D671B-513D-4732-B397-B2E569AAC455}"/>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3E2ADF-F757-40C6-B5CB-5BF20C721096}"/>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4BA12653-B699-4084-85DF-D8AA2A2AF54A}"/>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06</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cae4931d6d848b2"/>
          <a:srcRect xmlns:a="http://schemas.openxmlformats.org/drawingml/2006/main" l="0" t="30321" r="0" b="30321"/>
          <a:stretch xmlns:a="http://schemas.openxmlformats.org/drawingml/2006/main">
            <a:fillRect l="0" t="0" r="0" b="0"/>
          </a:stretch>
        </p:blipFill>
        <p:spPr>
          <a:xfrm xmlns:a="http://schemas.openxmlformats.org/drawingml/2006/main">
            <a:off x="533400" y="1809750"/>
            <a:ext cx="5181600" cy="257175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fea63ef8b274a67"/>
          <a:srcRect xmlns:a="http://schemas.openxmlformats.org/drawingml/2006/main" l="0" t="30321" r="0" b="30321"/>
          <a:stretch xmlns:a="http://schemas.openxmlformats.org/drawingml/2006/main">
            <a:fillRect l="0" t="0" r="0" b="0"/>
          </a:stretch>
        </p:blipFill>
        <p:spPr>
          <a:xfrm xmlns:a="http://schemas.openxmlformats.org/drawingml/2006/main">
            <a:off x="6477000" y="1809750"/>
            <a:ext cx="5181600" cy="25717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B9532ED7-11C2-4F9C-BE5A-EDFA03A66B9C}"/>
              </a:ext>
            </a:extLst>
          </p:cNvPr>
          <p:cNvSpPr>
            <a:spLocks xmlns:a="http://schemas.openxmlformats.org/drawingml/2006/main" noGrp="1"/>
          </p:cNvSpPr>
          <p:nvPr/>
        </p:nvSpPr>
        <p:spPr>
          <a:xfrm xmlns:a="http://schemas.openxmlformats.org/drawingml/2006/main">
            <a:off x="533400" y="46291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38258A"/>
                </a:solidFill>
                <a:latin typeface="Arial"/>
                <a:ea typeface="Arial"/>
                <a:cs typeface="Arial"/>
              </a:defRPr>
            </a:pPr>
            <a:r>
              <a:rPr sz="1725" b="1">
                <a:solidFill>
                  <a:srgbClr val="38258A"/>
                </a:solidFill>
                <a:latin typeface="Arial"/>
                <a:ea typeface="Arial"/>
                <a:cs typeface="Arial"/>
              </a:rPr>
              <a:t>Dataset-derived defaults</a:t>
            </a:r>
          </a:p>
        </p:txBody>
      </p:sp>
      <p:sp>
        <p:nvSpPr>
          <p:cNvPr id="15" name="">
            <a:extLst xmlns:a="http://schemas.openxmlformats.org/drawingml/2006/main">
              <a:ext uri="{FF2B5EF4-FFF2-40B4-BE49-F238E27FC236}">
                <a16:creationId xmlns:a16="http://schemas.microsoft.com/office/drawing/2014/main" id="{706AF28B-4AA7-4861-B39E-D44101DBBFA9}"/>
              </a:ext>
            </a:extLst>
          </p:cNvPr>
          <p:cNvSpPr>
            <a:spLocks xmlns:a="http://schemas.openxmlformats.org/drawingml/2006/main" noGrp="1"/>
          </p:cNvSpPr>
          <p:nvPr/>
        </p:nvSpPr>
        <p:spPr>
          <a:xfrm xmlns:a="http://schemas.openxmlformats.org/drawingml/2006/main">
            <a:off x="533400" y="5029200"/>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Minimum, midpoint and maximum display the active chip values instead of an ambiguous “Auto” label.</a:t>
            </a:r>
          </a:p>
        </p:txBody>
      </p:sp>
      <p:sp>
        <p:nvSpPr>
          <p:cNvPr id="16" name="">
            <a:extLst xmlns:a="http://schemas.openxmlformats.org/drawingml/2006/main">
              <a:ext uri="{FF2B5EF4-FFF2-40B4-BE49-F238E27FC236}">
                <a16:creationId xmlns:a16="http://schemas.microsoft.com/office/drawing/2014/main" id="{20C17CE4-3E5F-4A05-BAEA-60D1A586F268}"/>
              </a:ext>
            </a:extLst>
          </p:cNvPr>
          <p:cNvSpPr>
            <a:spLocks xmlns:a="http://schemas.openxmlformats.org/drawingml/2006/main" noGrp="1"/>
          </p:cNvSpPr>
          <p:nvPr/>
        </p:nvSpPr>
        <p:spPr>
          <a:xfrm xmlns:a="http://schemas.openxmlformats.org/drawingml/2006/main">
            <a:off x="6477000" y="46291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38258A"/>
                </a:solidFill>
                <a:latin typeface="Arial"/>
                <a:ea typeface="Arial"/>
                <a:cs typeface="Arial"/>
              </a:defRPr>
            </a:pPr>
            <a:r>
              <a:rPr sz="1725" b="1">
                <a:solidFill>
                  <a:srgbClr val="38258A"/>
                </a:solidFill>
                <a:latin typeface="Arial"/>
                <a:ea typeface="Arial"/>
                <a:cs typeface="Arial"/>
              </a:rPr>
              <a:t>Keyboard-friendly override</a:t>
            </a:r>
          </a:p>
        </p:txBody>
      </p:sp>
      <p:sp>
        <p:nvSpPr>
          <p:cNvPr id="17" name="">
            <a:extLst xmlns:a="http://schemas.openxmlformats.org/drawingml/2006/main">
              <a:ext uri="{FF2B5EF4-FFF2-40B4-BE49-F238E27FC236}">
                <a16:creationId xmlns:a16="http://schemas.microsoft.com/office/drawing/2014/main" id="{A7CF2A5E-40E3-4DC9-963A-A5336E1145D9}"/>
              </a:ext>
            </a:extLst>
          </p:cNvPr>
          <p:cNvSpPr>
            <a:spLocks xmlns:a="http://schemas.openxmlformats.org/drawingml/2006/main" noGrp="1"/>
          </p:cNvSpPr>
          <p:nvPr/>
        </p:nvSpPr>
        <p:spPr>
          <a:xfrm xmlns:a="http://schemas.openxmlformats.org/drawingml/2006/main">
            <a:off x="6477000" y="5029200"/>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51A2F"/>
                </a:solidFill>
                <a:latin typeface="Arial"/>
                <a:ea typeface="Arial"/>
                <a:cs typeface="Arial"/>
              </a:defRPr>
            </a:pPr>
            <a:r>
              <a:rPr sz="1425" b="0">
                <a:solidFill>
                  <a:srgbClr val="151A2F"/>
                </a:solidFill>
                <a:latin typeface="Arial"/>
                <a:ea typeface="Arial"/>
                <a:cs typeface="Arial"/>
              </a:rPr>
              <a:t>A value can be cleared and replaced directly; Reset Scale restores the data-derived thresholds.</a:t>
            </a:r>
          </a:p>
        </p:txBody>
      </p:sp>
    </p:spTree>
    <p:extLst>
      <p:ext uri="{BB962C8B-B14F-4D97-AF65-F5344CB8AC3E}">
        <p14:creationId xmlns:p14="http://schemas.microsoft.com/office/powerpoint/2010/main" val="115420155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237BCB1-F141-4FD1-A92F-729C6636D89C}"/>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45086D-318F-40DC-B891-F218A7E2954B}"/>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3E8349B-15C4-4882-AD7B-53AE893C885A}"/>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82345A2-0FD6-46CA-A547-8E97E0B0E9C0}"/>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750E4F2-4EFC-490C-87B0-F35087F9C862}"/>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144FAE9-A795-4D8B-9A17-DFD5EB383A5B}"/>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4CD6979-5A45-4E90-A4A6-2E9A49B0638E}"/>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B1D7A5B8-537F-48F1-995F-17211B676724}"/>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769"/>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Three analysis workspaces cover the core measurement routes</a:t>
            </a:r>
          </a:p>
        </p:txBody>
      </p:sp>
      <p:sp>
        <p:nvSpPr>
          <p:cNvPr id="9" name="">
            <a:extLst xmlns:a="http://schemas.openxmlformats.org/drawingml/2006/main">
              <a:ext uri="{FF2B5EF4-FFF2-40B4-BE49-F238E27FC236}">
                <a16:creationId xmlns:a16="http://schemas.microsoft.com/office/drawing/2014/main" id="{51A6D8FE-AF29-44C9-A57D-6E9E6FF953F4}"/>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2459DF-E7C6-4290-B3C5-F7DE16D55592}"/>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5C80B3CB-11AC-47CE-9865-1531AADED188}"/>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07</a:t>
            </a:r>
          </a:p>
        </p:txBody>
      </p:sp>
      <p:sp>
        <p:nvSpPr>
          <p:cNvPr id="12" name="">
            <a:extLst xmlns:a="http://schemas.openxmlformats.org/drawingml/2006/main">
              <a:ext uri="{FF2B5EF4-FFF2-40B4-BE49-F238E27FC236}">
                <a16:creationId xmlns:a16="http://schemas.microsoft.com/office/drawing/2014/main" id="{3A751E06-873F-4002-9404-A6E6A6DDA77D}"/>
              </a:ext>
            </a:extLst>
          </p:cNvPr>
          <p:cNvSpPr>
            <a:spLocks xmlns:a="http://schemas.openxmlformats.org/drawingml/2006/main" noGrp="1"/>
          </p:cNvSpPr>
          <p:nvPr/>
        </p:nvSpPr>
        <p:spPr>
          <a:xfrm xmlns:a="http://schemas.openxmlformats.org/drawingml/2006/main">
            <a:off x="533400" y="20002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38258A"/>
                </a:solidFill>
                <a:latin typeface="Arial"/>
                <a:ea typeface="Arial"/>
                <a:cs typeface="Arial"/>
              </a:defRPr>
            </a:pPr>
            <a:r>
              <a:rPr sz="2025" b="1">
                <a:solidFill>
                  <a:srgbClr val="38258A"/>
                </a:solidFill>
                <a:latin typeface="Arial"/>
                <a:ea typeface="Arial"/>
                <a:cs typeface="Arial"/>
              </a:rPr>
              <a:t>Propagation Loss</a:t>
            </a:r>
          </a:p>
        </p:txBody>
      </p:sp>
      <p:sp>
        <p:nvSpPr>
          <p:cNvPr id="13" name="">
            <a:extLst xmlns:a="http://schemas.openxmlformats.org/drawingml/2006/main">
              <a:ext uri="{FF2B5EF4-FFF2-40B4-BE49-F238E27FC236}">
                <a16:creationId xmlns:a16="http://schemas.microsoft.com/office/drawing/2014/main" id="{C206B368-FF82-48CD-BA11-E429B1957546}"/>
              </a:ext>
            </a:extLst>
          </p:cNvPr>
          <p:cNvSpPr>
            <a:spLocks xmlns:a="http://schemas.openxmlformats.org/drawingml/2006/main" noGrp="1"/>
          </p:cNvSpPr>
          <p:nvPr/>
        </p:nvSpPr>
        <p:spPr>
          <a:xfrm xmlns:a="http://schemas.openxmlformats.org/drawingml/2006/main">
            <a:off x="533400" y="2533650"/>
            <a:ext cx="3143250" cy="28575"/>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8DB73AC-D4E9-4D00-B871-321778D00D90}"/>
              </a:ext>
            </a:extLst>
          </p:cNvPr>
          <p:cNvSpPr>
            <a:spLocks xmlns:a="http://schemas.openxmlformats.org/drawingml/2006/main" noGrp="1"/>
          </p:cNvSpPr>
          <p:nvPr/>
        </p:nvSpPr>
        <p:spPr>
          <a:xfrm xmlns:a="http://schemas.openxmlformats.org/drawingml/2006/main">
            <a:off x="533400" y="27813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11A3B"/>
                </a:solidFill>
                <a:latin typeface="Arial"/>
                <a:ea typeface="Arial"/>
                <a:cs typeface="Arial"/>
              </a:defRPr>
            </a:pPr>
            <a:r>
              <a:rPr sz="1575" b="1">
                <a:solidFill>
                  <a:srgbClr val="111A3B"/>
                </a:solidFill>
                <a:latin typeface="Arial"/>
                <a:ea typeface="Arial"/>
                <a:cs typeface="Arial"/>
              </a:rPr>
              <a:t>Waveguide attenuation</a:t>
            </a:r>
          </a:p>
        </p:txBody>
      </p:sp>
      <p:sp>
        <p:nvSpPr>
          <p:cNvPr id="15" name="">
            <a:extLst xmlns:a="http://schemas.openxmlformats.org/drawingml/2006/main">
              <a:ext uri="{FF2B5EF4-FFF2-40B4-BE49-F238E27FC236}">
                <a16:creationId xmlns:a16="http://schemas.microsoft.com/office/drawing/2014/main" id="{26092A7B-8BA9-4894-B3BE-4DAF4F486880}"/>
              </a:ext>
            </a:extLst>
          </p:cNvPr>
          <p:cNvSpPr>
            <a:spLocks xmlns:a="http://schemas.openxmlformats.org/drawingml/2006/main" noGrp="1"/>
          </p:cNvSpPr>
          <p:nvPr/>
        </p:nvSpPr>
        <p:spPr>
          <a:xfrm xmlns:a="http://schemas.openxmlformats.org/drawingml/2006/main">
            <a:off x="533400" y="3486150"/>
            <a:ext cx="3143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Linear fit versus waveguide length, MSE quality, wavelength-resolved loss, wafer yield and die selection.</a:t>
            </a:r>
          </a:p>
        </p:txBody>
      </p:sp>
      <p:sp>
        <p:nvSpPr>
          <p:cNvPr id="16" name="">
            <a:extLst xmlns:a="http://schemas.openxmlformats.org/drawingml/2006/main">
              <a:ext uri="{FF2B5EF4-FFF2-40B4-BE49-F238E27FC236}">
                <a16:creationId xmlns:a16="http://schemas.microsoft.com/office/drawing/2014/main" id="{884CAD96-F23E-4F36-A85C-29FCD0B732B9}"/>
              </a:ext>
            </a:extLst>
          </p:cNvPr>
          <p:cNvSpPr>
            <a:spLocks xmlns:a="http://schemas.openxmlformats.org/drawingml/2006/main" noGrp="1"/>
          </p:cNvSpPr>
          <p:nvPr/>
        </p:nvSpPr>
        <p:spPr>
          <a:xfrm xmlns:a="http://schemas.openxmlformats.org/drawingml/2006/main">
            <a:off x="4248150" y="20002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38258A"/>
                </a:solidFill>
                <a:latin typeface="Arial"/>
                <a:ea typeface="Arial"/>
                <a:cs typeface="Arial"/>
              </a:defRPr>
            </a:pPr>
            <a:r>
              <a:rPr sz="2025" b="1">
                <a:solidFill>
                  <a:srgbClr val="38258A"/>
                </a:solidFill>
                <a:latin typeface="Arial"/>
                <a:ea typeface="Arial"/>
                <a:cs typeface="Arial"/>
              </a:rPr>
              <a:t>Insertion Loss</a:t>
            </a:r>
          </a:p>
        </p:txBody>
      </p:sp>
      <p:sp>
        <p:nvSpPr>
          <p:cNvPr id="17" name="">
            <a:extLst xmlns:a="http://schemas.openxmlformats.org/drawingml/2006/main">
              <a:ext uri="{FF2B5EF4-FFF2-40B4-BE49-F238E27FC236}">
                <a16:creationId xmlns:a16="http://schemas.microsoft.com/office/drawing/2014/main" id="{BD3A2CA4-8B09-429B-9972-FED8D9D6FA85}"/>
              </a:ext>
            </a:extLst>
          </p:cNvPr>
          <p:cNvSpPr>
            <a:spLocks xmlns:a="http://schemas.openxmlformats.org/drawingml/2006/main" noGrp="1"/>
          </p:cNvSpPr>
          <p:nvPr/>
        </p:nvSpPr>
        <p:spPr>
          <a:xfrm xmlns:a="http://schemas.openxmlformats.org/drawingml/2006/main">
            <a:off x="4248150" y="2533650"/>
            <a:ext cx="3143250" cy="28575"/>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99C32E4-6C0C-4A0B-BE5F-9DCA1D43E609}"/>
              </a:ext>
            </a:extLst>
          </p:cNvPr>
          <p:cNvSpPr>
            <a:spLocks xmlns:a="http://schemas.openxmlformats.org/drawingml/2006/main" noGrp="1"/>
          </p:cNvSpPr>
          <p:nvPr/>
        </p:nvSpPr>
        <p:spPr>
          <a:xfrm xmlns:a="http://schemas.openxmlformats.org/drawingml/2006/main">
            <a:off x="4248150" y="27813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11A3B"/>
                </a:solidFill>
                <a:latin typeface="Arial"/>
                <a:ea typeface="Arial"/>
                <a:cs typeface="Arial"/>
              </a:defRPr>
            </a:pPr>
            <a:r>
              <a:rPr sz="1575" b="1">
                <a:solidFill>
                  <a:srgbClr val="111A3B"/>
                </a:solidFill>
                <a:latin typeface="Arial"/>
                <a:ea typeface="Arial"/>
                <a:cs typeface="Arial"/>
              </a:rPr>
              <a:t>Building-block transmission</a:t>
            </a:r>
          </a:p>
        </p:txBody>
      </p:sp>
      <p:sp>
        <p:nvSpPr>
          <p:cNvPr id="19" name="">
            <a:extLst xmlns:a="http://schemas.openxmlformats.org/drawingml/2006/main">
              <a:ext uri="{FF2B5EF4-FFF2-40B4-BE49-F238E27FC236}">
                <a16:creationId xmlns:a16="http://schemas.microsoft.com/office/drawing/2014/main" id="{75377E70-2AAB-460A-A1C6-0A082E678D52}"/>
              </a:ext>
            </a:extLst>
          </p:cNvPr>
          <p:cNvSpPr>
            <a:spLocks xmlns:a="http://schemas.openxmlformats.org/drawingml/2006/main" noGrp="1"/>
          </p:cNvSpPr>
          <p:nvPr/>
        </p:nvSpPr>
        <p:spPr>
          <a:xfrm xmlns:a="http://schemas.openxmlformats.org/drawingml/2006/main">
            <a:off x="4248150" y="3486150"/>
            <a:ext cx="3143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Peak wavelength, insertion at peak and target wavelength, 3 dB bandwidth, flatness and wafer variation.</a:t>
            </a:r>
          </a:p>
        </p:txBody>
      </p:sp>
      <p:sp>
        <p:nvSpPr>
          <p:cNvPr id="20" name="">
            <a:extLst xmlns:a="http://schemas.openxmlformats.org/drawingml/2006/main">
              <a:ext uri="{FF2B5EF4-FFF2-40B4-BE49-F238E27FC236}">
                <a16:creationId xmlns:a16="http://schemas.microsoft.com/office/drawing/2014/main" id="{CBD4BF44-DFFC-4B73-872E-70AFDEC72D01}"/>
              </a:ext>
            </a:extLst>
          </p:cNvPr>
          <p:cNvSpPr>
            <a:spLocks xmlns:a="http://schemas.openxmlformats.org/drawingml/2006/main" noGrp="1"/>
          </p:cNvSpPr>
          <p:nvPr/>
        </p:nvSpPr>
        <p:spPr>
          <a:xfrm xmlns:a="http://schemas.openxmlformats.org/drawingml/2006/main">
            <a:off x="7962900" y="20002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38258A"/>
                </a:solidFill>
                <a:latin typeface="Arial"/>
                <a:ea typeface="Arial"/>
                <a:cs typeface="Arial"/>
              </a:defRPr>
            </a:pPr>
            <a:r>
              <a:rPr sz="2025" b="1">
                <a:solidFill>
                  <a:srgbClr val="38258A"/>
                </a:solidFill>
                <a:latin typeface="Arial"/>
                <a:ea typeface="Arial"/>
                <a:cs typeface="Arial"/>
              </a:rPr>
              <a:t>Heater Efficiency</a:t>
            </a:r>
          </a:p>
        </p:txBody>
      </p:sp>
      <p:sp>
        <p:nvSpPr>
          <p:cNvPr id="21" name="">
            <a:extLst xmlns:a="http://schemas.openxmlformats.org/drawingml/2006/main">
              <a:ext uri="{FF2B5EF4-FFF2-40B4-BE49-F238E27FC236}">
                <a16:creationId xmlns:a16="http://schemas.microsoft.com/office/drawing/2014/main" id="{4A5A0655-FC3B-45A8-937A-6FD86AB37C02}"/>
              </a:ext>
            </a:extLst>
          </p:cNvPr>
          <p:cNvSpPr>
            <a:spLocks xmlns:a="http://schemas.openxmlformats.org/drawingml/2006/main" noGrp="1"/>
          </p:cNvSpPr>
          <p:nvPr/>
        </p:nvSpPr>
        <p:spPr>
          <a:xfrm xmlns:a="http://schemas.openxmlformats.org/drawingml/2006/main">
            <a:off x="7962900" y="2533650"/>
            <a:ext cx="3143250" cy="28575"/>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31C59C3-232D-46B1-9BF7-34FB253DD519}"/>
              </a:ext>
            </a:extLst>
          </p:cNvPr>
          <p:cNvSpPr>
            <a:spLocks xmlns:a="http://schemas.openxmlformats.org/drawingml/2006/main" noGrp="1"/>
          </p:cNvSpPr>
          <p:nvPr/>
        </p:nvSpPr>
        <p:spPr>
          <a:xfrm xmlns:a="http://schemas.openxmlformats.org/drawingml/2006/main">
            <a:off x="7962900" y="27813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11A3B"/>
                </a:solidFill>
                <a:latin typeface="Arial"/>
                <a:ea typeface="Arial"/>
                <a:cs typeface="Arial"/>
              </a:defRPr>
            </a:pPr>
            <a:r>
              <a:rPr sz="1575" b="1">
                <a:solidFill>
                  <a:srgbClr val="111A3B"/>
                </a:solidFill>
                <a:latin typeface="Arial"/>
                <a:ea typeface="Arial"/>
                <a:cs typeface="Arial"/>
              </a:rPr>
              <a:t>Electrical-to-optical response</a:t>
            </a:r>
          </a:p>
        </p:txBody>
      </p:sp>
      <p:sp>
        <p:nvSpPr>
          <p:cNvPr id="23" name="">
            <a:extLst xmlns:a="http://schemas.openxmlformats.org/drawingml/2006/main">
              <a:ext uri="{FF2B5EF4-FFF2-40B4-BE49-F238E27FC236}">
                <a16:creationId xmlns:a16="http://schemas.microsoft.com/office/drawing/2014/main" id="{06A48F6D-FF4E-4B9C-95CB-485447217A38}"/>
              </a:ext>
            </a:extLst>
          </p:cNvPr>
          <p:cNvSpPr>
            <a:spLocks xmlns:a="http://schemas.openxmlformats.org/drawingml/2006/main" noGrp="1"/>
          </p:cNvSpPr>
          <p:nvPr/>
        </p:nvSpPr>
        <p:spPr>
          <a:xfrm xmlns:a="http://schemas.openxmlformats.org/drawingml/2006/main">
            <a:off x="7962900" y="3486150"/>
            <a:ext cx="3143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MZI heater response, phase-shift interpretation and wafer-level electrical/optical comparison.</a:t>
            </a:r>
          </a:p>
        </p:txBody>
      </p:sp>
      <p:sp>
        <p:nvSpPr>
          <p:cNvPr id="24" name="">
            <a:extLst xmlns:a="http://schemas.openxmlformats.org/drawingml/2006/main">
              <a:ext uri="{FF2B5EF4-FFF2-40B4-BE49-F238E27FC236}">
                <a16:creationId xmlns:a16="http://schemas.microsoft.com/office/drawing/2014/main" id="{E28210CB-8E55-477E-8CFF-5ABE6BA0BB50}"/>
              </a:ext>
            </a:extLst>
          </p:cNvPr>
          <p:cNvSpPr>
            <a:spLocks xmlns:a="http://schemas.openxmlformats.org/drawingml/2006/main" noGrp="1"/>
          </p:cNvSpPr>
          <p:nvPr/>
        </p:nvSpPr>
        <p:spPr>
          <a:xfrm xmlns:a="http://schemas.openxmlformats.org/drawingml/2006/main">
            <a:off x="1314450" y="5619750"/>
            <a:ext cx="9563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628"/>
          </a:bodyPr>
          <a:lstStyle xmlns:a="http://schemas.openxmlformats.org/drawingml/2006/main"/>
          <a:p xmlns:a="http://schemas.openxmlformats.org/drawingml/2006/main">
            <a:pPr algn="ctr">
              <a:buNone/>
              <a:defRPr sz="1725" b="1">
                <a:solidFill>
                  <a:srgbClr val="111A3B"/>
                </a:solidFill>
                <a:latin typeface="Arial"/>
                <a:ea typeface="Arial"/>
                <a:cs typeface="Arial"/>
              </a:defRPr>
            </a:pPr>
            <a:r>
              <a:rPr sz="1725" b="1">
                <a:solidFill>
                  <a:srgbClr val="111A3B"/>
                </a:solidFill>
                <a:latin typeface="Arial"/>
                <a:ea typeface="Arial"/>
                <a:cs typeface="Arial"/>
              </a:rPr>
              <a:t>Shared navigation and data handling make the three routes feel like one suite rather than separate scripts.</a:t>
            </a:r>
          </a:p>
        </p:txBody>
      </p:sp>
    </p:spTree>
    <p:extLst>
      <p:ext uri="{BB962C8B-B14F-4D97-AF65-F5344CB8AC3E}">
        <p14:creationId xmlns:p14="http://schemas.microsoft.com/office/powerpoint/2010/main" val="6768705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3AB7396-F3AD-4EC5-B454-7B44EED7189F}"/>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331470-EDCC-4660-8B7C-9ECFBB6DF382}"/>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285B5FE-0969-45E0-B116-22ECCA799A13}"/>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E1D8AF-C4E1-4445-8012-236869D5CE99}"/>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F50EEF5-13F7-4AB5-A7CB-ED0D5E83D88B}"/>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37AA3DF-A44F-47E3-A7BB-6DC11DF4C930}"/>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EA4A4D-171F-41B5-B1AB-93DF0F88B207}"/>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2B2B6F71-EA52-42B5-9FFB-9C0771BD97EE}"/>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034"/>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The Library makes measurement data reusable beyond a single analysis session</a:t>
            </a:r>
          </a:p>
        </p:txBody>
      </p:sp>
      <p:sp>
        <p:nvSpPr>
          <p:cNvPr id="9" name="">
            <a:extLst xmlns:a="http://schemas.openxmlformats.org/drawingml/2006/main">
              <a:ext uri="{FF2B5EF4-FFF2-40B4-BE49-F238E27FC236}">
                <a16:creationId xmlns:a16="http://schemas.microsoft.com/office/drawing/2014/main" id="{45818133-F852-448A-A636-88CA44A38E81}"/>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EDA0C03-DDA5-42A0-94E2-762635BA92C6}"/>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BFAA0B85-B8B2-4F41-843F-430A0CA4133C}"/>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08</a:t>
            </a:r>
          </a:p>
        </p:txBody>
      </p:sp>
      <p:sp>
        <p:nvSpPr>
          <p:cNvPr id="12" name="">
            <a:extLst xmlns:a="http://schemas.openxmlformats.org/drawingml/2006/main">
              <a:ext uri="{FF2B5EF4-FFF2-40B4-BE49-F238E27FC236}">
                <a16:creationId xmlns:a16="http://schemas.microsoft.com/office/drawing/2014/main" id="{B8513F0A-6F21-4A55-BA7B-4068AB4B3E08}"/>
              </a:ext>
            </a:extLst>
          </p:cNvPr>
          <p:cNvSpPr>
            <a:spLocks xmlns:a="http://schemas.openxmlformats.org/drawingml/2006/main" noGrp="1"/>
          </p:cNvSpPr>
          <p:nvPr/>
        </p:nvSpPr>
        <p:spPr>
          <a:xfrm xmlns:a="http://schemas.openxmlformats.org/drawingml/2006/main">
            <a:off x="533400" y="1809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Discover and compare</a:t>
            </a:r>
          </a:p>
        </p:txBody>
      </p:sp>
      <p:sp>
        <p:nvSpPr>
          <p:cNvPr id="13" name="">
            <a:extLst xmlns:a="http://schemas.openxmlformats.org/drawingml/2006/main">
              <a:ext uri="{FF2B5EF4-FFF2-40B4-BE49-F238E27FC236}">
                <a16:creationId xmlns:a16="http://schemas.microsoft.com/office/drawing/2014/main" id="{502B9317-42F5-44EC-A863-D0288B233003}"/>
              </a:ext>
            </a:extLst>
          </p:cNvPr>
          <p:cNvSpPr>
            <a:spLocks xmlns:a="http://schemas.openxmlformats.org/drawingml/2006/main" noGrp="1"/>
          </p:cNvSpPr>
          <p:nvPr/>
        </p:nvSpPr>
        <p:spPr>
          <a:xfrm xmlns:a="http://schemas.openxmlformats.org/drawingml/2006/main">
            <a:off x="533400" y="24098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8466766-3278-4015-94C3-CA12EED53CFA}"/>
              </a:ext>
            </a:extLst>
          </p:cNvPr>
          <p:cNvSpPr>
            <a:spLocks xmlns:a="http://schemas.openxmlformats.org/drawingml/2006/main" noGrp="1"/>
          </p:cNvSpPr>
          <p:nvPr/>
        </p:nvSpPr>
        <p:spPr>
          <a:xfrm xmlns:a="http://schemas.openxmlformats.org/drawingml/2006/main">
            <a:off x="762000" y="23431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Dashboard and published dataset coverage</a:t>
            </a:r>
          </a:p>
        </p:txBody>
      </p:sp>
      <p:sp>
        <p:nvSpPr>
          <p:cNvPr id="15" name="">
            <a:extLst xmlns:a="http://schemas.openxmlformats.org/drawingml/2006/main">
              <a:ext uri="{FF2B5EF4-FFF2-40B4-BE49-F238E27FC236}">
                <a16:creationId xmlns:a16="http://schemas.microsoft.com/office/drawing/2014/main" id="{0D568A6A-F646-4903-ACE1-DD2B2CE8DE53}"/>
              </a:ext>
            </a:extLst>
          </p:cNvPr>
          <p:cNvSpPr>
            <a:spLocks xmlns:a="http://schemas.openxmlformats.org/drawingml/2006/main" noGrp="1"/>
          </p:cNvSpPr>
          <p:nvPr/>
        </p:nvSpPr>
        <p:spPr>
          <a:xfrm xmlns:a="http://schemas.openxmlformats.org/drawingml/2006/main">
            <a:off x="533400" y="31337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2F8DF83-ED78-4BF5-AEA6-C9691C5A8AF8}"/>
              </a:ext>
            </a:extLst>
          </p:cNvPr>
          <p:cNvSpPr>
            <a:spLocks xmlns:a="http://schemas.openxmlformats.org/drawingml/2006/main" noGrp="1"/>
          </p:cNvSpPr>
          <p:nvPr/>
        </p:nvSpPr>
        <p:spPr>
          <a:xfrm xmlns:a="http://schemas.openxmlformats.org/drawingml/2006/main">
            <a:off x="762000" y="30670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Dataset Snapshots and cross-dataset Comparison</a:t>
            </a:r>
          </a:p>
        </p:txBody>
      </p:sp>
      <p:sp>
        <p:nvSpPr>
          <p:cNvPr id="17" name="">
            <a:extLst xmlns:a="http://schemas.openxmlformats.org/drawingml/2006/main">
              <a:ext uri="{FF2B5EF4-FFF2-40B4-BE49-F238E27FC236}">
                <a16:creationId xmlns:a16="http://schemas.microsoft.com/office/drawing/2014/main" id="{C009168A-2B7B-48AE-8672-54E041F7042D}"/>
              </a:ext>
            </a:extLst>
          </p:cNvPr>
          <p:cNvSpPr>
            <a:spLocks xmlns:a="http://schemas.openxmlformats.org/drawingml/2006/main" noGrp="1"/>
          </p:cNvSpPr>
          <p:nvPr/>
        </p:nvSpPr>
        <p:spPr>
          <a:xfrm xmlns:a="http://schemas.openxmlformats.org/drawingml/2006/main">
            <a:off x="533400" y="38576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9815B10-2329-4B5C-9985-39803E938483}"/>
              </a:ext>
            </a:extLst>
          </p:cNvPr>
          <p:cNvSpPr>
            <a:spLocks xmlns:a="http://schemas.openxmlformats.org/drawingml/2006/main" noGrp="1"/>
          </p:cNvSpPr>
          <p:nvPr/>
        </p:nvSpPr>
        <p:spPr>
          <a:xfrm xmlns:a="http://schemas.openxmlformats.org/drawingml/2006/main">
            <a:off x="762000" y="37909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Wafermaps and CD-SEM overlap review</a:t>
            </a:r>
          </a:p>
        </p:txBody>
      </p:sp>
      <p:sp>
        <p:nvSpPr>
          <p:cNvPr id="19" name="">
            <a:extLst xmlns:a="http://schemas.openxmlformats.org/drawingml/2006/main">
              <a:ext uri="{FF2B5EF4-FFF2-40B4-BE49-F238E27FC236}">
                <a16:creationId xmlns:a16="http://schemas.microsoft.com/office/drawing/2014/main" id="{09861ABD-16DC-4E55-9CB8-0A274CB0E962}"/>
              </a:ext>
            </a:extLst>
          </p:cNvPr>
          <p:cNvSpPr>
            <a:spLocks xmlns:a="http://schemas.openxmlformats.org/drawingml/2006/main" noGrp="1"/>
          </p:cNvSpPr>
          <p:nvPr/>
        </p:nvSpPr>
        <p:spPr>
          <a:xfrm xmlns:a="http://schemas.openxmlformats.org/drawingml/2006/main">
            <a:off x="6248400" y="18097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Prepare and standardise</a:t>
            </a:r>
          </a:p>
        </p:txBody>
      </p:sp>
      <p:sp>
        <p:nvSpPr>
          <p:cNvPr id="20" name="">
            <a:extLst xmlns:a="http://schemas.openxmlformats.org/drawingml/2006/main">
              <a:ext uri="{FF2B5EF4-FFF2-40B4-BE49-F238E27FC236}">
                <a16:creationId xmlns:a16="http://schemas.microsoft.com/office/drawing/2014/main" id="{5B0F5560-4817-4AB1-BDAA-1B49EFE87415}"/>
              </a:ext>
            </a:extLst>
          </p:cNvPr>
          <p:cNvSpPr>
            <a:spLocks xmlns:a="http://schemas.openxmlformats.org/drawingml/2006/main" noGrp="1"/>
          </p:cNvSpPr>
          <p:nvPr/>
        </p:nvSpPr>
        <p:spPr>
          <a:xfrm xmlns:a="http://schemas.openxmlformats.org/drawingml/2006/main">
            <a:off x="6248400" y="24098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FAB26DB-3DB8-43A7-951B-0527E2887D3F}"/>
              </a:ext>
            </a:extLst>
          </p:cNvPr>
          <p:cNvSpPr>
            <a:spLocks xmlns:a="http://schemas.openxmlformats.org/drawingml/2006/main" noGrp="1"/>
          </p:cNvSpPr>
          <p:nvPr/>
        </p:nvSpPr>
        <p:spPr>
          <a:xfrm xmlns:a="http://schemas.openxmlformats.org/drawingml/2006/main">
            <a:off x="6477000" y="23431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Manual Conversion and Advanced conversion</a:t>
            </a:r>
          </a:p>
        </p:txBody>
      </p:sp>
      <p:sp>
        <p:nvSpPr>
          <p:cNvPr id="22" name="">
            <a:extLst xmlns:a="http://schemas.openxmlformats.org/drawingml/2006/main">
              <a:ext uri="{FF2B5EF4-FFF2-40B4-BE49-F238E27FC236}">
                <a16:creationId xmlns:a16="http://schemas.microsoft.com/office/drawing/2014/main" id="{226B2864-7E06-4E03-B551-302954FF32DF}"/>
              </a:ext>
            </a:extLst>
          </p:cNvPr>
          <p:cNvSpPr>
            <a:spLocks xmlns:a="http://schemas.openxmlformats.org/drawingml/2006/main" noGrp="1"/>
          </p:cNvSpPr>
          <p:nvPr/>
        </p:nvSpPr>
        <p:spPr>
          <a:xfrm xmlns:a="http://schemas.openxmlformats.org/drawingml/2006/main">
            <a:off x="6248400" y="31337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A3B114C-F947-4C30-A4FB-B376A6EA1F6B}"/>
              </a:ext>
            </a:extLst>
          </p:cNvPr>
          <p:cNvSpPr>
            <a:spLocks xmlns:a="http://schemas.openxmlformats.org/drawingml/2006/main" noGrp="1"/>
          </p:cNvSpPr>
          <p:nvPr/>
        </p:nvSpPr>
        <p:spPr>
          <a:xfrm xmlns:a="http://schemas.openxmlformats.org/drawingml/2006/main">
            <a:off x="6477000" y="30670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Filename Conversion with controlled naming</a:t>
            </a:r>
          </a:p>
        </p:txBody>
      </p:sp>
      <p:sp>
        <p:nvSpPr>
          <p:cNvPr id="24" name="">
            <a:extLst xmlns:a="http://schemas.openxmlformats.org/drawingml/2006/main">
              <a:ext uri="{FF2B5EF4-FFF2-40B4-BE49-F238E27FC236}">
                <a16:creationId xmlns:a16="http://schemas.microsoft.com/office/drawing/2014/main" id="{3E181831-8568-4E7A-912A-DF3666EA508C}"/>
              </a:ext>
            </a:extLst>
          </p:cNvPr>
          <p:cNvSpPr>
            <a:spLocks xmlns:a="http://schemas.openxmlformats.org/drawingml/2006/main" noGrp="1"/>
          </p:cNvSpPr>
          <p:nvPr/>
        </p:nvSpPr>
        <p:spPr>
          <a:xfrm xmlns:a="http://schemas.openxmlformats.org/drawingml/2006/main">
            <a:off x="6248400" y="38576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A6C996E-EFE0-4387-BD31-5FE71F0F7AF0}"/>
              </a:ext>
            </a:extLst>
          </p:cNvPr>
          <p:cNvSpPr>
            <a:spLocks xmlns:a="http://schemas.openxmlformats.org/drawingml/2006/main" noGrp="1"/>
          </p:cNvSpPr>
          <p:nvPr/>
        </p:nvSpPr>
        <p:spPr>
          <a:xfrm xmlns:a="http://schemas.openxmlformats.org/drawingml/2006/main">
            <a:off x="6477000" y="37909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Standard and Advanced Spectrum Viewers</a:t>
            </a:r>
          </a:p>
        </p:txBody>
      </p:sp>
      <p:sp>
        <p:nvSpPr>
          <p:cNvPr id="26" name="">
            <a:extLst xmlns:a="http://schemas.openxmlformats.org/drawingml/2006/main">
              <a:ext uri="{FF2B5EF4-FFF2-40B4-BE49-F238E27FC236}">
                <a16:creationId xmlns:a16="http://schemas.microsoft.com/office/drawing/2014/main" id="{1C62E1AF-0C36-43EF-8E1E-EDCDCF53C0EF}"/>
              </a:ext>
            </a:extLst>
          </p:cNvPr>
          <p:cNvSpPr>
            <a:spLocks xmlns:a="http://schemas.openxmlformats.org/drawingml/2006/main" noGrp="1"/>
          </p:cNvSpPr>
          <p:nvPr/>
        </p:nvSpPr>
        <p:spPr>
          <a:xfrm xmlns:a="http://schemas.openxmlformats.org/drawingml/2006/main">
            <a:off x="533400" y="48577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D85C3ED-BA58-41B5-81EB-F0F1E9096717}"/>
              </a:ext>
            </a:extLst>
          </p:cNvPr>
          <p:cNvSpPr>
            <a:spLocks xmlns:a="http://schemas.openxmlformats.org/drawingml/2006/main" noGrp="1"/>
          </p:cNvSpPr>
          <p:nvPr/>
        </p:nvSpPr>
        <p:spPr>
          <a:xfrm xmlns:a="http://schemas.openxmlformats.org/drawingml/2006/main">
            <a:off x="1428750" y="52197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a:solidFill>
                  <a:srgbClr val="111A3B"/>
                </a:solidFill>
                <a:latin typeface="Arial"/>
                <a:ea typeface="Arial"/>
                <a:cs typeface="Arial"/>
              </a:defRPr>
            </a:pPr>
            <a:r>
              <a:rPr sz="1875" b="1">
                <a:solidFill>
                  <a:srgbClr val="111A3B"/>
                </a:solidFill>
                <a:latin typeface="Arial"/>
                <a:ea typeface="Arial"/>
                <a:cs typeface="Arial"/>
              </a:rPr>
              <a:t>Result: datasets can be revisited, compared across MPWs, and handed between teams with more context and less rework.</a:t>
            </a:r>
          </a:p>
        </p:txBody>
      </p:sp>
    </p:spTree>
    <p:extLst>
      <p:ext uri="{BB962C8B-B14F-4D97-AF65-F5344CB8AC3E}">
        <p14:creationId xmlns:p14="http://schemas.microsoft.com/office/powerpoint/2010/main" val="2393430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E639BB4-566F-4E4A-9327-DC8CFE9E37C9}"/>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A4DD0C-DC49-4960-A0E1-8F5E734C4760}"/>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C111FAA-395D-47FE-8B44-8D327B04364D}"/>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DD302BF-1FC8-4B05-BB0E-3FAB2D674291}"/>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ADEEBD1-38A1-415F-94F4-CCF03D441425}"/>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F257E99-EBEB-4B99-A6B8-723F51FC6C80}"/>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C247D7-2011-40D9-8025-8FA9B222F525}"/>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WAFER POST-PROCESSING SUITE</a:t>
            </a:r>
          </a:p>
        </p:txBody>
      </p:sp>
      <p:sp>
        <p:nvSpPr>
          <p:cNvPr id="8" name="">
            <a:extLst xmlns:a="http://schemas.openxmlformats.org/drawingml/2006/main">
              <a:ext uri="{FF2B5EF4-FFF2-40B4-BE49-F238E27FC236}">
                <a16:creationId xmlns:a16="http://schemas.microsoft.com/office/drawing/2014/main" id="{476E0B10-65DC-445F-B2EC-1BEC57C8F1C8}"/>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Reporting converts analysis state into review-ready material</a:t>
            </a:r>
          </a:p>
        </p:txBody>
      </p:sp>
      <p:sp>
        <p:nvSpPr>
          <p:cNvPr id="9" name="">
            <a:extLst xmlns:a="http://schemas.openxmlformats.org/drawingml/2006/main">
              <a:ext uri="{FF2B5EF4-FFF2-40B4-BE49-F238E27FC236}">
                <a16:creationId xmlns:a16="http://schemas.microsoft.com/office/drawing/2014/main" id="{2C06CACF-7566-491D-92F1-F0F4ED607D3D}"/>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E7F0933-9269-49DF-9154-57B8DA1CAA55}"/>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AB8CEB16-346A-4C5B-A9D7-C4512FBD3A5E}"/>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09</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5eed98add5e41ed"/>
          <a:stretch xmlns:a="http://schemas.openxmlformats.org/drawingml/2006/main"/>
        </p:blipFill>
        <p:spPr>
          <a:xfrm xmlns:a="http://schemas.openxmlformats.org/drawingml/2006/main">
            <a:off x="533400" y="1982583"/>
            <a:ext cx="6667500" cy="3750083"/>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1770CE1-3008-49E6-9406-568FE5DBA2F6}"/>
              </a:ext>
            </a:extLst>
          </p:cNvPr>
          <p:cNvSpPr>
            <a:spLocks xmlns:a="http://schemas.openxmlformats.org/drawingml/2006/main" noGrp="1"/>
          </p:cNvSpPr>
          <p:nvPr/>
        </p:nvSpPr>
        <p:spPr>
          <a:xfrm xmlns:a="http://schemas.openxmlformats.org/drawingml/2006/main">
            <a:off x="7829550" y="1809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Available outputs</a:t>
            </a:r>
          </a:p>
        </p:txBody>
      </p:sp>
      <p:sp>
        <p:nvSpPr>
          <p:cNvPr id="14" name="">
            <a:extLst xmlns:a="http://schemas.openxmlformats.org/drawingml/2006/main">
              <a:ext uri="{FF2B5EF4-FFF2-40B4-BE49-F238E27FC236}">
                <a16:creationId xmlns:a16="http://schemas.microsoft.com/office/drawing/2014/main" id="{9ABC02E7-E7E8-450A-9C27-DE569B728926}"/>
              </a:ext>
            </a:extLst>
          </p:cNvPr>
          <p:cNvSpPr>
            <a:spLocks xmlns:a="http://schemas.openxmlformats.org/drawingml/2006/main" noGrp="1"/>
          </p:cNvSpPr>
          <p:nvPr/>
        </p:nvSpPr>
        <p:spPr>
          <a:xfrm xmlns:a="http://schemas.openxmlformats.org/drawingml/2006/main">
            <a:off x="7829550" y="24098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3AA4AF7-B770-4B10-9EAF-FEB39BF1BDE3}"/>
              </a:ext>
            </a:extLst>
          </p:cNvPr>
          <p:cNvSpPr>
            <a:spLocks xmlns:a="http://schemas.openxmlformats.org/drawingml/2006/main" noGrp="1"/>
          </p:cNvSpPr>
          <p:nvPr/>
        </p:nvSpPr>
        <p:spPr>
          <a:xfrm xmlns:a="http://schemas.openxmlformats.org/drawingml/2006/main">
            <a:off x="8058150" y="2343150"/>
            <a:ext cx="3105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Open and inspect figures</a:t>
            </a:r>
          </a:p>
        </p:txBody>
      </p:sp>
      <p:sp>
        <p:nvSpPr>
          <p:cNvPr id="16" name="">
            <a:extLst xmlns:a="http://schemas.openxmlformats.org/drawingml/2006/main">
              <a:ext uri="{FF2B5EF4-FFF2-40B4-BE49-F238E27FC236}">
                <a16:creationId xmlns:a16="http://schemas.microsoft.com/office/drawing/2014/main" id="{E5192ADD-A728-4281-8B8E-EDE60322B138}"/>
              </a:ext>
            </a:extLst>
          </p:cNvPr>
          <p:cNvSpPr>
            <a:spLocks xmlns:a="http://schemas.openxmlformats.org/drawingml/2006/main" noGrp="1"/>
          </p:cNvSpPr>
          <p:nvPr/>
        </p:nvSpPr>
        <p:spPr>
          <a:xfrm xmlns:a="http://schemas.openxmlformats.org/drawingml/2006/main">
            <a:off x="7829550" y="31337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BC9DB3A-6842-4741-9BDD-12DDDE0479D9}"/>
              </a:ext>
            </a:extLst>
          </p:cNvPr>
          <p:cNvSpPr>
            <a:spLocks xmlns:a="http://schemas.openxmlformats.org/drawingml/2006/main" noGrp="1"/>
          </p:cNvSpPr>
          <p:nvPr/>
        </p:nvSpPr>
        <p:spPr>
          <a:xfrm xmlns:a="http://schemas.openxmlformats.org/drawingml/2006/main">
            <a:off x="8058150" y="3067050"/>
            <a:ext cx="3105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Download PNG evidence</a:t>
            </a:r>
          </a:p>
        </p:txBody>
      </p:sp>
      <p:sp>
        <p:nvSpPr>
          <p:cNvPr id="18" name="">
            <a:extLst xmlns:a="http://schemas.openxmlformats.org/drawingml/2006/main">
              <a:ext uri="{FF2B5EF4-FFF2-40B4-BE49-F238E27FC236}">
                <a16:creationId xmlns:a16="http://schemas.microsoft.com/office/drawing/2014/main" id="{E3334013-7B8F-43D6-A45A-F6CE3ED0DFE6}"/>
              </a:ext>
            </a:extLst>
          </p:cNvPr>
          <p:cNvSpPr>
            <a:spLocks xmlns:a="http://schemas.openxmlformats.org/drawingml/2006/main" noGrp="1"/>
          </p:cNvSpPr>
          <p:nvPr/>
        </p:nvSpPr>
        <p:spPr>
          <a:xfrm xmlns:a="http://schemas.openxmlformats.org/drawingml/2006/main">
            <a:off x="7829550" y="38576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1F46175-060F-4F24-95A8-624BCB9DC851}"/>
              </a:ext>
            </a:extLst>
          </p:cNvPr>
          <p:cNvSpPr>
            <a:spLocks xmlns:a="http://schemas.openxmlformats.org/drawingml/2006/main" noGrp="1"/>
          </p:cNvSpPr>
          <p:nvPr/>
        </p:nvSpPr>
        <p:spPr>
          <a:xfrm xmlns:a="http://schemas.openxmlformats.org/drawingml/2006/main">
            <a:off x="8058150" y="3790950"/>
            <a:ext cx="3105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Save interactive HTML where available</a:t>
            </a:r>
          </a:p>
        </p:txBody>
      </p:sp>
      <p:sp>
        <p:nvSpPr>
          <p:cNvPr id="20" name="">
            <a:extLst xmlns:a="http://schemas.openxmlformats.org/drawingml/2006/main">
              <a:ext uri="{FF2B5EF4-FFF2-40B4-BE49-F238E27FC236}">
                <a16:creationId xmlns:a16="http://schemas.microsoft.com/office/drawing/2014/main" id="{793979B0-D7A4-4896-88D9-A4BF583DD25F}"/>
              </a:ext>
            </a:extLst>
          </p:cNvPr>
          <p:cNvSpPr>
            <a:spLocks xmlns:a="http://schemas.openxmlformats.org/drawingml/2006/main" noGrp="1"/>
          </p:cNvSpPr>
          <p:nvPr/>
        </p:nvSpPr>
        <p:spPr>
          <a:xfrm xmlns:a="http://schemas.openxmlformats.org/drawingml/2006/main">
            <a:off x="7829550" y="45815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0060670-9705-4557-AB38-BCD5F64A2DD0}"/>
              </a:ext>
            </a:extLst>
          </p:cNvPr>
          <p:cNvSpPr>
            <a:spLocks xmlns:a="http://schemas.openxmlformats.org/drawingml/2006/main" noGrp="1"/>
          </p:cNvSpPr>
          <p:nvPr/>
        </p:nvSpPr>
        <p:spPr>
          <a:xfrm xmlns:a="http://schemas.openxmlformats.org/drawingml/2006/main">
            <a:off x="8058150" y="4514850"/>
            <a:ext cx="3105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Generate PowerPoint, Word and PDF reports</a:t>
            </a:r>
          </a:p>
        </p:txBody>
      </p:sp>
    </p:spTree>
    <p:extLst>
      <p:ext uri="{BB962C8B-B14F-4D97-AF65-F5344CB8AC3E}">
        <p14:creationId xmlns:p14="http://schemas.microsoft.com/office/powerpoint/2010/main" val="24000494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94084AB-8F70-4FCC-98D6-23C27AC72C05}"/>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930EE4-37C3-4D84-9348-802BE259EE0B}"/>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8857F67-ADFB-48CB-959C-776C3F252AFE}"/>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994DD26-13FA-451A-92F9-0645965D001F}"/>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FE5E48-4796-4DE0-9BD2-D5A1192C6A01}"/>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22DB005-72E9-464E-9E0B-8A49E4A9E568}"/>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1562249-278B-4703-8C7A-AB99F2AACC00}"/>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TEAM VALUE</a:t>
            </a:r>
          </a:p>
        </p:txBody>
      </p:sp>
      <p:sp>
        <p:nvSpPr>
          <p:cNvPr id="8" name="">
            <a:extLst xmlns:a="http://schemas.openxmlformats.org/drawingml/2006/main">
              <a:ext uri="{FF2B5EF4-FFF2-40B4-BE49-F238E27FC236}">
                <a16:creationId xmlns:a16="http://schemas.microsoft.com/office/drawing/2014/main" id="{90A543D3-151B-4B74-8510-C816E6B8DEFF}"/>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471"/>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For the test team, the main gain is faster interpretation with fewer silent waits</a:t>
            </a:r>
          </a:p>
        </p:txBody>
      </p:sp>
      <p:sp>
        <p:nvSpPr>
          <p:cNvPr id="9" name="">
            <a:extLst xmlns:a="http://schemas.openxmlformats.org/drawingml/2006/main">
              <a:ext uri="{FF2B5EF4-FFF2-40B4-BE49-F238E27FC236}">
                <a16:creationId xmlns:a16="http://schemas.microsoft.com/office/drawing/2014/main" id="{C23D19BB-C88A-4476-A474-16701DC674DA}"/>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ED4240-3C10-4A7F-9AF3-02352E50007D}"/>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4A32452A-3C60-4C98-8A6E-395A10E481D4}"/>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10</a:t>
            </a:r>
          </a:p>
        </p:txBody>
      </p:sp>
      <p:sp>
        <p:nvSpPr>
          <p:cNvPr id="12" name="">
            <a:extLst xmlns:a="http://schemas.openxmlformats.org/drawingml/2006/main">
              <a:ext uri="{FF2B5EF4-FFF2-40B4-BE49-F238E27FC236}">
                <a16:creationId xmlns:a16="http://schemas.microsoft.com/office/drawing/2014/main" id="{E0218159-03CB-4FCC-800D-E84A64811F9F}"/>
              </a:ext>
            </a:extLst>
          </p:cNvPr>
          <p:cNvSpPr>
            <a:spLocks xmlns:a="http://schemas.openxmlformats.org/drawingml/2006/main" noGrp="1"/>
          </p:cNvSpPr>
          <p:nvPr/>
        </p:nvSpPr>
        <p:spPr>
          <a:xfrm xmlns:a="http://schemas.openxmlformats.org/drawingml/2006/main">
            <a:off x="533400" y="18669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66708D"/>
                </a:solidFill>
                <a:latin typeface="Arial"/>
                <a:ea typeface="Arial"/>
                <a:cs typeface="Arial"/>
              </a:defRPr>
            </a:pPr>
            <a:r>
              <a:rPr sz="1800" b="1">
                <a:solidFill>
                  <a:srgbClr val="66708D"/>
                </a:solidFill>
                <a:latin typeface="Arial"/>
                <a:ea typeface="Arial"/>
                <a:cs typeface="Arial"/>
              </a:rPr>
              <a:t>Before</a:t>
            </a:r>
          </a:p>
        </p:txBody>
      </p:sp>
      <p:sp>
        <p:nvSpPr>
          <p:cNvPr id="13" name="">
            <a:extLst xmlns:a="http://schemas.openxmlformats.org/drawingml/2006/main">
              <a:ext uri="{FF2B5EF4-FFF2-40B4-BE49-F238E27FC236}">
                <a16:creationId xmlns:a16="http://schemas.microsoft.com/office/drawing/2014/main" id="{3635BE5C-AF6E-4174-8C89-332B64D0E4AC}"/>
              </a:ext>
            </a:extLst>
          </p:cNvPr>
          <p:cNvSpPr>
            <a:spLocks xmlns:a="http://schemas.openxmlformats.org/drawingml/2006/main" noGrp="1"/>
          </p:cNvSpPr>
          <p:nvPr/>
        </p:nvSpPr>
        <p:spPr>
          <a:xfrm xmlns:a="http://schemas.openxmlformats.org/drawingml/2006/main">
            <a:off x="533400" y="2381250"/>
            <a:ext cx="4572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151A2F"/>
                </a:solidFill>
                <a:latin typeface="Arial"/>
                <a:ea typeface="Arial"/>
                <a:cs typeface="Arial"/>
              </a:defRPr>
            </a:pPr>
            <a:r>
              <a:rPr sz="1650" b="0">
                <a:solidFill>
                  <a:srgbClr val="151A2F"/>
                </a:solidFill>
                <a:latin typeface="Arial"/>
                <a:ea typeface="Arial"/>
                <a:cs typeface="Arial"/>
              </a:rPr>
              <a:t>Processing delays could look like an unresponsive page, and chip-level comparison required more scrolling and manual context switching.</a:t>
            </a:r>
          </a:p>
        </p:txBody>
      </p:sp>
      <p:sp>
        <p:nvSpPr>
          <p:cNvPr id="14" name="">
            <a:extLst xmlns:a="http://schemas.openxmlformats.org/drawingml/2006/main">
              <a:ext uri="{FF2B5EF4-FFF2-40B4-BE49-F238E27FC236}">
                <a16:creationId xmlns:a16="http://schemas.microsoft.com/office/drawing/2014/main" id="{02EF3066-5793-42F5-B617-39EED0174CDA}"/>
              </a:ext>
            </a:extLst>
          </p:cNvPr>
          <p:cNvSpPr>
            <a:spLocks xmlns:a="http://schemas.openxmlformats.org/drawingml/2006/main" noGrp="1"/>
          </p:cNvSpPr>
          <p:nvPr/>
        </p:nvSpPr>
        <p:spPr>
          <a:xfrm xmlns:a="http://schemas.openxmlformats.org/drawingml/2006/main">
            <a:off x="6248400" y="18669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38258A"/>
                </a:solidFill>
                <a:latin typeface="Arial"/>
                <a:ea typeface="Arial"/>
                <a:cs typeface="Arial"/>
              </a:defRPr>
            </a:pPr>
            <a:r>
              <a:rPr sz="1800" b="1">
                <a:solidFill>
                  <a:srgbClr val="38258A"/>
                </a:solidFill>
                <a:latin typeface="Arial"/>
                <a:ea typeface="Arial"/>
                <a:cs typeface="Arial"/>
              </a:rPr>
              <a:t>With v0.4.0</a:t>
            </a:r>
          </a:p>
        </p:txBody>
      </p:sp>
      <p:sp>
        <p:nvSpPr>
          <p:cNvPr id="15" name="">
            <a:extLst xmlns:a="http://schemas.openxmlformats.org/drawingml/2006/main">
              <a:ext uri="{FF2B5EF4-FFF2-40B4-BE49-F238E27FC236}">
                <a16:creationId xmlns:a16="http://schemas.microsoft.com/office/drawing/2014/main" id="{26708B68-A4FB-4A87-9E8E-B15AF54B3132}"/>
              </a:ext>
            </a:extLst>
          </p:cNvPr>
          <p:cNvSpPr>
            <a:spLocks xmlns:a="http://schemas.openxmlformats.org/drawingml/2006/main" noGrp="1"/>
          </p:cNvSpPr>
          <p:nvPr/>
        </p:nvSpPr>
        <p:spPr>
          <a:xfrm xmlns:a="http://schemas.openxmlformats.org/drawingml/2006/main">
            <a:off x="6248400" y="24479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C35912D-A24F-4134-B59E-792D4C4D3A45}"/>
              </a:ext>
            </a:extLst>
          </p:cNvPr>
          <p:cNvSpPr>
            <a:spLocks xmlns:a="http://schemas.openxmlformats.org/drawingml/2006/main" noGrp="1"/>
          </p:cNvSpPr>
          <p:nvPr/>
        </p:nvSpPr>
        <p:spPr>
          <a:xfrm xmlns:a="http://schemas.openxmlformats.org/drawingml/2006/main">
            <a:off x="6477000" y="23812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Visible startup and dataset-processing feedback</a:t>
            </a:r>
          </a:p>
        </p:txBody>
      </p:sp>
      <p:sp>
        <p:nvSpPr>
          <p:cNvPr id="17" name="">
            <a:extLst xmlns:a="http://schemas.openxmlformats.org/drawingml/2006/main">
              <a:ext uri="{FF2B5EF4-FFF2-40B4-BE49-F238E27FC236}">
                <a16:creationId xmlns:a16="http://schemas.microsoft.com/office/drawing/2014/main" id="{C420A6F5-2B34-49C9-A216-1EB6153ECA0A}"/>
              </a:ext>
            </a:extLst>
          </p:cNvPr>
          <p:cNvSpPr>
            <a:spLocks xmlns:a="http://schemas.openxmlformats.org/drawingml/2006/main" noGrp="1"/>
          </p:cNvSpPr>
          <p:nvPr/>
        </p:nvSpPr>
        <p:spPr>
          <a:xfrm xmlns:a="http://schemas.openxmlformats.org/drawingml/2006/main">
            <a:off x="6248400" y="31718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9330218-550B-43F4-B677-E127063DEE17}"/>
              </a:ext>
            </a:extLst>
          </p:cNvPr>
          <p:cNvSpPr>
            <a:spLocks xmlns:a="http://schemas.openxmlformats.org/drawingml/2006/main" noGrp="1"/>
          </p:cNvSpPr>
          <p:nvPr/>
        </p:nvSpPr>
        <p:spPr>
          <a:xfrm xmlns:a="http://schemas.openxmlformats.org/drawingml/2006/main">
            <a:off x="6477000" y="31051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Wafer and chip metrics in one compact view</a:t>
            </a:r>
          </a:p>
        </p:txBody>
      </p:sp>
      <p:sp>
        <p:nvSpPr>
          <p:cNvPr id="19" name="">
            <a:extLst xmlns:a="http://schemas.openxmlformats.org/drawingml/2006/main">
              <a:ext uri="{FF2B5EF4-FFF2-40B4-BE49-F238E27FC236}">
                <a16:creationId xmlns:a16="http://schemas.microsoft.com/office/drawing/2014/main" id="{C9E93B69-A6A7-4B93-AB04-2051EE816D46}"/>
              </a:ext>
            </a:extLst>
          </p:cNvPr>
          <p:cNvSpPr>
            <a:spLocks xmlns:a="http://schemas.openxmlformats.org/drawingml/2006/main" noGrp="1"/>
          </p:cNvSpPr>
          <p:nvPr/>
        </p:nvSpPr>
        <p:spPr>
          <a:xfrm xmlns:a="http://schemas.openxmlformats.org/drawingml/2006/main">
            <a:off x="6248400" y="38957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9630649-B475-45FD-B1CA-CBABD059B376}"/>
              </a:ext>
            </a:extLst>
          </p:cNvPr>
          <p:cNvSpPr>
            <a:spLocks xmlns:a="http://schemas.openxmlformats.org/drawingml/2006/main" noGrp="1"/>
          </p:cNvSpPr>
          <p:nvPr/>
        </p:nvSpPr>
        <p:spPr>
          <a:xfrm xmlns:a="http://schemas.openxmlformats.org/drawingml/2006/main">
            <a:off x="6477000" y="38290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Clear MSE fit-quality language</a:t>
            </a:r>
          </a:p>
        </p:txBody>
      </p:sp>
      <p:sp>
        <p:nvSpPr>
          <p:cNvPr id="21" name="">
            <a:extLst xmlns:a="http://schemas.openxmlformats.org/drawingml/2006/main">
              <a:ext uri="{FF2B5EF4-FFF2-40B4-BE49-F238E27FC236}">
                <a16:creationId xmlns:a16="http://schemas.microsoft.com/office/drawing/2014/main" id="{B6872AC4-D69C-4BBF-A0A7-F98422D44E6E}"/>
              </a:ext>
            </a:extLst>
          </p:cNvPr>
          <p:cNvSpPr>
            <a:spLocks xmlns:a="http://schemas.openxmlformats.org/drawingml/2006/main" noGrp="1"/>
          </p:cNvSpPr>
          <p:nvPr/>
        </p:nvSpPr>
        <p:spPr>
          <a:xfrm xmlns:a="http://schemas.openxmlformats.org/drawingml/2006/main">
            <a:off x="6248400" y="461962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DD7E9C6-6965-402E-9047-A01E2D6BD324}"/>
              </a:ext>
            </a:extLst>
          </p:cNvPr>
          <p:cNvSpPr>
            <a:spLocks xmlns:a="http://schemas.openxmlformats.org/drawingml/2006/main" noGrp="1"/>
          </p:cNvSpPr>
          <p:nvPr/>
        </p:nvSpPr>
        <p:spPr>
          <a:xfrm xmlns:a="http://schemas.openxmlformats.org/drawingml/2006/main">
            <a:off x="6477000" y="4552950"/>
            <a:ext cx="4533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Repeatable figures and report outputs</a:t>
            </a:r>
          </a:p>
        </p:txBody>
      </p:sp>
      <p:sp>
        <p:nvSpPr>
          <p:cNvPr id="23" name="">
            <a:extLst xmlns:a="http://schemas.openxmlformats.org/drawingml/2006/main">
              <a:ext uri="{FF2B5EF4-FFF2-40B4-BE49-F238E27FC236}">
                <a16:creationId xmlns:a16="http://schemas.microsoft.com/office/drawing/2014/main" id="{2C6E8AFD-6F1F-4D4E-8980-1EDACA7C1585}"/>
              </a:ext>
            </a:extLst>
          </p:cNvPr>
          <p:cNvSpPr>
            <a:spLocks xmlns:a="http://schemas.openxmlformats.org/drawingml/2006/main" noGrp="1"/>
          </p:cNvSpPr>
          <p:nvPr/>
        </p:nvSpPr>
        <p:spPr>
          <a:xfrm xmlns:a="http://schemas.openxmlformats.org/drawingml/2006/main">
            <a:off x="1352550" y="5429250"/>
            <a:ext cx="9486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1">
                <a:solidFill>
                  <a:srgbClr val="111A3B"/>
                </a:solidFill>
                <a:latin typeface="Arial"/>
                <a:ea typeface="Arial"/>
                <a:cs typeface="Arial"/>
              </a:defRPr>
            </a:pPr>
            <a:r>
              <a:rPr sz="1875" b="1">
                <a:solidFill>
                  <a:srgbClr val="111A3B"/>
                </a:solidFill>
                <a:latin typeface="Arial"/>
                <a:ea typeface="Arial"/>
                <a:cs typeface="Arial"/>
              </a:rPr>
              <a:t>Outcome: less time preparing the view, more time deciding whether the data is trustworthy and what to test next.</a:t>
            </a:r>
          </a:p>
        </p:txBody>
      </p:sp>
    </p:spTree>
    <p:extLst>
      <p:ext uri="{BB962C8B-B14F-4D97-AF65-F5344CB8AC3E}">
        <p14:creationId xmlns:p14="http://schemas.microsoft.com/office/powerpoint/2010/main" val="67612014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64ECBA6-4FC0-41AD-9C9C-5B7AF870B194}"/>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B1583C-FD53-47EF-8EC7-B4D082DCD125}"/>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E3BA251-1E9D-4B38-BCF3-C5DAC52ECD9D}"/>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FEFE05A-079E-41EE-9132-AF0E30B82639}"/>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0935EF-5C3D-4697-A6BD-B2A7A0C9A333}"/>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B0314A2-220C-4A66-91C0-F101AEC2A861}"/>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7AB51A-243E-496D-B0C1-BB87B21568A8}"/>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TEAM VALUE</a:t>
            </a:r>
          </a:p>
        </p:txBody>
      </p:sp>
      <p:sp>
        <p:nvSpPr>
          <p:cNvPr id="8" name="">
            <a:extLst xmlns:a="http://schemas.openxmlformats.org/drawingml/2006/main">
              <a:ext uri="{FF2B5EF4-FFF2-40B4-BE49-F238E27FC236}">
                <a16:creationId xmlns:a16="http://schemas.microsoft.com/office/drawing/2014/main" id="{A078F1F3-B276-4B5D-AE6A-0F84A86A0C9C}"/>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916"/>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For the PDK team, wafer evidence becomes easier to compare and feed back</a:t>
            </a:r>
          </a:p>
        </p:txBody>
      </p:sp>
      <p:sp>
        <p:nvSpPr>
          <p:cNvPr id="9" name="">
            <a:extLst xmlns:a="http://schemas.openxmlformats.org/drawingml/2006/main">
              <a:ext uri="{FF2B5EF4-FFF2-40B4-BE49-F238E27FC236}">
                <a16:creationId xmlns:a16="http://schemas.microsoft.com/office/drawing/2014/main" id="{E3152EB8-C059-4504-B004-BE36FCA2E261}"/>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CB446E4-F681-4CD4-A134-B1810B85A7C9}"/>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678ED9F9-3678-4CD1-BBD8-8B9771A6BD3F}"/>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11</a:t>
            </a:r>
          </a:p>
        </p:txBody>
      </p:sp>
      <p:sp>
        <p:nvSpPr>
          <p:cNvPr id="12" name="">
            <a:extLst xmlns:a="http://schemas.openxmlformats.org/drawingml/2006/main">
              <a:ext uri="{FF2B5EF4-FFF2-40B4-BE49-F238E27FC236}">
                <a16:creationId xmlns:a16="http://schemas.microsoft.com/office/drawing/2014/main" id="{EFA9F4A1-B494-46EC-B5F1-39BAA69CED90}"/>
              </a:ext>
            </a:extLst>
          </p:cNvPr>
          <p:cNvSpPr>
            <a:spLocks xmlns:a="http://schemas.openxmlformats.org/drawingml/2006/main" noGrp="1"/>
          </p:cNvSpPr>
          <p:nvPr/>
        </p:nvSpPr>
        <p:spPr>
          <a:xfrm xmlns:a="http://schemas.openxmlformats.org/drawingml/2006/main">
            <a:off x="533400" y="2095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38258A"/>
                </a:solidFill>
                <a:latin typeface="Arial"/>
                <a:ea typeface="Arial"/>
                <a:cs typeface="Arial"/>
              </a:defRPr>
            </a:pPr>
            <a:r>
              <a:rPr sz="1875" b="1">
                <a:solidFill>
                  <a:srgbClr val="38258A"/>
                </a:solidFill>
                <a:latin typeface="Arial"/>
                <a:ea typeface="Arial"/>
                <a:cs typeface="Arial"/>
              </a:rPr>
              <a:t>Building-block evidence</a:t>
            </a:r>
          </a:p>
        </p:txBody>
      </p:sp>
      <p:sp>
        <p:nvSpPr>
          <p:cNvPr id="13" name="">
            <a:extLst xmlns:a="http://schemas.openxmlformats.org/drawingml/2006/main">
              <a:ext uri="{FF2B5EF4-FFF2-40B4-BE49-F238E27FC236}">
                <a16:creationId xmlns:a16="http://schemas.microsoft.com/office/drawing/2014/main" id="{B8A284FC-CAF9-43BF-A769-73B5E0999B33}"/>
              </a:ext>
            </a:extLst>
          </p:cNvPr>
          <p:cNvSpPr>
            <a:spLocks xmlns:a="http://schemas.openxmlformats.org/drawingml/2006/main" noGrp="1"/>
          </p:cNvSpPr>
          <p:nvPr/>
        </p:nvSpPr>
        <p:spPr>
          <a:xfrm xmlns:a="http://schemas.openxmlformats.org/drawingml/2006/main">
            <a:off x="533400" y="2895600"/>
            <a:ext cx="3143250" cy="1905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AB061A7-3E27-4A91-B068-FF726D79DB52}"/>
              </a:ext>
            </a:extLst>
          </p:cNvPr>
          <p:cNvSpPr>
            <a:spLocks xmlns:a="http://schemas.openxmlformats.org/drawingml/2006/main" noGrp="1"/>
          </p:cNvSpPr>
          <p:nvPr/>
        </p:nvSpPr>
        <p:spPr>
          <a:xfrm xmlns:a="http://schemas.openxmlformats.org/drawingml/2006/main">
            <a:off x="533400" y="31813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Propagation, insertion and heater metrics can be reviewed at die and wafer level.</a:t>
            </a:r>
          </a:p>
        </p:txBody>
      </p:sp>
      <p:sp>
        <p:nvSpPr>
          <p:cNvPr id="15" name="">
            <a:extLst xmlns:a="http://schemas.openxmlformats.org/drawingml/2006/main">
              <a:ext uri="{FF2B5EF4-FFF2-40B4-BE49-F238E27FC236}">
                <a16:creationId xmlns:a16="http://schemas.microsoft.com/office/drawing/2014/main" id="{3FED64A6-FF3B-4E9B-805E-1CEB4481BACD}"/>
              </a:ext>
            </a:extLst>
          </p:cNvPr>
          <p:cNvSpPr>
            <a:spLocks xmlns:a="http://schemas.openxmlformats.org/drawingml/2006/main" noGrp="1"/>
          </p:cNvSpPr>
          <p:nvPr/>
        </p:nvSpPr>
        <p:spPr>
          <a:xfrm xmlns:a="http://schemas.openxmlformats.org/drawingml/2006/main">
            <a:off x="4248150" y="2095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38258A"/>
                </a:solidFill>
                <a:latin typeface="Arial"/>
                <a:ea typeface="Arial"/>
                <a:cs typeface="Arial"/>
              </a:defRPr>
            </a:pPr>
            <a:r>
              <a:rPr sz="1875" b="1">
                <a:solidFill>
                  <a:srgbClr val="38258A"/>
                </a:solidFill>
                <a:latin typeface="Arial"/>
                <a:ea typeface="Arial"/>
                <a:cs typeface="Arial"/>
              </a:rPr>
              <a:t>Variation across wafers</a:t>
            </a:r>
          </a:p>
        </p:txBody>
      </p:sp>
      <p:sp>
        <p:nvSpPr>
          <p:cNvPr id="16" name="">
            <a:extLst xmlns:a="http://schemas.openxmlformats.org/drawingml/2006/main">
              <a:ext uri="{FF2B5EF4-FFF2-40B4-BE49-F238E27FC236}">
                <a16:creationId xmlns:a16="http://schemas.microsoft.com/office/drawing/2014/main" id="{22B349D5-551A-4D72-BBE1-28A76328812F}"/>
              </a:ext>
            </a:extLst>
          </p:cNvPr>
          <p:cNvSpPr>
            <a:spLocks xmlns:a="http://schemas.openxmlformats.org/drawingml/2006/main" noGrp="1"/>
          </p:cNvSpPr>
          <p:nvPr/>
        </p:nvSpPr>
        <p:spPr>
          <a:xfrm xmlns:a="http://schemas.openxmlformats.org/drawingml/2006/main">
            <a:off x="4248150" y="2895600"/>
            <a:ext cx="3143250" cy="1905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3CA11B-7E20-42DF-8147-C252BECF8308}"/>
              </a:ext>
            </a:extLst>
          </p:cNvPr>
          <p:cNvSpPr>
            <a:spLocks xmlns:a="http://schemas.openxmlformats.org/drawingml/2006/main" noGrp="1"/>
          </p:cNvSpPr>
          <p:nvPr/>
        </p:nvSpPr>
        <p:spPr>
          <a:xfrm xmlns:a="http://schemas.openxmlformats.org/drawingml/2006/main">
            <a:off x="4248150" y="31813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Dataset comparison supports MPW, slot, platform and process-variation discussions.</a:t>
            </a:r>
          </a:p>
        </p:txBody>
      </p:sp>
      <p:sp>
        <p:nvSpPr>
          <p:cNvPr id="18" name="">
            <a:extLst xmlns:a="http://schemas.openxmlformats.org/drawingml/2006/main">
              <a:ext uri="{FF2B5EF4-FFF2-40B4-BE49-F238E27FC236}">
                <a16:creationId xmlns:a16="http://schemas.microsoft.com/office/drawing/2014/main" id="{5531B684-7AA0-4B89-91CB-92FBD8848E6E}"/>
              </a:ext>
            </a:extLst>
          </p:cNvPr>
          <p:cNvSpPr>
            <a:spLocks xmlns:a="http://schemas.openxmlformats.org/drawingml/2006/main" noGrp="1"/>
          </p:cNvSpPr>
          <p:nvPr/>
        </p:nvSpPr>
        <p:spPr>
          <a:xfrm xmlns:a="http://schemas.openxmlformats.org/drawingml/2006/main">
            <a:off x="7962900" y="20955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38258A"/>
                </a:solidFill>
                <a:latin typeface="Arial"/>
                <a:ea typeface="Arial"/>
                <a:cs typeface="Arial"/>
              </a:defRPr>
            </a:pPr>
            <a:r>
              <a:rPr sz="1875" b="1">
                <a:solidFill>
                  <a:srgbClr val="38258A"/>
                </a:solidFill>
                <a:latin typeface="Arial"/>
                <a:ea typeface="Arial"/>
                <a:cs typeface="Arial"/>
              </a:rPr>
              <a:t>Traceable assumptions</a:t>
            </a:r>
          </a:p>
        </p:txBody>
      </p:sp>
      <p:sp>
        <p:nvSpPr>
          <p:cNvPr id="19" name="">
            <a:extLst xmlns:a="http://schemas.openxmlformats.org/drawingml/2006/main">
              <a:ext uri="{FF2B5EF4-FFF2-40B4-BE49-F238E27FC236}">
                <a16:creationId xmlns:a16="http://schemas.microsoft.com/office/drawing/2014/main" id="{49186640-F352-43AA-97E2-1618586B170E}"/>
              </a:ext>
            </a:extLst>
          </p:cNvPr>
          <p:cNvSpPr>
            <a:spLocks xmlns:a="http://schemas.openxmlformats.org/drawingml/2006/main" noGrp="1"/>
          </p:cNvSpPr>
          <p:nvPr/>
        </p:nvSpPr>
        <p:spPr>
          <a:xfrm xmlns:a="http://schemas.openxmlformats.org/drawingml/2006/main">
            <a:off x="7962900" y="2895600"/>
            <a:ext cx="3143250" cy="1905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57C2607-9512-4E7D-8E35-65F54ACD6F6B}"/>
              </a:ext>
            </a:extLst>
          </p:cNvPr>
          <p:cNvSpPr>
            <a:spLocks xmlns:a="http://schemas.openxmlformats.org/drawingml/2006/main" noGrp="1"/>
          </p:cNvSpPr>
          <p:nvPr/>
        </p:nvSpPr>
        <p:spPr>
          <a:xfrm xmlns:a="http://schemas.openxmlformats.org/drawingml/2006/main">
            <a:off x="7962900" y="31813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Target wavelength, fit window, waveguide lengths and quality thresholds remain visible.</a:t>
            </a:r>
          </a:p>
        </p:txBody>
      </p:sp>
      <p:sp>
        <p:nvSpPr>
          <p:cNvPr id="21" name="">
            <a:extLst xmlns:a="http://schemas.openxmlformats.org/drawingml/2006/main">
              <a:ext uri="{FF2B5EF4-FFF2-40B4-BE49-F238E27FC236}">
                <a16:creationId xmlns:a16="http://schemas.microsoft.com/office/drawing/2014/main" id="{B428E703-EBF4-4993-9A9D-E0D0A5A5AA74}"/>
              </a:ext>
            </a:extLst>
          </p:cNvPr>
          <p:cNvSpPr>
            <a:spLocks xmlns:a="http://schemas.openxmlformats.org/drawingml/2006/main" noGrp="1"/>
          </p:cNvSpPr>
          <p:nvPr/>
        </p:nvSpPr>
        <p:spPr>
          <a:xfrm xmlns:a="http://schemas.openxmlformats.org/drawingml/2006/main">
            <a:off x="1257300" y="5334000"/>
            <a:ext cx="9677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950" b="1">
                <a:solidFill>
                  <a:srgbClr val="111A3B"/>
                </a:solidFill>
                <a:latin typeface="Arial"/>
                <a:ea typeface="Arial"/>
                <a:cs typeface="Arial"/>
              </a:defRPr>
            </a:pPr>
            <a:r>
              <a:rPr sz="1950" b="1">
                <a:solidFill>
                  <a:srgbClr val="111A3B"/>
                </a:solidFill>
                <a:latin typeface="Arial"/>
                <a:ea typeface="Arial"/>
                <a:cs typeface="Arial"/>
              </a:rPr>
              <a:t>This shortens the path from measured performance to design-rule, model, and component-library discussions.</a:t>
            </a:r>
          </a:p>
        </p:txBody>
      </p:sp>
    </p:spTree>
    <p:extLst>
      <p:ext uri="{BB962C8B-B14F-4D97-AF65-F5344CB8AC3E}">
        <p14:creationId xmlns:p14="http://schemas.microsoft.com/office/powerpoint/2010/main" val="149084902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DD40C9C-0425-4B2F-8399-6980AABA2603}"/>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601999-8687-4CA7-968A-501286B05C29}"/>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FC3A68E-A760-42C7-B4A0-2FF05EFA6F3E}"/>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012B59-D721-4FA2-9D6A-80DE2FA642A6}"/>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CD7ADE-E752-45A1-BDF9-2B40AE0C6D1E}"/>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64CBC1E-1CE1-4229-A162-F1238C20E8E2}"/>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EA6ED8-CB1F-423A-9CC5-35B3B7576E40}"/>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TEAM VALUE</a:t>
            </a:r>
          </a:p>
        </p:txBody>
      </p:sp>
      <p:sp>
        <p:nvSpPr>
          <p:cNvPr id="8" name="">
            <a:extLst xmlns:a="http://schemas.openxmlformats.org/drawingml/2006/main">
              <a:ext uri="{FF2B5EF4-FFF2-40B4-BE49-F238E27FC236}">
                <a16:creationId xmlns:a16="http://schemas.microsoft.com/office/drawing/2014/main" id="{3E865AFD-0C53-44A5-B79E-EAC65A8F000D}"/>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801"/>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For the cleanroom team, metrology can be reviewed beside optical performance</a:t>
            </a:r>
          </a:p>
        </p:txBody>
      </p:sp>
      <p:sp>
        <p:nvSpPr>
          <p:cNvPr id="9" name="">
            <a:extLst xmlns:a="http://schemas.openxmlformats.org/drawingml/2006/main">
              <a:ext uri="{FF2B5EF4-FFF2-40B4-BE49-F238E27FC236}">
                <a16:creationId xmlns:a16="http://schemas.microsoft.com/office/drawing/2014/main" id="{877B98D4-1BC0-4E87-9F62-EB4DDA1FA5FA}"/>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21568B-8388-4820-999C-3D4AF4CD7381}"/>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E496331B-B1B9-4E46-AC0C-D553C9594C7F}"/>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12</a:t>
            </a:r>
          </a:p>
        </p:txBody>
      </p:sp>
      <p:sp>
        <p:nvSpPr>
          <p:cNvPr id="12" name="">
            <a:extLst xmlns:a="http://schemas.openxmlformats.org/drawingml/2006/main">
              <a:ext uri="{FF2B5EF4-FFF2-40B4-BE49-F238E27FC236}">
                <a16:creationId xmlns:a16="http://schemas.microsoft.com/office/drawing/2014/main" id="{092677D9-77C1-4D03-9055-A694C1CB97D8}"/>
              </a:ext>
            </a:extLst>
          </p:cNvPr>
          <p:cNvSpPr>
            <a:spLocks xmlns:a="http://schemas.openxmlformats.org/drawingml/2006/main" noGrp="1"/>
          </p:cNvSpPr>
          <p:nvPr/>
        </p:nvSpPr>
        <p:spPr>
          <a:xfrm xmlns:a="http://schemas.openxmlformats.org/drawingml/2006/main">
            <a:off x="533400" y="200025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38258A"/>
                </a:solidFill>
                <a:latin typeface="Arial"/>
                <a:ea typeface="Arial"/>
                <a:cs typeface="Arial"/>
              </a:defRPr>
            </a:pPr>
            <a:r>
              <a:rPr sz="1950" b="1">
                <a:solidFill>
                  <a:srgbClr val="38258A"/>
                </a:solidFill>
                <a:latin typeface="Arial"/>
                <a:ea typeface="Arial"/>
                <a:cs typeface="Arial"/>
              </a:rPr>
              <a:t>CD-SEM coordinate import</a:t>
            </a:r>
          </a:p>
        </p:txBody>
      </p:sp>
      <p:sp>
        <p:nvSpPr>
          <p:cNvPr id="13" name="">
            <a:extLst xmlns:a="http://schemas.openxmlformats.org/drawingml/2006/main">
              <a:ext uri="{FF2B5EF4-FFF2-40B4-BE49-F238E27FC236}">
                <a16:creationId xmlns:a16="http://schemas.microsoft.com/office/drawing/2014/main" id="{F1DF1F6F-61CD-4497-B71E-D39C1084BDBE}"/>
              </a:ext>
            </a:extLst>
          </p:cNvPr>
          <p:cNvSpPr>
            <a:spLocks xmlns:a="http://schemas.openxmlformats.org/drawingml/2006/main" noGrp="1"/>
          </p:cNvSpPr>
          <p:nvPr/>
        </p:nvSpPr>
        <p:spPr>
          <a:xfrm xmlns:a="http://schemas.openxmlformats.org/drawingml/2006/main">
            <a:off x="533400" y="2571750"/>
            <a:ext cx="4572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151A2F"/>
                </a:solidFill>
                <a:latin typeface="Arial"/>
                <a:ea typeface="Arial"/>
                <a:cs typeface="Arial"/>
              </a:defRPr>
            </a:pPr>
            <a:r>
              <a:rPr sz="1650" b="0">
                <a:solidFill>
                  <a:srgbClr val="151A2F"/>
                </a:solidFill>
                <a:latin typeface="Arial"/>
                <a:ea typeface="Arial"/>
                <a:cs typeface="Arial"/>
              </a:rPr>
              <a:t>Coordinate-based cleanroom measurements can be mapped to the same wafer template used for propagation-loss chips.</a:t>
            </a:r>
          </a:p>
        </p:txBody>
      </p:sp>
      <p:sp>
        <p:nvSpPr>
          <p:cNvPr id="14" name="">
            <a:extLst xmlns:a="http://schemas.openxmlformats.org/drawingml/2006/main">
              <a:ext uri="{FF2B5EF4-FFF2-40B4-BE49-F238E27FC236}">
                <a16:creationId xmlns:a16="http://schemas.microsoft.com/office/drawing/2014/main" id="{124B736A-D3F5-4559-BDA4-96888A4145FB}"/>
              </a:ext>
            </a:extLst>
          </p:cNvPr>
          <p:cNvSpPr>
            <a:spLocks xmlns:a="http://schemas.openxmlformats.org/drawingml/2006/main" noGrp="1"/>
          </p:cNvSpPr>
          <p:nvPr/>
        </p:nvSpPr>
        <p:spPr>
          <a:xfrm xmlns:a="http://schemas.openxmlformats.org/drawingml/2006/main">
            <a:off x="5810250" y="1809750"/>
            <a:ext cx="9525" cy="3619500"/>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5D78280-DBC3-4358-A433-4CE53715C9AD}"/>
              </a:ext>
            </a:extLst>
          </p:cNvPr>
          <p:cNvSpPr>
            <a:spLocks xmlns:a="http://schemas.openxmlformats.org/drawingml/2006/main" noGrp="1"/>
          </p:cNvSpPr>
          <p:nvPr/>
        </p:nvSpPr>
        <p:spPr>
          <a:xfrm xmlns:a="http://schemas.openxmlformats.org/drawingml/2006/main">
            <a:off x="634365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38258A"/>
                </a:solidFill>
                <a:latin typeface="Arial"/>
                <a:ea typeface="Arial"/>
                <a:cs typeface="Arial"/>
              </a:defRPr>
            </a:pPr>
            <a:r>
              <a:rPr sz="1950" b="1">
                <a:solidFill>
                  <a:srgbClr val="38258A"/>
                </a:solidFill>
                <a:latin typeface="Arial"/>
                <a:ea typeface="Arial"/>
                <a:cs typeface="Arial"/>
              </a:rPr>
              <a:t>Joint review questions</a:t>
            </a:r>
          </a:p>
        </p:txBody>
      </p:sp>
      <p:sp>
        <p:nvSpPr>
          <p:cNvPr id="16" name="">
            <a:extLst xmlns:a="http://schemas.openxmlformats.org/drawingml/2006/main">
              <a:ext uri="{FF2B5EF4-FFF2-40B4-BE49-F238E27FC236}">
                <a16:creationId xmlns:a16="http://schemas.microsoft.com/office/drawing/2014/main" id="{A79031C9-02EE-4A11-A4A7-4F08CF22E64E}"/>
              </a:ext>
            </a:extLst>
          </p:cNvPr>
          <p:cNvSpPr>
            <a:spLocks xmlns:a="http://schemas.openxmlformats.org/drawingml/2006/main" noGrp="1"/>
          </p:cNvSpPr>
          <p:nvPr/>
        </p:nvSpPr>
        <p:spPr>
          <a:xfrm xmlns:a="http://schemas.openxmlformats.org/drawingml/2006/main">
            <a:off x="6343650" y="26765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AC57816-BB4A-4BD3-BAC6-94D6370C6864}"/>
              </a:ext>
            </a:extLst>
          </p:cNvPr>
          <p:cNvSpPr>
            <a:spLocks xmlns:a="http://schemas.openxmlformats.org/drawingml/2006/main" noGrp="1"/>
          </p:cNvSpPr>
          <p:nvPr/>
        </p:nvSpPr>
        <p:spPr>
          <a:xfrm xmlns:a="http://schemas.openxmlformats.org/drawingml/2006/main">
            <a:off x="6572250" y="2609850"/>
            <a:ext cx="4533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Do CD changes align with optical-loss variation?</a:t>
            </a:r>
          </a:p>
        </p:txBody>
      </p:sp>
      <p:sp>
        <p:nvSpPr>
          <p:cNvPr id="18" name="">
            <a:extLst xmlns:a="http://schemas.openxmlformats.org/drawingml/2006/main">
              <a:ext uri="{FF2B5EF4-FFF2-40B4-BE49-F238E27FC236}">
                <a16:creationId xmlns:a16="http://schemas.microsoft.com/office/drawing/2014/main" id="{3152FEA9-4B8B-4059-A014-9029C18A0270}"/>
              </a:ext>
            </a:extLst>
          </p:cNvPr>
          <p:cNvSpPr>
            <a:spLocks xmlns:a="http://schemas.openxmlformats.org/drawingml/2006/main" noGrp="1"/>
          </p:cNvSpPr>
          <p:nvPr/>
        </p:nvSpPr>
        <p:spPr>
          <a:xfrm xmlns:a="http://schemas.openxmlformats.org/drawingml/2006/main">
            <a:off x="6343650" y="34575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B3303B9-869C-4546-AFAA-9AA507E2830A}"/>
              </a:ext>
            </a:extLst>
          </p:cNvPr>
          <p:cNvSpPr>
            <a:spLocks xmlns:a="http://schemas.openxmlformats.org/drawingml/2006/main" noGrp="1"/>
          </p:cNvSpPr>
          <p:nvPr/>
        </p:nvSpPr>
        <p:spPr>
          <a:xfrm xmlns:a="http://schemas.openxmlformats.org/drawingml/2006/main">
            <a:off x="6572250" y="3390900"/>
            <a:ext cx="4533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Are edge, centre or row/column patterns visible?</a:t>
            </a:r>
          </a:p>
        </p:txBody>
      </p:sp>
      <p:sp>
        <p:nvSpPr>
          <p:cNvPr id="20" name="">
            <a:extLst xmlns:a="http://schemas.openxmlformats.org/drawingml/2006/main">
              <a:ext uri="{FF2B5EF4-FFF2-40B4-BE49-F238E27FC236}">
                <a16:creationId xmlns:a16="http://schemas.microsoft.com/office/drawing/2014/main" id="{26E48E40-B6A4-474B-8A67-D0C769C0D2F5}"/>
              </a:ext>
            </a:extLst>
          </p:cNvPr>
          <p:cNvSpPr>
            <a:spLocks xmlns:a="http://schemas.openxmlformats.org/drawingml/2006/main" noGrp="1"/>
          </p:cNvSpPr>
          <p:nvPr/>
        </p:nvSpPr>
        <p:spPr>
          <a:xfrm xmlns:a="http://schemas.openxmlformats.org/drawingml/2006/main">
            <a:off x="6343650" y="42386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C2BC37-FB24-4EB3-9D4B-6AECFDBC1C5F}"/>
              </a:ext>
            </a:extLst>
          </p:cNvPr>
          <p:cNvSpPr>
            <a:spLocks xmlns:a="http://schemas.openxmlformats.org/drawingml/2006/main" noGrp="1"/>
          </p:cNvSpPr>
          <p:nvPr/>
        </p:nvSpPr>
        <p:spPr>
          <a:xfrm xmlns:a="http://schemas.openxmlformats.org/drawingml/2006/main">
            <a:off x="6572250" y="4171950"/>
            <a:ext cx="4533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151A2F"/>
                </a:solidFill>
                <a:latin typeface="Arial"/>
                <a:ea typeface="Arial"/>
                <a:cs typeface="Arial"/>
              </a:defRPr>
            </a:pPr>
            <a:r>
              <a:rPr sz="1575" b="0">
                <a:solidFill>
                  <a:srgbClr val="151A2F"/>
                </a:solidFill>
                <a:latin typeface="Arial"/>
                <a:ea typeface="Arial"/>
                <a:cs typeface="Arial"/>
              </a:rPr>
              <a:t>Which wafers or die should receive deeper review?</a:t>
            </a:r>
          </a:p>
        </p:txBody>
      </p:sp>
      <p:sp>
        <p:nvSpPr>
          <p:cNvPr id="22" name="">
            <a:extLst xmlns:a="http://schemas.openxmlformats.org/drawingml/2006/main">
              <a:ext uri="{FF2B5EF4-FFF2-40B4-BE49-F238E27FC236}">
                <a16:creationId xmlns:a16="http://schemas.microsoft.com/office/drawing/2014/main" id="{C4792BCA-50A5-4B97-9EC6-E5481E5208A6}"/>
              </a:ext>
            </a:extLst>
          </p:cNvPr>
          <p:cNvSpPr>
            <a:spLocks xmlns:a="http://schemas.openxmlformats.org/drawingml/2006/main" noGrp="1"/>
          </p:cNvSpPr>
          <p:nvPr/>
        </p:nvSpPr>
        <p:spPr>
          <a:xfrm xmlns:a="http://schemas.openxmlformats.org/drawingml/2006/main">
            <a:off x="1428750" y="5619750"/>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270"/>
          </a:bodyPr>
          <a:lstStyle xmlns:a="http://schemas.openxmlformats.org/drawingml/2006/main"/>
          <a:p xmlns:a="http://schemas.openxmlformats.org/drawingml/2006/main">
            <a:pPr algn="ctr">
              <a:buNone/>
              <a:defRPr sz="1575" b="1">
                <a:solidFill>
                  <a:srgbClr val="A66B00"/>
                </a:solidFill>
                <a:latin typeface="Arial"/>
                <a:ea typeface="Arial"/>
                <a:cs typeface="Arial"/>
              </a:defRPr>
            </a:pPr>
            <a:r>
              <a:rPr sz="1575" b="1">
                <a:solidFill>
                  <a:srgbClr val="A66B00"/>
                </a:solidFill>
                <a:latin typeface="Arial"/>
                <a:ea typeface="Arial"/>
                <a:cs typeface="Arial"/>
              </a:rPr>
              <a:t>The tool supports correlation and prioritisation; process conclusions still require engineering review and appropriate sample size.</a:t>
            </a:r>
          </a:p>
        </p:txBody>
      </p:sp>
    </p:spTree>
    <p:extLst>
      <p:ext uri="{BB962C8B-B14F-4D97-AF65-F5344CB8AC3E}">
        <p14:creationId xmlns:p14="http://schemas.microsoft.com/office/powerpoint/2010/main" val="100273090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B03BB7E-EAF5-447E-8107-8669CCD60127}"/>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175501-E633-4D15-A47D-084EB595F890}"/>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B61C963-E5F1-4305-9A6C-342A3882A16C}"/>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C3851E3-2883-41E3-B2B0-760D1D0C1DD5}"/>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F57496D-72A3-4B51-85EE-B5B6E92030C0}"/>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4899D42-BCFB-493F-9A7B-2762885D46B7}"/>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04BC62-2371-4512-919E-3DF351E1906F}"/>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DEVELOPMENT TIMELINE</a:t>
            </a:r>
          </a:p>
        </p:txBody>
      </p:sp>
      <p:sp>
        <p:nvSpPr>
          <p:cNvPr id="8" name="">
            <a:extLst xmlns:a="http://schemas.openxmlformats.org/drawingml/2006/main">
              <a:ext uri="{FF2B5EF4-FFF2-40B4-BE49-F238E27FC236}">
                <a16:creationId xmlns:a16="http://schemas.microsoft.com/office/drawing/2014/main" id="{646F5787-2441-4568-8D84-9DF41064F835}"/>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The suite moved from idea to published v0.4.0 in eight weeks</a:t>
            </a:r>
          </a:p>
        </p:txBody>
      </p:sp>
      <p:sp>
        <p:nvSpPr>
          <p:cNvPr id="9" name="">
            <a:extLst xmlns:a="http://schemas.openxmlformats.org/drawingml/2006/main">
              <a:ext uri="{FF2B5EF4-FFF2-40B4-BE49-F238E27FC236}">
                <a16:creationId xmlns:a16="http://schemas.microsoft.com/office/drawing/2014/main" id="{F3A40A6D-375A-457C-87CD-E6CB9868AEDE}"/>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4EBD2C-DBC3-426B-9CED-B41F254E8CE6}"/>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B8813266-0909-441B-9185-E65789AD8534}"/>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13</a:t>
            </a:r>
          </a:p>
        </p:txBody>
      </p:sp>
      <p:sp>
        <p:nvSpPr>
          <p:cNvPr id="12" name="">
            <a:extLst xmlns:a="http://schemas.openxmlformats.org/drawingml/2006/main">
              <a:ext uri="{FF2B5EF4-FFF2-40B4-BE49-F238E27FC236}">
                <a16:creationId xmlns:a16="http://schemas.microsoft.com/office/drawing/2014/main" id="{72A59887-81F3-4BA6-BEA2-072EF9BF27B7}"/>
              </a:ext>
            </a:extLst>
          </p:cNvPr>
          <p:cNvSpPr>
            <a:spLocks xmlns:a="http://schemas.openxmlformats.org/drawingml/2006/main" noGrp="1"/>
          </p:cNvSpPr>
          <p:nvPr/>
        </p:nvSpPr>
        <p:spPr>
          <a:xfrm xmlns:a="http://schemas.openxmlformats.org/drawingml/2006/main">
            <a:off x="819150" y="3333750"/>
            <a:ext cx="10553700" cy="2857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4B4EA67-AF6B-47D8-A431-CF513950AA6E}"/>
              </a:ext>
            </a:extLst>
          </p:cNvPr>
          <p:cNvSpPr>
            <a:spLocks xmlns:a="http://schemas.openxmlformats.org/drawingml/2006/main" noGrp="1"/>
          </p:cNvSpPr>
          <p:nvPr/>
        </p:nvSpPr>
        <p:spPr>
          <a:xfrm xmlns:a="http://schemas.openxmlformats.org/drawingml/2006/main">
            <a:off x="819150" y="3238500"/>
            <a:ext cx="209550" cy="209550"/>
          </a:xfrm>
          <a:prstGeom xmlns:a="http://schemas.openxmlformats.org/drawingml/2006/main" prst="roundRect">
            <a:avLst>
              <a:gd name="adj" fmla="val 50000"/>
            </a:avLst>
          </a:prstGeom>
          <a:solidFill xmlns:a="http://schemas.openxmlformats.org/drawingml/2006/main">
            <a:srgbClr val="111A3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FBCD4EE-CC48-4906-B10F-8A6577DA3740}"/>
              </a:ext>
            </a:extLst>
          </p:cNvPr>
          <p:cNvSpPr>
            <a:spLocks xmlns:a="http://schemas.openxmlformats.org/drawingml/2006/main" noGrp="1"/>
          </p:cNvSpPr>
          <p:nvPr/>
        </p:nvSpPr>
        <p:spPr>
          <a:xfrm xmlns:a="http://schemas.openxmlformats.org/drawingml/2006/main">
            <a:off x="704850" y="17145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25 JUN</a:t>
            </a:r>
          </a:p>
        </p:txBody>
      </p:sp>
      <p:sp>
        <p:nvSpPr>
          <p:cNvPr id="15" name="">
            <a:extLst xmlns:a="http://schemas.openxmlformats.org/drawingml/2006/main">
              <a:ext uri="{FF2B5EF4-FFF2-40B4-BE49-F238E27FC236}">
                <a16:creationId xmlns:a16="http://schemas.microsoft.com/office/drawing/2014/main" id="{20932A55-3E94-4FAE-89BB-03C5F419289D}"/>
              </a:ext>
            </a:extLst>
          </p:cNvPr>
          <p:cNvSpPr>
            <a:spLocks xmlns:a="http://schemas.openxmlformats.org/drawingml/2006/main" noGrp="1"/>
          </p:cNvSpPr>
          <p:nvPr/>
        </p:nvSpPr>
        <p:spPr>
          <a:xfrm xmlns:a="http://schemas.openxmlformats.org/drawingml/2006/main">
            <a:off x="704850" y="20383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Idea and repository</a:t>
            </a:r>
          </a:p>
        </p:txBody>
      </p:sp>
      <p:sp>
        <p:nvSpPr>
          <p:cNvPr id="16" name="">
            <a:extLst xmlns:a="http://schemas.openxmlformats.org/drawingml/2006/main">
              <a:ext uri="{FF2B5EF4-FFF2-40B4-BE49-F238E27FC236}">
                <a16:creationId xmlns:a16="http://schemas.microsoft.com/office/drawing/2014/main" id="{2C442CAD-9F76-4C03-B3C6-EA267EDC1382}"/>
              </a:ext>
            </a:extLst>
          </p:cNvPr>
          <p:cNvSpPr>
            <a:spLocks xmlns:a="http://schemas.openxmlformats.org/drawingml/2006/main" noGrp="1"/>
          </p:cNvSpPr>
          <p:nvPr/>
        </p:nvSpPr>
        <p:spPr>
          <a:xfrm xmlns:a="http://schemas.openxmlformats.org/drawingml/2006/main">
            <a:off x="704850" y="26670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Initial structure and connection test</a:t>
            </a:r>
          </a:p>
        </p:txBody>
      </p:sp>
      <p:sp>
        <p:nvSpPr>
          <p:cNvPr id="17" name="">
            <a:extLst xmlns:a="http://schemas.openxmlformats.org/drawingml/2006/main">
              <a:ext uri="{FF2B5EF4-FFF2-40B4-BE49-F238E27FC236}">
                <a16:creationId xmlns:a16="http://schemas.microsoft.com/office/drawing/2014/main" id="{BBCE2A92-27B8-42FA-BC99-7287CAA6ED21}"/>
              </a:ext>
            </a:extLst>
          </p:cNvPr>
          <p:cNvSpPr>
            <a:spLocks xmlns:a="http://schemas.openxmlformats.org/drawingml/2006/main" noGrp="1"/>
          </p:cNvSpPr>
          <p:nvPr/>
        </p:nvSpPr>
        <p:spPr>
          <a:xfrm xmlns:a="http://schemas.openxmlformats.org/drawingml/2006/main">
            <a:off x="2762250" y="3238500"/>
            <a:ext cx="209550" cy="209550"/>
          </a:xfrm>
          <a:prstGeom xmlns:a="http://schemas.openxmlformats.org/drawingml/2006/main" prst="roundRect">
            <a:avLst>
              <a:gd name="adj" fmla="val 50000"/>
            </a:avLst>
          </a:prstGeom>
          <a:solidFill xmlns:a="http://schemas.openxmlformats.org/drawingml/2006/main">
            <a:srgbClr val="111A3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F31421D-915C-4707-B841-4EE6C4EF66E2}"/>
              </a:ext>
            </a:extLst>
          </p:cNvPr>
          <p:cNvSpPr>
            <a:spLocks xmlns:a="http://schemas.openxmlformats.org/drawingml/2006/main" noGrp="1"/>
          </p:cNvSpPr>
          <p:nvPr/>
        </p:nvSpPr>
        <p:spPr>
          <a:xfrm xmlns:a="http://schemas.openxmlformats.org/drawingml/2006/main">
            <a:off x="2647950" y="3733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26–30 JUN</a:t>
            </a:r>
          </a:p>
        </p:txBody>
      </p:sp>
      <p:sp>
        <p:nvSpPr>
          <p:cNvPr id="19" name="">
            <a:extLst xmlns:a="http://schemas.openxmlformats.org/drawingml/2006/main">
              <a:ext uri="{FF2B5EF4-FFF2-40B4-BE49-F238E27FC236}">
                <a16:creationId xmlns:a16="http://schemas.microsoft.com/office/drawing/2014/main" id="{7BEEA24C-915B-4DFC-B085-AD1AD92B75C4}"/>
              </a:ext>
            </a:extLst>
          </p:cNvPr>
          <p:cNvSpPr>
            <a:spLocks xmlns:a="http://schemas.openxmlformats.org/drawingml/2006/main" noGrp="1"/>
          </p:cNvSpPr>
          <p:nvPr/>
        </p:nvSpPr>
        <p:spPr>
          <a:xfrm xmlns:a="http://schemas.openxmlformats.org/drawingml/2006/main">
            <a:off x="2647950" y="40576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Core web workflow</a:t>
            </a:r>
          </a:p>
        </p:txBody>
      </p:sp>
      <p:sp>
        <p:nvSpPr>
          <p:cNvPr id="20" name="">
            <a:extLst xmlns:a="http://schemas.openxmlformats.org/drawingml/2006/main">
              <a:ext uri="{FF2B5EF4-FFF2-40B4-BE49-F238E27FC236}">
                <a16:creationId xmlns:a16="http://schemas.microsoft.com/office/drawing/2014/main" id="{B6430F2D-1266-4199-A422-9C3F96512995}"/>
              </a:ext>
            </a:extLst>
          </p:cNvPr>
          <p:cNvSpPr>
            <a:spLocks xmlns:a="http://schemas.openxmlformats.org/drawingml/2006/main" noGrp="1"/>
          </p:cNvSpPr>
          <p:nvPr/>
        </p:nvSpPr>
        <p:spPr>
          <a:xfrm xmlns:a="http://schemas.openxmlformats.org/drawingml/2006/main">
            <a:off x="2647950" y="46863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Pages deployment, WST loading, wafermap and interactive charts</a:t>
            </a:r>
          </a:p>
        </p:txBody>
      </p:sp>
      <p:sp>
        <p:nvSpPr>
          <p:cNvPr id="21" name="">
            <a:extLst xmlns:a="http://schemas.openxmlformats.org/drawingml/2006/main">
              <a:ext uri="{FF2B5EF4-FFF2-40B4-BE49-F238E27FC236}">
                <a16:creationId xmlns:a16="http://schemas.microsoft.com/office/drawing/2014/main" id="{23C3500F-1BD5-4382-8A2F-89F0A0C0E996}"/>
              </a:ext>
            </a:extLst>
          </p:cNvPr>
          <p:cNvSpPr>
            <a:spLocks xmlns:a="http://schemas.openxmlformats.org/drawingml/2006/main" noGrp="1"/>
          </p:cNvSpPr>
          <p:nvPr/>
        </p:nvSpPr>
        <p:spPr>
          <a:xfrm xmlns:a="http://schemas.openxmlformats.org/drawingml/2006/main">
            <a:off x="4705350" y="3238500"/>
            <a:ext cx="209550" cy="209550"/>
          </a:xfrm>
          <a:prstGeom xmlns:a="http://schemas.openxmlformats.org/drawingml/2006/main" prst="roundRect">
            <a:avLst>
              <a:gd name="adj" fmla="val 50000"/>
            </a:avLst>
          </a:prstGeom>
          <a:solidFill xmlns:a="http://schemas.openxmlformats.org/drawingml/2006/main">
            <a:srgbClr val="111A3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E3916B5-4564-47C6-9A5D-A33C9E51DF9B}"/>
              </a:ext>
            </a:extLst>
          </p:cNvPr>
          <p:cNvSpPr>
            <a:spLocks xmlns:a="http://schemas.openxmlformats.org/drawingml/2006/main" noGrp="1"/>
          </p:cNvSpPr>
          <p:nvPr/>
        </p:nvSpPr>
        <p:spPr>
          <a:xfrm xmlns:a="http://schemas.openxmlformats.org/drawingml/2006/main">
            <a:off x="4591050" y="17145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06–29 JUL</a:t>
            </a:r>
          </a:p>
        </p:txBody>
      </p:sp>
      <p:sp>
        <p:nvSpPr>
          <p:cNvPr id="23" name="">
            <a:extLst xmlns:a="http://schemas.openxmlformats.org/drawingml/2006/main">
              <a:ext uri="{FF2B5EF4-FFF2-40B4-BE49-F238E27FC236}">
                <a16:creationId xmlns:a16="http://schemas.microsoft.com/office/drawing/2014/main" id="{681EED92-9EEA-465A-9178-672AE06979FB}"/>
              </a:ext>
            </a:extLst>
          </p:cNvPr>
          <p:cNvSpPr>
            <a:spLocks xmlns:a="http://schemas.openxmlformats.org/drawingml/2006/main" noGrp="1"/>
          </p:cNvSpPr>
          <p:nvPr/>
        </p:nvSpPr>
        <p:spPr>
          <a:xfrm xmlns:a="http://schemas.openxmlformats.org/drawingml/2006/main">
            <a:off x="4591050" y="20383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Library expansion</a:t>
            </a:r>
          </a:p>
        </p:txBody>
      </p:sp>
      <p:sp>
        <p:nvSpPr>
          <p:cNvPr id="24" name="">
            <a:extLst xmlns:a="http://schemas.openxmlformats.org/drawingml/2006/main">
              <a:ext uri="{FF2B5EF4-FFF2-40B4-BE49-F238E27FC236}">
                <a16:creationId xmlns:a16="http://schemas.microsoft.com/office/drawing/2014/main" id="{2EF9DDDB-F938-4D46-8121-C86FA3226352}"/>
              </a:ext>
            </a:extLst>
          </p:cNvPr>
          <p:cNvSpPr>
            <a:spLocks xmlns:a="http://schemas.openxmlformats.org/drawingml/2006/main" noGrp="1"/>
          </p:cNvSpPr>
          <p:nvPr/>
        </p:nvSpPr>
        <p:spPr>
          <a:xfrm xmlns:a="http://schemas.openxmlformats.org/drawingml/2006/main">
            <a:off x="4591050" y="26670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Comparison, conversion and spectrum analysis</a:t>
            </a:r>
          </a:p>
        </p:txBody>
      </p:sp>
      <p:sp>
        <p:nvSpPr>
          <p:cNvPr id="25" name="">
            <a:extLst xmlns:a="http://schemas.openxmlformats.org/drawingml/2006/main">
              <a:ext uri="{FF2B5EF4-FFF2-40B4-BE49-F238E27FC236}">
                <a16:creationId xmlns:a16="http://schemas.microsoft.com/office/drawing/2014/main" id="{AD80D96F-9549-49E3-BD43-100D039B0DDF}"/>
              </a:ext>
            </a:extLst>
          </p:cNvPr>
          <p:cNvSpPr>
            <a:spLocks xmlns:a="http://schemas.openxmlformats.org/drawingml/2006/main" noGrp="1"/>
          </p:cNvSpPr>
          <p:nvPr/>
        </p:nvSpPr>
        <p:spPr>
          <a:xfrm xmlns:a="http://schemas.openxmlformats.org/drawingml/2006/main">
            <a:off x="6648450" y="3238500"/>
            <a:ext cx="209550" cy="209550"/>
          </a:xfrm>
          <a:prstGeom xmlns:a="http://schemas.openxmlformats.org/drawingml/2006/main" prst="roundRect">
            <a:avLst>
              <a:gd name="adj" fmla="val 50000"/>
            </a:avLst>
          </a:prstGeom>
          <a:solidFill xmlns:a="http://schemas.openxmlformats.org/drawingml/2006/main">
            <a:srgbClr val="111A3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4E627D0-628D-4F5E-B604-4A278A27D734}"/>
              </a:ext>
            </a:extLst>
          </p:cNvPr>
          <p:cNvSpPr>
            <a:spLocks xmlns:a="http://schemas.openxmlformats.org/drawingml/2006/main" noGrp="1"/>
          </p:cNvSpPr>
          <p:nvPr/>
        </p:nvSpPr>
        <p:spPr>
          <a:xfrm xmlns:a="http://schemas.openxmlformats.org/drawingml/2006/main">
            <a:off x="6534150" y="3733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11–17 AUG</a:t>
            </a:r>
          </a:p>
        </p:txBody>
      </p:sp>
      <p:sp>
        <p:nvSpPr>
          <p:cNvPr id="27" name="">
            <a:extLst xmlns:a="http://schemas.openxmlformats.org/drawingml/2006/main">
              <a:ext uri="{FF2B5EF4-FFF2-40B4-BE49-F238E27FC236}">
                <a16:creationId xmlns:a16="http://schemas.microsoft.com/office/drawing/2014/main" id="{D9CA4D34-257E-44AC-9A92-299E9903A644}"/>
              </a:ext>
            </a:extLst>
          </p:cNvPr>
          <p:cNvSpPr>
            <a:spLocks xmlns:a="http://schemas.openxmlformats.org/drawingml/2006/main" noGrp="1"/>
          </p:cNvSpPr>
          <p:nvPr/>
        </p:nvSpPr>
        <p:spPr>
          <a:xfrm xmlns:a="http://schemas.openxmlformats.org/drawingml/2006/main">
            <a:off x="6534150" y="40576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Data and analysis depth</a:t>
            </a:r>
          </a:p>
        </p:txBody>
      </p:sp>
      <p:sp>
        <p:nvSpPr>
          <p:cNvPr id="28" name="">
            <a:extLst xmlns:a="http://schemas.openxmlformats.org/drawingml/2006/main">
              <a:ext uri="{FF2B5EF4-FFF2-40B4-BE49-F238E27FC236}">
                <a16:creationId xmlns:a16="http://schemas.microsoft.com/office/drawing/2014/main" id="{3A7A98DA-91E7-4B5C-9CA8-F0AF91F6C7BA}"/>
              </a:ext>
            </a:extLst>
          </p:cNvPr>
          <p:cNvSpPr>
            <a:spLocks xmlns:a="http://schemas.openxmlformats.org/drawingml/2006/main" noGrp="1"/>
          </p:cNvSpPr>
          <p:nvPr/>
        </p:nvSpPr>
        <p:spPr>
          <a:xfrm xmlns:a="http://schemas.openxmlformats.org/drawingml/2006/main">
            <a:off x="6534150" y="46863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153"/>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Filename fixes, CD-SEM, dashboard and advanced spectrum controls</a:t>
            </a:r>
          </a:p>
        </p:txBody>
      </p:sp>
      <p:sp>
        <p:nvSpPr>
          <p:cNvPr id="29" name="">
            <a:extLst xmlns:a="http://schemas.openxmlformats.org/drawingml/2006/main">
              <a:ext uri="{FF2B5EF4-FFF2-40B4-BE49-F238E27FC236}">
                <a16:creationId xmlns:a16="http://schemas.microsoft.com/office/drawing/2014/main" id="{44BBDBFC-DF6E-4AAB-B864-3A5151DF6F0A}"/>
              </a:ext>
            </a:extLst>
          </p:cNvPr>
          <p:cNvSpPr>
            <a:spLocks xmlns:a="http://schemas.openxmlformats.org/drawingml/2006/main" noGrp="1"/>
          </p:cNvSpPr>
          <p:nvPr/>
        </p:nvSpPr>
        <p:spPr>
          <a:xfrm xmlns:a="http://schemas.openxmlformats.org/drawingml/2006/main">
            <a:off x="8591550" y="3238500"/>
            <a:ext cx="209550" cy="209550"/>
          </a:xfrm>
          <a:prstGeom xmlns:a="http://schemas.openxmlformats.org/drawingml/2006/main" prst="roundRect">
            <a:avLst>
              <a:gd name="adj" fmla="val 50000"/>
            </a:avLst>
          </a:prstGeom>
          <a:solidFill xmlns:a="http://schemas.openxmlformats.org/drawingml/2006/main">
            <a:srgbClr val="111A3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9BCE38B-9E61-47CE-8DD6-9178D2687C8A}"/>
              </a:ext>
            </a:extLst>
          </p:cNvPr>
          <p:cNvSpPr>
            <a:spLocks xmlns:a="http://schemas.openxmlformats.org/drawingml/2006/main" noGrp="1"/>
          </p:cNvSpPr>
          <p:nvPr/>
        </p:nvSpPr>
        <p:spPr>
          <a:xfrm xmlns:a="http://schemas.openxmlformats.org/drawingml/2006/main">
            <a:off x="8477250" y="17145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19–20 AUG</a:t>
            </a:r>
          </a:p>
        </p:txBody>
      </p:sp>
      <p:sp>
        <p:nvSpPr>
          <p:cNvPr id="31" name="">
            <a:extLst xmlns:a="http://schemas.openxmlformats.org/drawingml/2006/main">
              <a:ext uri="{FF2B5EF4-FFF2-40B4-BE49-F238E27FC236}">
                <a16:creationId xmlns:a16="http://schemas.microsoft.com/office/drawing/2014/main" id="{0EA8DF95-6DF5-439A-9828-B8D6AFC8E726}"/>
              </a:ext>
            </a:extLst>
          </p:cNvPr>
          <p:cNvSpPr>
            <a:spLocks xmlns:a="http://schemas.openxmlformats.org/drawingml/2006/main" noGrp="1"/>
          </p:cNvSpPr>
          <p:nvPr/>
        </p:nvSpPr>
        <p:spPr>
          <a:xfrm xmlns:a="http://schemas.openxmlformats.org/drawingml/2006/main">
            <a:off x="8477250" y="20383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Reporting + dataset ops</a:t>
            </a:r>
          </a:p>
        </p:txBody>
      </p:sp>
      <p:sp>
        <p:nvSpPr>
          <p:cNvPr id="32" name="">
            <a:extLst xmlns:a="http://schemas.openxmlformats.org/drawingml/2006/main">
              <a:ext uri="{FF2B5EF4-FFF2-40B4-BE49-F238E27FC236}">
                <a16:creationId xmlns:a16="http://schemas.microsoft.com/office/drawing/2014/main" id="{7936C3E5-8DEA-46A5-A7E9-B3F16EE9DD5F}"/>
              </a:ext>
            </a:extLst>
          </p:cNvPr>
          <p:cNvSpPr>
            <a:spLocks xmlns:a="http://schemas.openxmlformats.org/drawingml/2006/main" noGrp="1"/>
          </p:cNvSpPr>
          <p:nvPr/>
        </p:nvSpPr>
        <p:spPr>
          <a:xfrm xmlns:a="http://schemas.openxmlformats.org/drawingml/2006/main">
            <a:off x="8477250" y="26670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Analytics, deletion and report-export fixes</a:t>
            </a:r>
          </a:p>
        </p:txBody>
      </p:sp>
      <p:sp>
        <p:nvSpPr>
          <p:cNvPr id="33" name="">
            <a:extLst xmlns:a="http://schemas.openxmlformats.org/drawingml/2006/main">
              <a:ext uri="{FF2B5EF4-FFF2-40B4-BE49-F238E27FC236}">
                <a16:creationId xmlns:a16="http://schemas.microsoft.com/office/drawing/2014/main" id="{91A252A8-9F5C-4C89-A437-E40059A1636B}"/>
              </a:ext>
            </a:extLst>
          </p:cNvPr>
          <p:cNvSpPr>
            <a:spLocks xmlns:a="http://schemas.openxmlformats.org/drawingml/2006/main" noGrp="1"/>
          </p:cNvSpPr>
          <p:nvPr/>
        </p:nvSpPr>
        <p:spPr>
          <a:xfrm xmlns:a="http://schemas.openxmlformats.org/drawingml/2006/main">
            <a:off x="10534650" y="3238500"/>
            <a:ext cx="209550" cy="2095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8912A10-C320-457F-8D1E-399E84118637}"/>
              </a:ext>
            </a:extLst>
          </p:cNvPr>
          <p:cNvSpPr>
            <a:spLocks xmlns:a="http://schemas.openxmlformats.org/drawingml/2006/main" noGrp="1"/>
          </p:cNvSpPr>
          <p:nvPr/>
        </p:nvSpPr>
        <p:spPr>
          <a:xfrm xmlns:a="http://schemas.openxmlformats.org/drawingml/2006/main">
            <a:off x="10420350" y="3733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38258A"/>
                </a:solidFill>
                <a:latin typeface="Arial"/>
                <a:ea typeface="Arial"/>
                <a:cs typeface="Arial"/>
              </a:defRPr>
            </a:pPr>
            <a:r>
              <a:rPr sz="1125" b="1">
                <a:solidFill>
                  <a:srgbClr val="38258A"/>
                </a:solidFill>
                <a:latin typeface="Arial"/>
                <a:ea typeface="Arial"/>
                <a:cs typeface="Arial"/>
              </a:rPr>
              <a:t>20–21 AUG</a:t>
            </a:r>
          </a:p>
        </p:txBody>
      </p:sp>
      <p:sp>
        <p:nvSpPr>
          <p:cNvPr id="35" name="">
            <a:extLst xmlns:a="http://schemas.openxmlformats.org/drawingml/2006/main">
              <a:ext uri="{FF2B5EF4-FFF2-40B4-BE49-F238E27FC236}">
                <a16:creationId xmlns:a16="http://schemas.microsoft.com/office/drawing/2014/main" id="{9AB8835E-696C-480E-A148-F23B9F14088B}"/>
              </a:ext>
            </a:extLst>
          </p:cNvPr>
          <p:cNvSpPr>
            <a:spLocks xmlns:a="http://schemas.openxmlformats.org/drawingml/2006/main" noGrp="1"/>
          </p:cNvSpPr>
          <p:nvPr/>
        </p:nvSpPr>
        <p:spPr>
          <a:xfrm xmlns:a="http://schemas.openxmlformats.org/drawingml/2006/main">
            <a:off x="10420350" y="405765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A3B"/>
                </a:solidFill>
                <a:latin typeface="Arial"/>
                <a:ea typeface="Arial"/>
                <a:cs typeface="Arial"/>
              </a:defRPr>
            </a:pPr>
            <a:r>
              <a:rPr sz="1500" b="1">
                <a:solidFill>
                  <a:srgbClr val="111A3B"/>
                </a:solidFill>
                <a:latin typeface="Arial"/>
                <a:ea typeface="Arial"/>
                <a:cs typeface="Arial"/>
              </a:rPr>
              <a:t>v0.4.0 usability</a:t>
            </a:r>
          </a:p>
        </p:txBody>
      </p:sp>
      <p:sp>
        <p:nvSpPr>
          <p:cNvPr id="36" name="">
            <a:extLst xmlns:a="http://schemas.openxmlformats.org/drawingml/2006/main">
              <a:ext uri="{FF2B5EF4-FFF2-40B4-BE49-F238E27FC236}">
                <a16:creationId xmlns:a16="http://schemas.microsoft.com/office/drawing/2014/main" id="{94D6EE15-2C6D-4921-97A6-3253A661D4EC}"/>
              </a:ext>
            </a:extLst>
          </p:cNvPr>
          <p:cNvSpPr>
            <a:spLocks xmlns:a="http://schemas.openxmlformats.org/drawingml/2006/main" noGrp="1"/>
          </p:cNvSpPr>
          <p:nvPr/>
        </p:nvSpPr>
        <p:spPr>
          <a:xfrm xmlns:a="http://schemas.openxmlformats.org/drawingml/2006/main">
            <a:off x="10420350" y="4686300"/>
            <a:ext cx="1676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147"/>
          </a:bodyPr>
          <a:lstStyle xmlns:a="http://schemas.openxmlformats.org/drawingml/2006/main"/>
          <a:p xmlns:a="http://schemas.openxmlformats.org/drawingml/2006/main">
            <a:pPr algn="l">
              <a:buNone/>
              <a:defRPr sz="1200" b="0">
                <a:solidFill>
                  <a:srgbClr val="66708D"/>
                </a:solidFill>
                <a:latin typeface="Arial"/>
                <a:ea typeface="Arial"/>
                <a:cs typeface="Arial"/>
              </a:defRPr>
            </a:pPr>
            <a:r>
              <a:rPr sz="1200" b="0">
                <a:solidFill>
                  <a:srgbClr val="66708D"/>
                </a:solidFill>
                <a:latin typeface="Arial"/>
                <a:ea typeface="Arial"/>
                <a:cs typeface="Arial"/>
              </a:rPr>
              <a:t>CORNERSTONE branding, feedback, compact layout and wafer scaling</a:t>
            </a:r>
          </a:p>
        </p:txBody>
      </p:sp>
    </p:spTree>
    <p:extLst>
      <p:ext uri="{BB962C8B-B14F-4D97-AF65-F5344CB8AC3E}">
        <p14:creationId xmlns:p14="http://schemas.microsoft.com/office/powerpoint/2010/main" val="92628112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0E1854C-4C78-4AA2-A811-85B446A1CB1A}"/>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7D8862-D725-4B60-8877-455AC2DA4CAF}"/>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22B25B1-59B2-44D3-BC4A-02C2A6A57EC2}"/>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0E23E8B-DADD-4746-B2BA-AF6C22D3A4A3}"/>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268841-AA18-49EA-AB91-A4C3FD07A46E}"/>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1E1D5EB-4FE4-47A2-BBC9-B17E259D3028}"/>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F8E20C5-B917-4C85-89A0-3201CAE33D98}"/>
              </a:ext>
            </a:extLst>
          </p:cNvPr>
          <p:cNvSpPr>
            <a:spLocks xmlns:a="http://schemas.openxmlformats.org/drawingml/2006/main" noGrp="1"/>
          </p:cNvSpPr>
          <p:nvPr/>
        </p:nvSpPr>
        <p:spPr>
          <a:xfrm xmlns:a="http://schemas.openxmlformats.org/drawingml/2006/main">
            <a:off x="53340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38258A"/>
                </a:solidFill>
                <a:latin typeface="Arial"/>
                <a:ea typeface="Arial"/>
                <a:cs typeface="Arial"/>
              </a:defRPr>
            </a:pPr>
            <a:r>
              <a:rPr sz="1050" b="1">
                <a:solidFill>
                  <a:srgbClr val="38258A"/>
                </a:solidFill>
                <a:latin typeface="Arial"/>
                <a:ea typeface="Arial"/>
                <a:cs typeface="Arial"/>
              </a:rPr>
              <a:t>RELEASE READINESS</a:t>
            </a:r>
          </a:p>
        </p:txBody>
      </p:sp>
      <p:sp>
        <p:nvSpPr>
          <p:cNvPr id="8" name="">
            <a:extLst xmlns:a="http://schemas.openxmlformats.org/drawingml/2006/main">
              <a:ext uri="{FF2B5EF4-FFF2-40B4-BE49-F238E27FC236}">
                <a16:creationId xmlns:a16="http://schemas.microsoft.com/office/drawing/2014/main" id="{A22854E2-E438-48A0-8842-68B0C5589E83}"/>
              </a:ext>
            </a:extLst>
          </p:cNvPr>
          <p:cNvSpPr>
            <a:spLocks xmlns:a="http://schemas.openxmlformats.org/drawingml/2006/main" noGrp="1"/>
          </p:cNvSpPr>
          <p:nvPr/>
        </p:nvSpPr>
        <p:spPr>
          <a:xfrm xmlns:a="http://schemas.openxmlformats.org/drawingml/2006/main">
            <a:off x="533400" y="6286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776"/>
          </a:bodyPr>
          <a:lstStyle xmlns:a="http://schemas.openxmlformats.org/drawingml/2006/main"/>
          <a:p xmlns:a="http://schemas.openxmlformats.org/drawingml/2006/main">
            <a:pPr algn="l">
              <a:buNone/>
              <a:defRPr sz="3000" b="1">
                <a:solidFill>
                  <a:srgbClr val="111A3B"/>
                </a:solidFill>
                <a:latin typeface="Arial"/>
                <a:ea typeface="Arial"/>
                <a:cs typeface="Arial"/>
              </a:defRPr>
            </a:pPr>
            <a:r>
              <a:rPr sz="3000" b="1">
                <a:solidFill>
                  <a:srgbClr val="111A3B"/>
                </a:solidFill>
                <a:latin typeface="Arial"/>
                <a:ea typeface="Arial"/>
                <a:cs typeface="Arial"/>
              </a:rPr>
              <a:t>v0.4.0 is published to GitHub main and ready for controlled team review</a:t>
            </a:r>
          </a:p>
        </p:txBody>
      </p:sp>
      <p:sp>
        <p:nvSpPr>
          <p:cNvPr id="9" name="">
            <a:extLst xmlns:a="http://schemas.openxmlformats.org/drawingml/2006/main">
              <a:ext uri="{FF2B5EF4-FFF2-40B4-BE49-F238E27FC236}">
                <a16:creationId xmlns:a16="http://schemas.microsoft.com/office/drawing/2014/main" id="{3F992FEC-A38C-4EA1-BEF2-0FC71FD3DDB7}"/>
              </a:ext>
            </a:extLst>
          </p:cNvPr>
          <p:cNvSpPr>
            <a:spLocks xmlns:a="http://schemas.openxmlformats.org/drawingml/2006/main" noGrp="1"/>
          </p:cNvSpPr>
          <p:nvPr/>
        </p:nvSpPr>
        <p:spPr>
          <a:xfrm xmlns:a="http://schemas.openxmlformats.org/drawingml/2006/main">
            <a:off x="533400" y="1390650"/>
            <a:ext cx="11125200" cy="9525"/>
          </a:xfrm>
          <a:prstGeom xmlns:a="http://schemas.openxmlformats.org/drawingml/2006/main" prst="rect">
            <a:avLst/>
          </a:prstGeom>
          <a:solidFill xmlns:a="http://schemas.openxmlformats.org/drawingml/2006/main">
            <a:srgbClr val="D9DE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0215487-258D-4016-8396-DCE79343800F}"/>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6708D"/>
                </a:solidFill>
                <a:latin typeface="Arial"/>
                <a:ea typeface="Arial"/>
                <a:cs typeface="Arial"/>
              </a:defRPr>
            </a:pPr>
            <a:r>
              <a:rPr sz="975" b="0">
                <a:solidFill>
                  <a:srgbClr val="66708D"/>
                </a:solidFill>
                <a:latin typeface="Arial"/>
                <a:ea typeface="Arial"/>
                <a:cs typeface="Arial"/>
              </a:rPr>
              <a:t>CORNERSTONE | Wafer Post-Processing Suite</a:t>
            </a:r>
          </a:p>
        </p:txBody>
      </p:sp>
      <p:sp>
        <p:nvSpPr>
          <p:cNvPr id="11" name="">
            <a:extLst xmlns:a="http://schemas.openxmlformats.org/drawingml/2006/main">
              <a:ext uri="{FF2B5EF4-FFF2-40B4-BE49-F238E27FC236}">
                <a16:creationId xmlns:a16="http://schemas.microsoft.com/office/drawing/2014/main" id="{2C64AC45-4DD5-4661-A94C-496395809FF9}"/>
              </a:ext>
            </a:extLst>
          </p:cNvPr>
          <p:cNvSpPr>
            <a:spLocks xmlns:a="http://schemas.openxmlformats.org/drawingml/2006/main" noGrp="1"/>
          </p:cNvSpPr>
          <p:nvPr/>
        </p:nvSpPr>
        <p:spPr>
          <a:xfrm xmlns:a="http://schemas.openxmlformats.org/drawingml/2006/main">
            <a:off x="11163300" y="651510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66708D"/>
                </a:solidFill>
                <a:latin typeface="Arial"/>
                <a:ea typeface="Arial"/>
                <a:cs typeface="Arial"/>
              </a:defRPr>
            </a:pPr>
            <a:r>
              <a:rPr sz="975" b="0">
                <a:solidFill>
                  <a:srgbClr val="66708D"/>
                </a:solidFill>
                <a:latin typeface="Arial"/>
                <a:ea typeface="Arial"/>
                <a:cs typeface="Arial"/>
              </a:rPr>
              <a:t>14</a:t>
            </a:r>
          </a:p>
        </p:txBody>
      </p:sp>
      <p:sp>
        <p:nvSpPr>
          <p:cNvPr id="12" name="">
            <a:extLst xmlns:a="http://schemas.openxmlformats.org/drawingml/2006/main">
              <a:ext uri="{FF2B5EF4-FFF2-40B4-BE49-F238E27FC236}">
                <a16:creationId xmlns:a16="http://schemas.microsoft.com/office/drawing/2014/main" id="{51A49D52-2C4D-448B-91E5-5E72855FCA6E}"/>
              </a:ext>
            </a:extLst>
          </p:cNvPr>
          <p:cNvSpPr>
            <a:spLocks xmlns:a="http://schemas.openxmlformats.org/drawingml/2006/main" noGrp="1"/>
          </p:cNvSpPr>
          <p:nvPr/>
        </p:nvSpPr>
        <p:spPr>
          <a:xfrm xmlns:a="http://schemas.openxmlformats.org/drawingml/2006/main">
            <a:off x="533400" y="186690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78A62"/>
                </a:solidFill>
                <a:latin typeface="Arial"/>
                <a:ea typeface="Arial"/>
                <a:cs typeface="Arial"/>
              </a:defRPr>
            </a:pPr>
            <a:r>
              <a:rPr sz="1875" b="1">
                <a:solidFill>
                  <a:srgbClr val="178A62"/>
                </a:solidFill>
                <a:latin typeface="Arial"/>
                <a:ea typeface="Arial"/>
                <a:cs typeface="Arial"/>
              </a:rPr>
              <a:t>Validated release</a:t>
            </a:r>
          </a:p>
        </p:txBody>
      </p:sp>
      <p:sp>
        <p:nvSpPr>
          <p:cNvPr id="13" name="">
            <a:extLst xmlns:a="http://schemas.openxmlformats.org/drawingml/2006/main">
              <a:ext uri="{FF2B5EF4-FFF2-40B4-BE49-F238E27FC236}">
                <a16:creationId xmlns:a16="http://schemas.microsoft.com/office/drawing/2014/main" id="{04BB6235-ECEB-4788-8A60-ABECA5959651}"/>
              </a:ext>
            </a:extLst>
          </p:cNvPr>
          <p:cNvSpPr>
            <a:spLocks xmlns:a="http://schemas.openxmlformats.org/drawingml/2006/main" noGrp="1"/>
          </p:cNvSpPr>
          <p:nvPr/>
        </p:nvSpPr>
        <p:spPr>
          <a:xfrm xmlns:a="http://schemas.openxmlformats.org/drawingml/2006/main">
            <a:off x="533400" y="24479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317ACAC-A5D8-4F19-BC33-DFFBED2A2865}"/>
              </a:ext>
            </a:extLst>
          </p:cNvPr>
          <p:cNvSpPr>
            <a:spLocks xmlns:a="http://schemas.openxmlformats.org/drawingml/2006/main" noGrp="1"/>
          </p:cNvSpPr>
          <p:nvPr/>
        </p:nvSpPr>
        <p:spPr>
          <a:xfrm xmlns:a="http://schemas.openxmlformats.org/drawingml/2006/main">
            <a:off x="762000" y="238125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Production Vite build</a:t>
            </a:r>
          </a:p>
        </p:txBody>
      </p:sp>
      <p:sp>
        <p:nvSpPr>
          <p:cNvPr id="15" name="">
            <a:extLst xmlns:a="http://schemas.openxmlformats.org/drawingml/2006/main">
              <a:ext uri="{FF2B5EF4-FFF2-40B4-BE49-F238E27FC236}">
                <a16:creationId xmlns:a16="http://schemas.microsoft.com/office/drawing/2014/main" id="{5A084C67-65F9-4435-85B7-3C8A494CEC07}"/>
              </a:ext>
            </a:extLst>
          </p:cNvPr>
          <p:cNvSpPr>
            <a:spLocks xmlns:a="http://schemas.openxmlformats.org/drawingml/2006/main" noGrp="1"/>
          </p:cNvSpPr>
          <p:nvPr/>
        </p:nvSpPr>
        <p:spPr>
          <a:xfrm xmlns:a="http://schemas.openxmlformats.org/drawingml/2006/main">
            <a:off x="533400" y="31146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20E1199-EC15-4163-B3D6-37C09620ABAF}"/>
              </a:ext>
            </a:extLst>
          </p:cNvPr>
          <p:cNvSpPr>
            <a:spLocks xmlns:a="http://schemas.openxmlformats.org/drawingml/2006/main" noGrp="1"/>
          </p:cNvSpPr>
          <p:nvPr/>
        </p:nvSpPr>
        <p:spPr>
          <a:xfrm xmlns:a="http://schemas.openxmlformats.org/drawingml/2006/main">
            <a:off x="762000" y="304800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Local dataset load and summary metrics</a:t>
            </a:r>
          </a:p>
        </p:txBody>
      </p:sp>
      <p:sp>
        <p:nvSpPr>
          <p:cNvPr id="17" name="">
            <a:extLst xmlns:a="http://schemas.openxmlformats.org/drawingml/2006/main">
              <a:ext uri="{FF2B5EF4-FFF2-40B4-BE49-F238E27FC236}">
                <a16:creationId xmlns:a16="http://schemas.microsoft.com/office/drawing/2014/main" id="{15176414-86C4-4087-BC43-F739EE1A3E84}"/>
              </a:ext>
            </a:extLst>
          </p:cNvPr>
          <p:cNvSpPr>
            <a:spLocks xmlns:a="http://schemas.openxmlformats.org/drawingml/2006/main" noGrp="1"/>
          </p:cNvSpPr>
          <p:nvPr/>
        </p:nvSpPr>
        <p:spPr>
          <a:xfrm xmlns:a="http://schemas.openxmlformats.org/drawingml/2006/main">
            <a:off x="533400" y="37814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711984A-0CA2-41AA-ABD0-9EEC0DA7E75B}"/>
              </a:ext>
            </a:extLst>
          </p:cNvPr>
          <p:cNvSpPr>
            <a:spLocks xmlns:a="http://schemas.openxmlformats.org/drawingml/2006/main" noGrp="1"/>
          </p:cNvSpPr>
          <p:nvPr/>
        </p:nvSpPr>
        <p:spPr>
          <a:xfrm xmlns:a="http://schemas.openxmlformats.org/drawingml/2006/main">
            <a:off x="762000" y="371475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Editable scale and reset behaviour</a:t>
            </a:r>
          </a:p>
        </p:txBody>
      </p:sp>
      <p:sp>
        <p:nvSpPr>
          <p:cNvPr id="19" name="">
            <a:extLst xmlns:a="http://schemas.openxmlformats.org/drawingml/2006/main">
              <a:ext uri="{FF2B5EF4-FFF2-40B4-BE49-F238E27FC236}">
                <a16:creationId xmlns:a16="http://schemas.microsoft.com/office/drawing/2014/main" id="{AB3F4DE1-82BB-4862-A95B-6B9AC95B4B0B}"/>
              </a:ext>
            </a:extLst>
          </p:cNvPr>
          <p:cNvSpPr>
            <a:spLocks xmlns:a="http://schemas.openxmlformats.org/drawingml/2006/main" noGrp="1"/>
          </p:cNvSpPr>
          <p:nvPr/>
        </p:nvSpPr>
        <p:spPr>
          <a:xfrm xmlns:a="http://schemas.openxmlformats.org/drawingml/2006/main">
            <a:off x="533400" y="44481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9E55425-1083-4695-A5FE-05D4E1B331D4}"/>
              </a:ext>
            </a:extLst>
          </p:cNvPr>
          <p:cNvSpPr>
            <a:spLocks xmlns:a="http://schemas.openxmlformats.org/drawingml/2006/main" noGrp="1"/>
          </p:cNvSpPr>
          <p:nvPr/>
        </p:nvSpPr>
        <p:spPr>
          <a:xfrm xmlns:a="http://schemas.openxmlformats.org/drawingml/2006/main">
            <a:off x="762000" y="438150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No console warnings or errors in the smoke test</a:t>
            </a:r>
          </a:p>
        </p:txBody>
      </p:sp>
      <p:sp>
        <p:nvSpPr>
          <p:cNvPr id="21" name="">
            <a:extLst xmlns:a="http://schemas.openxmlformats.org/drawingml/2006/main">
              <a:ext uri="{FF2B5EF4-FFF2-40B4-BE49-F238E27FC236}">
                <a16:creationId xmlns:a16="http://schemas.microsoft.com/office/drawing/2014/main" id="{8D015624-18D0-4867-ACC1-B82D0A5019CF}"/>
              </a:ext>
            </a:extLst>
          </p:cNvPr>
          <p:cNvSpPr>
            <a:spLocks xmlns:a="http://schemas.openxmlformats.org/drawingml/2006/main" noGrp="1"/>
          </p:cNvSpPr>
          <p:nvPr/>
        </p:nvSpPr>
        <p:spPr>
          <a:xfrm xmlns:a="http://schemas.openxmlformats.org/drawingml/2006/main">
            <a:off x="6438900" y="18669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A66B00"/>
                </a:solidFill>
                <a:latin typeface="Arial"/>
                <a:ea typeface="Arial"/>
                <a:cs typeface="Arial"/>
              </a:defRPr>
            </a:pPr>
            <a:r>
              <a:rPr sz="1875" b="1">
                <a:solidFill>
                  <a:srgbClr val="A66B00"/>
                </a:solidFill>
                <a:latin typeface="Arial"/>
                <a:ea typeface="Arial"/>
                <a:cs typeface="Arial"/>
              </a:rPr>
              <a:t>Published safely</a:t>
            </a:r>
          </a:p>
        </p:txBody>
      </p:sp>
      <p:sp>
        <p:nvSpPr>
          <p:cNvPr id="22" name="">
            <a:extLst xmlns:a="http://schemas.openxmlformats.org/drawingml/2006/main">
              <a:ext uri="{FF2B5EF4-FFF2-40B4-BE49-F238E27FC236}">
                <a16:creationId xmlns:a16="http://schemas.microsoft.com/office/drawing/2014/main" id="{509CA03A-B6B0-4773-8D81-F9379AA84776}"/>
              </a:ext>
            </a:extLst>
          </p:cNvPr>
          <p:cNvSpPr>
            <a:spLocks xmlns:a="http://schemas.openxmlformats.org/drawingml/2006/main" noGrp="1"/>
          </p:cNvSpPr>
          <p:nvPr/>
        </p:nvSpPr>
        <p:spPr>
          <a:xfrm xmlns:a="http://schemas.openxmlformats.org/drawingml/2006/main">
            <a:off x="6438900" y="24479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059AF49-2618-4C2E-A733-427BEDF97F97}"/>
              </a:ext>
            </a:extLst>
          </p:cNvPr>
          <p:cNvSpPr>
            <a:spLocks xmlns:a="http://schemas.openxmlformats.org/drawingml/2006/main" noGrp="1"/>
          </p:cNvSpPr>
          <p:nvPr/>
        </p:nvSpPr>
        <p:spPr>
          <a:xfrm xmlns:a="http://schemas.openxmlformats.org/drawingml/2006/main">
            <a:off x="6667500" y="238125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Integrated with the latest origin/main history</a:t>
            </a:r>
          </a:p>
        </p:txBody>
      </p:sp>
      <p:sp>
        <p:nvSpPr>
          <p:cNvPr id="24" name="">
            <a:extLst xmlns:a="http://schemas.openxmlformats.org/drawingml/2006/main">
              <a:ext uri="{FF2B5EF4-FFF2-40B4-BE49-F238E27FC236}">
                <a16:creationId xmlns:a16="http://schemas.microsoft.com/office/drawing/2014/main" id="{2B0FF789-0FC1-485C-8A4E-D6C02B43993F}"/>
              </a:ext>
            </a:extLst>
          </p:cNvPr>
          <p:cNvSpPr>
            <a:spLocks xmlns:a="http://schemas.openxmlformats.org/drawingml/2006/main" noGrp="1"/>
          </p:cNvSpPr>
          <p:nvPr/>
        </p:nvSpPr>
        <p:spPr>
          <a:xfrm xmlns:a="http://schemas.openxmlformats.org/drawingml/2006/main">
            <a:off x="6438900" y="31146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808A627-4A4B-4082-AF15-271225D0FCE4}"/>
              </a:ext>
            </a:extLst>
          </p:cNvPr>
          <p:cNvSpPr>
            <a:spLocks xmlns:a="http://schemas.openxmlformats.org/drawingml/2006/main" noGrp="1"/>
          </p:cNvSpPr>
          <p:nvPr/>
        </p:nvSpPr>
        <p:spPr>
          <a:xfrm xmlns:a="http://schemas.openxmlformats.org/drawingml/2006/main">
            <a:off x="6667500" y="304800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Kept unrelated dataset and scratch changes out of the release</a:t>
            </a:r>
          </a:p>
        </p:txBody>
      </p:sp>
      <p:sp>
        <p:nvSpPr>
          <p:cNvPr id="26" name="">
            <a:extLst xmlns:a="http://schemas.openxmlformats.org/drawingml/2006/main">
              <a:ext uri="{FF2B5EF4-FFF2-40B4-BE49-F238E27FC236}">
                <a16:creationId xmlns:a16="http://schemas.microsoft.com/office/drawing/2014/main" id="{D4FB731C-666C-42C2-BC5E-69DBD1F4085A}"/>
              </a:ext>
            </a:extLst>
          </p:cNvPr>
          <p:cNvSpPr>
            <a:spLocks xmlns:a="http://schemas.openxmlformats.org/drawingml/2006/main" noGrp="1"/>
          </p:cNvSpPr>
          <p:nvPr/>
        </p:nvSpPr>
        <p:spPr>
          <a:xfrm xmlns:a="http://schemas.openxmlformats.org/drawingml/2006/main">
            <a:off x="6438900" y="3781425"/>
            <a:ext cx="95250" cy="95250"/>
          </a:xfrm>
          <a:prstGeom xmlns:a="http://schemas.openxmlformats.org/drawingml/2006/main" prst="roundRect">
            <a:avLst>
              <a:gd name="adj" fmla="val 50000"/>
            </a:avLst>
          </a:prstGeom>
          <a:solidFill xmlns:a="http://schemas.openxmlformats.org/drawingml/2006/main">
            <a:srgbClr val="38258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0E75181-6D16-4FBF-B651-6CC410C0267C}"/>
              </a:ext>
            </a:extLst>
          </p:cNvPr>
          <p:cNvSpPr>
            <a:spLocks xmlns:a="http://schemas.openxmlformats.org/drawingml/2006/main" noGrp="1"/>
          </p:cNvSpPr>
          <p:nvPr/>
        </p:nvSpPr>
        <p:spPr>
          <a:xfrm xmlns:a="http://schemas.openxmlformats.org/drawingml/2006/main">
            <a:off x="6667500" y="371475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Verified local main and origin/main at fd1ac31</a:t>
            </a:r>
          </a:p>
        </p:txBody>
      </p:sp>
      <p:sp>
        <p:nvSpPr>
          <p:cNvPr id="28" name="">
            <a:extLst xmlns:a="http://schemas.openxmlformats.org/drawingml/2006/main">
              <a:ext uri="{FF2B5EF4-FFF2-40B4-BE49-F238E27FC236}">
                <a16:creationId xmlns:a16="http://schemas.microsoft.com/office/drawing/2014/main" id="{98DA3A49-933B-4B9E-8527-F43CB69D9DB8}"/>
              </a:ext>
            </a:extLst>
          </p:cNvPr>
          <p:cNvSpPr>
            <a:spLocks xmlns:a="http://schemas.openxmlformats.org/drawingml/2006/main" noGrp="1"/>
          </p:cNvSpPr>
          <p:nvPr/>
        </p:nvSpPr>
        <p:spPr>
          <a:xfrm xmlns:a="http://schemas.openxmlformats.org/drawingml/2006/main">
            <a:off x="6438900" y="4448175"/>
            <a:ext cx="95250" cy="95250"/>
          </a:xfrm>
          <a:prstGeom xmlns:a="http://schemas.openxmlformats.org/drawingml/2006/main" prst="roundRect">
            <a:avLst>
              <a:gd name="adj" fmla="val 50000"/>
            </a:avLst>
          </a:prstGeom>
          <a:solidFill xmlns:a="http://schemas.openxmlformats.org/drawingml/2006/main">
            <a:srgbClr val="0C91C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04800AB-A92A-441A-A940-91615EB1DC5C}"/>
              </a:ext>
            </a:extLst>
          </p:cNvPr>
          <p:cNvSpPr>
            <a:spLocks xmlns:a="http://schemas.openxmlformats.org/drawingml/2006/main" noGrp="1"/>
          </p:cNvSpPr>
          <p:nvPr/>
        </p:nvSpPr>
        <p:spPr>
          <a:xfrm xmlns:a="http://schemas.openxmlformats.org/drawingml/2006/main">
            <a:off x="6667500" y="4381500"/>
            <a:ext cx="4724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A2F"/>
                </a:solidFill>
                <a:latin typeface="Arial"/>
                <a:ea typeface="Arial"/>
                <a:cs typeface="Arial"/>
              </a:defRPr>
            </a:pPr>
            <a:r>
              <a:rPr sz="1500" b="0">
                <a:solidFill>
                  <a:srgbClr val="151A2F"/>
                </a:solidFill>
                <a:latin typeface="Arial"/>
                <a:ea typeface="Arial"/>
                <a:cs typeface="Arial"/>
              </a:rPr>
              <a:t>Published to GitHub main on 21 August 2026</a:t>
            </a:r>
          </a:p>
        </p:txBody>
      </p:sp>
      <p:sp>
        <p:nvSpPr>
          <p:cNvPr id="30" name="">
            <a:extLst xmlns:a="http://schemas.openxmlformats.org/drawingml/2006/main">
              <a:ext uri="{FF2B5EF4-FFF2-40B4-BE49-F238E27FC236}">
                <a16:creationId xmlns:a16="http://schemas.microsoft.com/office/drawing/2014/main" id="{09447559-FBDE-44FE-9CE8-A0FC9B82945E}"/>
              </a:ext>
            </a:extLst>
          </p:cNvPr>
          <p:cNvSpPr>
            <a:spLocks xmlns:a="http://schemas.openxmlformats.org/drawingml/2006/main" noGrp="1"/>
          </p:cNvSpPr>
          <p:nvPr/>
        </p:nvSpPr>
        <p:spPr>
          <a:xfrm xmlns:a="http://schemas.openxmlformats.org/drawingml/2006/main">
            <a:off x="1238250" y="55054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750"/>
          </a:bodyPr>
          <a:lstStyle xmlns:a="http://schemas.openxmlformats.org/drawingml/2006/main"/>
          <a:p xmlns:a="http://schemas.openxmlformats.org/drawingml/2006/main">
            <a:pPr algn="ctr">
              <a:buNone/>
              <a:defRPr sz="1800" b="1">
                <a:solidFill>
                  <a:srgbClr val="111A3B"/>
                </a:solidFill>
                <a:latin typeface="Arial"/>
                <a:ea typeface="Arial"/>
                <a:cs typeface="Arial"/>
              </a:defRPr>
            </a:pPr>
            <a:r>
              <a:rPr sz="1800" b="1">
                <a:solidFill>
                  <a:srgbClr val="111A3B"/>
                </a:solidFill>
                <a:latin typeface="Arial"/>
                <a:ea typeface="Arial"/>
                <a:cs typeface="Arial"/>
              </a:rPr>
              <a:t>The application is published and functionally ready; the next step is controlled review with the test, PDK and cleanroom teams.</a:t>
            </a:r>
          </a:p>
        </p:txBody>
      </p:sp>
    </p:spTree>
    <p:extLst>
      <p:ext uri="{BB962C8B-B14F-4D97-AF65-F5344CB8AC3E}">
        <p14:creationId xmlns:p14="http://schemas.microsoft.com/office/powerpoint/2010/main" val="531182374"/>
      </p:ext>
    </p:extLst>
  </p:cSld>
</p:sld>
</file>

<file path=ppt/slides/slide15.xml><?xml version="1.0" encoding="utf-8"?>
<p:sld xmlns:p="http://schemas.openxmlformats.org/presentationml/2006/main">
  <p:cSld>
    <p:bg>
      <p:bgPr>
        <a:solidFill xmlns:a="http://schemas.openxmlformats.org/drawingml/2006/main">
          <a:srgbClr val="111A3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81ED0AE-CE89-4E13-9F4B-61C45DEE2802}"/>
              </a:ext>
            </a:extLst>
          </p:cNvPr>
          <p:cNvSpPr>
            <a:spLocks xmlns:a="http://schemas.openxmlformats.org/drawingml/2006/main" noGrp="1"/>
          </p:cNvSpPr>
          <p:nvPr/>
        </p:nvSpPr>
        <p:spPr>
          <a:xfrm xmlns:a="http://schemas.openxmlformats.org/drawingml/2006/main">
            <a:off x="0" y="0"/>
            <a:ext cx="2381250" cy="57150"/>
          </a:xfrm>
          <a:prstGeom xmlns:a="http://schemas.openxmlformats.org/drawingml/2006/main" prst="rect">
            <a:avLst/>
          </a:prstGeom>
          <a:solidFill xmlns:a="http://schemas.openxmlformats.org/drawingml/2006/main">
            <a:srgbClr val="0C91C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3735CD-06D2-43C3-B27C-F69C91584A1F}"/>
              </a:ext>
            </a:extLst>
          </p:cNvPr>
          <p:cNvSpPr>
            <a:spLocks xmlns:a="http://schemas.openxmlformats.org/drawingml/2006/main" noGrp="1"/>
          </p:cNvSpPr>
          <p:nvPr/>
        </p:nvSpPr>
        <p:spPr>
          <a:xfrm xmlns:a="http://schemas.openxmlformats.org/drawingml/2006/main">
            <a:off x="2381250" y="0"/>
            <a:ext cx="2381250" cy="57150"/>
          </a:xfrm>
          <a:prstGeom xmlns:a="http://schemas.openxmlformats.org/drawingml/2006/main" prst="rect">
            <a:avLst/>
          </a:prstGeom>
          <a:solidFill xmlns:a="http://schemas.openxmlformats.org/drawingml/2006/main">
            <a:srgbClr val="3825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6FFEAC6-1623-4BE2-A570-12BCD07D6EA7}"/>
              </a:ext>
            </a:extLst>
          </p:cNvPr>
          <p:cNvSpPr>
            <a:spLocks xmlns:a="http://schemas.openxmlformats.org/drawingml/2006/main" noGrp="1"/>
          </p:cNvSpPr>
          <p:nvPr/>
        </p:nvSpPr>
        <p:spPr>
          <a:xfrm xmlns:a="http://schemas.openxmlformats.org/drawingml/2006/main">
            <a:off x="4762500" y="0"/>
            <a:ext cx="2381250" cy="57150"/>
          </a:xfrm>
          <a:prstGeom xmlns:a="http://schemas.openxmlformats.org/drawingml/2006/main" prst="rect">
            <a:avLst/>
          </a:prstGeom>
          <a:solidFill xmlns:a="http://schemas.openxmlformats.org/drawingml/2006/main">
            <a:srgbClr val="D80B7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8D73620-EF24-4EF8-8D43-88CB86351288}"/>
              </a:ext>
            </a:extLst>
          </p:cNvPr>
          <p:cNvSpPr>
            <a:spLocks xmlns:a="http://schemas.openxmlformats.org/drawingml/2006/main" noGrp="1"/>
          </p:cNvSpPr>
          <p:nvPr/>
        </p:nvSpPr>
        <p:spPr>
          <a:xfrm xmlns:a="http://schemas.openxmlformats.org/drawingml/2006/main">
            <a:off x="7143750" y="0"/>
            <a:ext cx="1714500" cy="57150"/>
          </a:xfrm>
          <a:prstGeom xmlns:a="http://schemas.openxmlformats.org/drawingml/2006/main" prst="rect">
            <a:avLst/>
          </a:prstGeom>
          <a:solidFill xmlns:a="http://schemas.openxmlformats.org/drawingml/2006/main">
            <a:srgbClr val="E522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FA4C66B-09C6-490B-988B-281CF4D8392F}"/>
              </a:ext>
            </a:extLst>
          </p:cNvPr>
          <p:cNvSpPr>
            <a:spLocks xmlns:a="http://schemas.openxmlformats.org/drawingml/2006/main" noGrp="1"/>
          </p:cNvSpPr>
          <p:nvPr/>
        </p:nvSpPr>
        <p:spPr>
          <a:xfrm xmlns:a="http://schemas.openxmlformats.org/drawingml/2006/main">
            <a:off x="8858250" y="0"/>
            <a:ext cx="1619250" cy="57150"/>
          </a:xfrm>
          <a:prstGeom xmlns:a="http://schemas.openxmlformats.org/drawingml/2006/main" prst="rect">
            <a:avLst/>
          </a:prstGeom>
          <a:solidFill xmlns:a="http://schemas.openxmlformats.org/drawingml/2006/main">
            <a:srgbClr val="F0CC1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8D60324-C6FB-4593-A6BD-FE23ACDEF8EA}"/>
              </a:ext>
            </a:extLst>
          </p:cNvPr>
          <p:cNvSpPr>
            <a:spLocks xmlns:a="http://schemas.openxmlformats.org/drawingml/2006/main" noGrp="1"/>
          </p:cNvSpPr>
          <p:nvPr/>
        </p:nvSpPr>
        <p:spPr>
          <a:xfrm xmlns:a="http://schemas.openxmlformats.org/drawingml/2006/main">
            <a:off x="10477500" y="0"/>
            <a:ext cx="1714500" cy="57150"/>
          </a:xfrm>
          <a:prstGeom xmlns:a="http://schemas.openxmlformats.org/drawingml/2006/main" prst="rect">
            <a:avLst/>
          </a:prstGeom>
          <a:solidFill xmlns:a="http://schemas.openxmlformats.org/drawingml/2006/main">
            <a:srgbClr val="4AA54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7E1AABC-EEA4-43D5-A49A-4DE48F76635D}"/>
              </a:ext>
            </a:extLst>
          </p:cNvPr>
          <p:cNvSpPr>
            <a:spLocks xmlns:a="http://schemas.openxmlformats.org/drawingml/2006/main" noGrp="1"/>
          </p:cNvSpPr>
          <p:nvPr/>
        </p:nvSpPr>
        <p:spPr>
          <a:xfrm xmlns:a="http://schemas.openxmlformats.org/drawingml/2006/main">
            <a:off x="533400" y="6477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BFC8E8"/>
                </a:solidFill>
                <a:latin typeface="Arial"/>
                <a:ea typeface="Arial"/>
                <a:cs typeface="Arial"/>
              </a:defRPr>
            </a:pPr>
            <a:r>
              <a:rPr sz="1500" b="1">
                <a:solidFill>
                  <a:srgbClr val="BFC8E8"/>
                </a:solidFill>
                <a:latin typeface="Arial"/>
                <a:ea typeface="Arial"/>
                <a:cs typeface="Arial"/>
              </a:rPr>
              <a:t>Proposal</a:t>
            </a:r>
          </a:p>
        </p:txBody>
      </p:sp>
      <p:sp>
        <p:nvSpPr>
          <p:cNvPr id="8" name="">
            <a:extLst xmlns:a="http://schemas.openxmlformats.org/drawingml/2006/main">
              <a:ext uri="{FF2B5EF4-FFF2-40B4-BE49-F238E27FC236}">
                <a16:creationId xmlns:a16="http://schemas.microsoft.com/office/drawing/2014/main" id="{23798368-F1F9-43AB-BA2F-199DC542DE8A}"/>
              </a:ext>
            </a:extLst>
          </p:cNvPr>
          <p:cNvSpPr>
            <a:spLocks xmlns:a="http://schemas.openxmlformats.org/drawingml/2006/main" noGrp="1"/>
          </p:cNvSpPr>
          <p:nvPr/>
        </p:nvSpPr>
        <p:spPr>
          <a:xfrm xmlns:a="http://schemas.openxmlformats.org/drawingml/2006/main">
            <a:off x="533400" y="1219200"/>
            <a:ext cx="10096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750" b="1">
                <a:solidFill>
                  <a:srgbClr val="FFFFFF"/>
                </a:solidFill>
                <a:latin typeface="Arial"/>
                <a:ea typeface="Arial"/>
                <a:cs typeface="Arial"/>
              </a:defRPr>
            </a:pPr>
            <a:r>
              <a:rPr sz="3750" b="1">
                <a:solidFill>
                  <a:srgbClr val="FFFFFF"/>
                </a:solidFill>
                <a:latin typeface="Arial"/>
                <a:ea typeface="Arial"/>
                <a:cs typeface="Arial"/>
              </a:rPr>
              <a:t>Adopt the suite as a shared review workspace and run a focused pilot</a:t>
            </a:r>
          </a:p>
        </p:txBody>
      </p:sp>
      <p:sp>
        <p:nvSpPr>
          <p:cNvPr id="9" name="">
            <a:extLst xmlns:a="http://schemas.openxmlformats.org/drawingml/2006/main">
              <a:ext uri="{FF2B5EF4-FFF2-40B4-BE49-F238E27FC236}">
                <a16:creationId xmlns:a16="http://schemas.microsoft.com/office/drawing/2014/main" id="{840E68F3-ADA7-4DB1-9C10-758299B3D749}"/>
              </a:ext>
            </a:extLst>
          </p:cNvPr>
          <p:cNvSpPr>
            <a:spLocks xmlns:a="http://schemas.openxmlformats.org/drawingml/2006/main" noGrp="1"/>
          </p:cNvSpPr>
          <p:nvPr/>
        </p:nvSpPr>
        <p:spPr>
          <a:xfrm xmlns:a="http://schemas.openxmlformats.org/drawingml/2006/main">
            <a:off x="533400" y="2876550"/>
            <a:ext cx="11125200" cy="9525"/>
          </a:xfrm>
          <a:prstGeom xmlns:a="http://schemas.openxmlformats.org/drawingml/2006/main" prst="rect">
            <a:avLst/>
          </a:prstGeom>
          <a:solidFill xmlns:a="http://schemas.openxmlformats.org/drawingml/2006/main">
            <a:srgbClr val="4B557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5C9070-FEFC-4D42-AA36-35F3400E1FB3}"/>
              </a:ext>
            </a:extLst>
          </p:cNvPr>
          <p:cNvSpPr>
            <a:spLocks xmlns:a="http://schemas.openxmlformats.org/drawingml/2006/main" noGrp="1"/>
          </p:cNvSpPr>
          <p:nvPr/>
        </p:nvSpPr>
        <p:spPr>
          <a:xfrm xmlns:a="http://schemas.openxmlformats.org/drawingml/2006/main">
            <a:off x="533400" y="3333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BFC8E8"/>
                </a:solidFill>
                <a:latin typeface="Arial"/>
                <a:ea typeface="Arial"/>
                <a:cs typeface="Arial"/>
              </a:defRPr>
            </a:pPr>
            <a:r>
              <a:rPr sz="1800" b="1">
                <a:solidFill>
                  <a:srgbClr val="BFC8E8"/>
                </a:solidFill>
                <a:latin typeface="Arial"/>
                <a:ea typeface="Arial"/>
                <a:cs typeface="Arial"/>
              </a:rPr>
              <a:t>Pilot scope</a:t>
            </a:r>
          </a:p>
        </p:txBody>
      </p:sp>
      <p:sp>
        <p:nvSpPr>
          <p:cNvPr id="11" name="">
            <a:extLst xmlns:a="http://schemas.openxmlformats.org/drawingml/2006/main">
              <a:ext uri="{FF2B5EF4-FFF2-40B4-BE49-F238E27FC236}">
                <a16:creationId xmlns:a16="http://schemas.microsoft.com/office/drawing/2014/main" id="{70C6022B-3CCA-4E57-88AE-C8182B6B3F26}"/>
              </a:ext>
            </a:extLst>
          </p:cNvPr>
          <p:cNvSpPr>
            <a:spLocks xmlns:a="http://schemas.openxmlformats.org/drawingml/2006/main" noGrp="1"/>
          </p:cNvSpPr>
          <p:nvPr/>
        </p:nvSpPr>
        <p:spPr>
          <a:xfrm xmlns:a="http://schemas.openxmlformats.org/drawingml/2006/main">
            <a:off x="533400" y="38290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latin typeface="Arial"/>
                <a:ea typeface="Arial"/>
                <a:cs typeface="Arial"/>
              </a:defRPr>
            </a:pPr>
            <a:r>
              <a:rPr sz="1800" b="1">
                <a:solidFill>
                  <a:srgbClr val="FFFFFF"/>
                </a:solidFill>
                <a:latin typeface="Arial"/>
                <a:ea typeface="Arial"/>
                <a:cs typeface="Arial"/>
              </a:rPr>
              <a:t>1–2 representative wafer datasets</a:t>
            </a:r>
          </a:p>
        </p:txBody>
      </p:sp>
      <p:sp>
        <p:nvSpPr>
          <p:cNvPr id="12" name="">
            <a:extLst xmlns:a="http://schemas.openxmlformats.org/drawingml/2006/main">
              <a:ext uri="{FF2B5EF4-FFF2-40B4-BE49-F238E27FC236}">
                <a16:creationId xmlns:a16="http://schemas.microsoft.com/office/drawing/2014/main" id="{25666B10-B207-4E1D-BF08-BEE609E77AE6}"/>
              </a:ext>
            </a:extLst>
          </p:cNvPr>
          <p:cNvSpPr>
            <a:spLocks xmlns:a="http://schemas.openxmlformats.org/drawingml/2006/main" noGrp="1"/>
          </p:cNvSpPr>
          <p:nvPr/>
        </p:nvSpPr>
        <p:spPr>
          <a:xfrm xmlns:a="http://schemas.openxmlformats.org/drawingml/2006/main">
            <a:off x="4210050" y="3333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BFC8E8"/>
                </a:solidFill>
                <a:latin typeface="Arial"/>
                <a:ea typeface="Arial"/>
                <a:cs typeface="Arial"/>
              </a:defRPr>
            </a:pPr>
            <a:r>
              <a:rPr sz="1800" b="1">
                <a:solidFill>
                  <a:srgbClr val="BFC8E8"/>
                </a:solidFill>
                <a:latin typeface="Arial"/>
                <a:ea typeface="Arial"/>
                <a:cs typeface="Arial"/>
              </a:rPr>
              <a:t>Participants</a:t>
            </a:r>
          </a:p>
        </p:txBody>
      </p:sp>
      <p:sp>
        <p:nvSpPr>
          <p:cNvPr id="13" name="">
            <a:extLst xmlns:a="http://schemas.openxmlformats.org/drawingml/2006/main">
              <a:ext uri="{FF2B5EF4-FFF2-40B4-BE49-F238E27FC236}">
                <a16:creationId xmlns:a16="http://schemas.microsoft.com/office/drawing/2014/main" id="{F8399B13-FDBC-40C2-A872-71728A529321}"/>
              </a:ext>
            </a:extLst>
          </p:cNvPr>
          <p:cNvSpPr>
            <a:spLocks xmlns:a="http://schemas.openxmlformats.org/drawingml/2006/main" noGrp="1"/>
          </p:cNvSpPr>
          <p:nvPr/>
        </p:nvSpPr>
        <p:spPr>
          <a:xfrm xmlns:a="http://schemas.openxmlformats.org/drawingml/2006/main">
            <a:off x="4210050" y="38290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latin typeface="Arial"/>
                <a:ea typeface="Arial"/>
                <a:cs typeface="Arial"/>
              </a:defRPr>
            </a:pPr>
            <a:r>
              <a:rPr sz="1800" b="1">
                <a:solidFill>
                  <a:srgbClr val="FFFFFF"/>
                </a:solidFill>
                <a:latin typeface="Arial"/>
                <a:ea typeface="Arial"/>
                <a:cs typeface="Arial"/>
              </a:rPr>
              <a:t>Test + PDK + cleanroom reviewers</a:t>
            </a:r>
          </a:p>
        </p:txBody>
      </p:sp>
      <p:sp>
        <p:nvSpPr>
          <p:cNvPr id="14" name="">
            <a:extLst xmlns:a="http://schemas.openxmlformats.org/drawingml/2006/main">
              <a:ext uri="{FF2B5EF4-FFF2-40B4-BE49-F238E27FC236}">
                <a16:creationId xmlns:a16="http://schemas.microsoft.com/office/drawing/2014/main" id="{B06AA0C5-EA11-4DCE-8BB2-287B935E2130}"/>
              </a:ext>
            </a:extLst>
          </p:cNvPr>
          <p:cNvSpPr>
            <a:spLocks xmlns:a="http://schemas.openxmlformats.org/drawingml/2006/main" noGrp="1"/>
          </p:cNvSpPr>
          <p:nvPr/>
        </p:nvSpPr>
        <p:spPr>
          <a:xfrm xmlns:a="http://schemas.openxmlformats.org/drawingml/2006/main">
            <a:off x="8039100" y="3333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BFC8E8"/>
                </a:solidFill>
                <a:latin typeface="Arial"/>
                <a:ea typeface="Arial"/>
                <a:cs typeface="Arial"/>
              </a:defRPr>
            </a:pPr>
            <a:r>
              <a:rPr sz="1800" b="1">
                <a:solidFill>
                  <a:srgbClr val="BFC8E8"/>
                </a:solidFill>
                <a:latin typeface="Arial"/>
                <a:ea typeface="Arial"/>
                <a:cs typeface="Arial"/>
              </a:rPr>
              <a:t>Decision</a:t>
            </a:r>
          </a:p>
        </p:txBody>
      </p:sp>
      <p:sp>
        <p:nvSpPr>
          <p:cNvPr id="15" name="">
            <a:extLst xmlns:a="http://schemas.openxmlformats.org/drawingml/2006/main">
              <a:ext uri="{FF2B5EF4-FFF2-40B4-BE49-F238E27FC236}">
                <a16:creationId xmlns:a16="http://schemas.microsoft.com/office/drawing/2014/main" id="{DE5A27FE-8DC0-43BF-91E9-BF0EFB12C630}"/>
              </a:ext>
            </a:extLst>
          </p:cNvPr>
          <p:cNvSpPr>
            <a:spLocks xmlns:a="http://schemas.openxmlformats.org/drawingml/2006/main" noGrp="1"/>
          </p:cNvSpPr>
          <p:nvPr/>
        </p:nvSpPr>
        <p:spPr>
          <a:xfrm xmlns:a="http://schemas.openxmlformats.org/drawingml/2006/main">
            <a:off x="8039100" y="3829050"/>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latin typeface="Arial"/>
                <a:ea typeface="Arial"/>
                <a:cs typeface="Arial"/>
              </a:defRPr>
            </a:pPr>
            <a:r>
              <a:rPr sz="1800" b="1">
                <a:solidFill>
                  <a:srgbClr val="FFFFFF"/>
                </a:solidFill>
                <a:latin typeface="Arial"/>
                <a:ea typeface="Arial"/>
                <a:cs typeface="Arial"/>
              </a:rPr>
              <a:t>Confirm shared workflow and next release priorities</a:t>
            </a:r>
          </a:p>
        </p:txBody>
      </p:sp>
      <p:sp>
        <p:nvSpPr>
          <p:cNvPr id="16" name="">
            <a:extLst xmlns:a="http://schemas.openxmlformats.org/drawingml/2006/main">
              <a:ext uri="{FF2B5EF4-FFF2-40B4-BE49-F238E27FC236}">
                <a16:creationId xmlns:a16="http://schemas.microsoft.com/office/drawing/2014/main" id="{4CB83351-A99B-4F56-B0E9-02A8C27F1F2D}"/>
              </a:ext>
            </a:extLst>
          </p:cNvPr>
          <p:cNvSpPr>
            <a:spLocks xmlns:a="http://schemas.openxmlformats.org/drawingml/2006/main" noGrp="1"/>
          </p:cNvSpPr>
          <p:nvPr/>
        </p:nvSpPr>
        <p:spPr>
          <a:xfrm xmlns:a="http://schemas.openxmlformats.org/drawingml/2006/main">
            <a:off x="990600" y="5391150"/>
            <a:ext cx="10210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75" b="0">
                <a:solidFill>
                  <a:srgbClr val="DCE3F8"/>
                </a:solidFill>
                <a:latin typeface="Arial"/>
                <a:ea typeface="Arial"/>
                <a:cs typeface="Arial"/>
              </a:defRPr>
            </a:pPr>
            <a:r>
              <a:rPr sz="1875" b="0">
                <a:solidFill>
                  <a:srgbClr val="DCE3F8"/>
                </a:solidFill>
                <a:latin typeface="Arial"/>
                <a:ea typeface="Arial"/>
                <a:cs typeface="Arial"/>
              </a:rPr>
              <a:t>Success means the same dataset can be loaded, interpreted, discussed and reported with less manual handoff.</a:t>
            </a:r>
          </a:p>
        </p:txBody>
      </p:sp>
    </p:spTree>
    <p:extLst>
      <p:ext uri="{BB962C8B-B14F-4D97-AF65-F5344CB8AC3E}">
        <p14:creationId xmlns:p14="http://schemas.microsoft.com/office/powerpoint/2010/main" val="597333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2026-08-21T11:03:52.1590000Z</dcterms:created>
  <dcterms:modified xsi:type="dcterms:W3CDTF">2026-08-21T11:03:52.1590000Z</dcterms:modified>
</coreProperties>
</file>